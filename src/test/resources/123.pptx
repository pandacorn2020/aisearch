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4097795" r:id="rId3"/>
    <p:sldId id="4097798" r:id="rId4"/>
    <p:sldId id="4097808" r:id="rId5"/>
    <p:sldId id="266" r:id="rId6"/>
    <p:sldId id="4097868" r:id="rId7"/>
    <p:sldId id="4097855" r:id="rId8"/>
    <p:sldId id="4097815" r:id="rId9"/>
    <p:sldId id="280" r:id="rId10"/>
    <p:sldId id="4097802" r:id="rId11"/>
    <p:sldId id="4097858" r:id="rId12"/>
    <p:sldId id="4097859" r:id="rId13"/>
    <p:sldId id="4097863" r:id="rId14"/>
    <p:sldId id="4097860" r:id="rId15"/>
    <p:sldId id="4097861" r:id="rId16"/>
    <p:sldId id="4097869" r:id="rId17"/>
    <p:sldId id="4097867" r:id="rId18"/>
    <p:sldId id="4097866" r:id="rId19"/>
    <p:sldId id="270"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38A"/>
    <a:srgbClr val="1F487C"/>
    <a:srgbClr val="2E5C6E"/>
    <a:srgbClr val="049DA3"/>
    <a:srgbClr val="16C5CA"/>
    <a:srgbClr val="28A9D6"/>
    <a:srgbClr val="FFF9E7"/>
    <a:srgbClr val="FFC000"/>
    <a:srgbClr val="4472C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7985" autoAdjust="0"/>
  </p:normalViewPr>
  <p:slideViewPr>
    <p:cSldViewPr snapToGrid="0">
      <p:cViewPr>
        <p:scale>
          <a:sx n="150" d="100"/>
          <a:sy n="150" d="100"/>
        </p:scale>
        <p:origin x="624" y="-246"/>
      </p:cViewPr>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snapToGrid="0">
      <p:cViewPr>
        <p:scale>
          <a:sx n="258" d="100"/>
          <a:sy n="258" d="100"/>
        </p:scale>
        <p:origin x="124" y="1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F2193-144E-4A5B-8594-5AAADDC377E2}" type="datetimeFigureOut">
              <a:rPr lang="zh-CN" altLang="en-US" smtClean="0"/>
              <a:t>2025/6/30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7798B-A396-4232-867C-01FCDD971E9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44444"/>
                </a:solidFill>
                <a:effectLst/>
                <a:latin typeface="Helvetica Neue"/>
              </a:rPr>
              <a:t>“云”表示应用程序运行于分布式云环境中，“原生”表示应用程序在设计之初就充分考虑到了云平台的弹性和分布式特性，就是为云设计的。</a:t>
            </a:r>
            <a:endParaRPr lang="en-US" altLang="zh-CN" b="0" i="0" dirty="0">
              <a:solidFill>
                <a:srgbClr val="444444"/>
              </a:solidFill>
              <a:effectLst/>
              <a:latin typeface="Helvetica Neue"/>
            </a:endParaRPr>
          </a:p>
          <a:p>
            <a:r>
              <a:rPr lang="zh-CN" altLang="en-US" dirty="0"/>
              <a:t>云原生数据库与云数据库，都一样，都能发挥云的优势（弹性变配），与传统数据库的区别也在这里：是否能发挥云的优势？非存算分离架构在扩容时需要数据重分布，存算分离架构一般能发挥云优势</a:t>
            </a:r>
          </a:p>
        </p:txBody>
      </p:sp>
      <p:sp>
        <p:nvSpPr>
          <p:cNvPr id="4" name="灯片编号占位符 3"/>
          <p:cNvSpPr>
            <a:spLocks noGrp="1"/>
          </p:cNvSpPr>
          <p:nvPr>
            <p:ph type="sldNum" sz="quarter" idx="5"/>
          </p:nvPr>
        </p:nvSpPr>
        <p:spPr/>
        <p:txBody>
          <a:bodyPr/>
          <a:lstStyle/>
          <a:p>
            <a:fld id="{81E7798B-A396-4232-867C-01FCDD971E90}"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8B629-3972-AD48-1DE4-DB138E2FD2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0004AF-BC56-9B70-4EB3-63608DD255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C34807-07A5-F134-D9FE-22C4A98AB3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18CEAF-AB02-0959-3CE9-D17B2BFA36F8}"/>
              </a:ext>
            </a:extLst>
          </p:cNvPr>
          <p:cNvSpPr>
            <a:spLocks noGrp="1"/>
          </p:cNvSpPr>
          <p:nvPr>
            <p:ph type="sldNum" sz="quarter" idx="5"/>
          </p:nvPr>
        </p:nvSpPr>
        <p:spPr/>
        <p:txBody>
          <a:bodyPr/>
          <a:lstStyle/>
          <a:p>
            <a:fld id="{81E7798B-A396-4232-867C-01FCDD971E90}" type="slidenum">
              <a:rPr lang="zh-CN" altLang="en-US" smtClean="0"/>
              <a:t>6</a:t>
            </a:fld>
            <a:endParaRPr lang="zh-CN" altLang="en-US"/>
          </a:p>
        </p:txBody>
      </p:sp>
    </p:spTree>
    <p:extLst>
      <p:ext uri="{BB962C8B-B14F-4D97-AF65-F5344CB8AC3E}">
        <p14:creationId xmlns:p14="http://schemas.microsoft.com/office/powerpoint/2010/main" val="3827618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7</a:t>
            </a:fld>
            <a:endParaRPr lang="zh-CN" altLang="en-US"/>
          </a:p>
        </p:txBody>
      </p:sp>
    </p:spTree>
    <p:extLst>
      <p:ext uri="{BB962C8B-B14F-4D97-AF65-F5344CB8AC3E}">
        <p14:creationId xmlns:p14="http://schemas.microsoft.com/office/powerpoint/2010/main" val="1160540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1500"/>
              </a:spcBef>
              <a:buFont typeface="Wingdings" panose="05000000000000000000" pitchFamily="2" charset="2"/>
              <a:buNone/>
            </a:pPr>
            <a:r>
              <a:rPr lang="zh-CN" altLang="en-US" sz="1400" b="1" kern="100" dirty="0">
                <a:solidFill>
                  <a:srgbClr val="1F487C"/>
                </a:solidFill>
                <a:latin typeface="等线" panose="02010600030101010101" pitchFamily="2" charset="-122"/>
                <a:cs typeface="Times New Roman" panose="02020603050405020304" pitchFamily="18" charset="0"/>
              </a:rPr>
              <a:t>大规模并行计算：</a:t>
            </a:r>
            <a:endParaRPr lang="en-US" altLang="zh-CN"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endParaRPr>
          </a:p>
          <a:p>
            <a:pPr>
              <a:spcBef>
                <a:spcPts val="1500"/>
              </a:spcBef>
              <a:buFont typeface="Wingdings" panose="05000000000000000000" pitchFamily="2" charset="2"/>
              <a:buChar char="l"/>
            </a:pPr>
            <a:r>
              <a:rPr lang="zh-CN" altLang="en-US"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应用透明 </a:t>
            </a:r>
            <a:r>
              <a:rPr lang="en-US" altLang="zh-CN"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1200" i="0" dirty="0">
                <a:latin typeface="宋体" panose="02010600030101010101" pitchFamily="2" charset="-122"/>
                <a:ea typeface="宋体" panose="02010600030101010101" pitchFamily="2" charset="-122"/>
                <a:sym typeface="宋体" panose="02010600030101010101" pitchFamily="2" charset="-122"/>
              </a:rPr>
              <a:t>应用端程序不需要关心任务分解和并行执行的细节，可以完全透明地使用数据库</a:t>
            </a:r>
          </a:p>
          <a:p>
            <a:pPr>
              <a:spcBef>
                <a:spcPts val="1500"/>
              </a:spcBef>
              <a:buFont typeface="Wingdings" panose="05000000000000000000" pitchFamily="2" charset="2"/>
              <a:buChar char="l"/>
            </a:pPr>
            <a:r>
              <a:rPr lang="zh-CN" altLang="en-US"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高效并行 </a:t>
            </a:r>
            <a:r>
              <a:rPr lang="en-US" altLang="zh-CN"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1200" i="0" dirty="0">
                <a:latin typeface="宋体" panose="02010600030101010101" pitchFamily="2" charset="-122"/>
                <a:ea typeface="宋体" panose="02010600030101010101" pitchFamily="2" charset="-122"/>
                <a:sym typeface="宋体" panose="02010600030101010101" pitchFamily="2" charset="-122"/>
              </a:rPr>
              <a:t>算法引擎</a:t>
            </a:r>
            <a:r>
              <a:rPr lang="zh-CN" altLang="en-US" sz="1200" i="0" dirty="0">
                <a:solidFill>
                  <a:srgbClr val="0D0D0D"/>
                </a:solidFill>
                <a:latin typeface="宋体" panose="02010600030101010101" pitchFamily="2" charset="-122"/>
                <a:ea typeface="宋体" panose="02010600030101010101" pitchFamily="2" charset="-122"/>
                <a:sym typeface="宋体" panose="02010600030101010101" pitchFamily="2" charset="-122"/>
              </a:rPr>
              <a:t>高度优化，任务被分解成许多小任务，分发给多个服务器高度并行执行</a:t>
            </a:r>
          </a:p>
          <a:p>
            <a:pPr>
              <a:spcBef>
                <a:spcPts val="1500"/>
              </a:spcBef>
              <a:buFont typeface="Wingdings" panose="05000000000000000000" pitchFamily="2" charset="2"/>
              <a:buChar char="l"/>
            </a:pPr>
            <a:r>
              <a:rPr lang="zh-CN" altLang="en-US" sz="1400" b="1"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本地计算 </a:t>
            </a:r>
            <a:r>
              <a:rPr lang="en-US" altLang="zh-CN" sz="1400" i="0"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1200" i="0" dirty="0">
                <a:solidFill>
                  <a:srgbClr val="0D0D0D"/>
                </a:solidFill>
                <a:latin typeface="宋体" panose="02010600030101010101" pitchFamily="2" charset="-122"/>
                <a:ea typeface="宋体" panose="02010600030101010101" pitchFamily="2" charset="-122"/>
                <a:sym typeface="宋体" panose="02010600030101010101" pitchFamily="2" charset="-122"/>
              </a:rPr>
              <a:t>根据数据分布和资源状态，动态选择服务器执行算子，最小化数据搬移的开销</a:t>
            </a:r>
          </a:p>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8</a:t>
            </a:fld>
            <a:endParaRPr lang="zh-CN" altLang="en-US"/>
          </a:p>
        </p:txBody>
      </p:sp>
    </p:spTree>
    <p:extLst>
      <p:ext uri="{BB962C8B-B14F-4D97-AF65-F5344CB8AC3E}">
        <p14:creationId xmlns:p14="http://schemas.microsoft.com/office/powerpoint/2010/main" val="1434139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11</a:t>
            </a:fld>
            <a:endParaRPr lang="zh-CN" altLang="en-US"/>
          </a:p>
        </p:txBody>
      </p:sp>
    </p:spTree>
    <p:extLst>
      <p:ext uri="{BB962C8B-B14F-4D97-AF65-F5344CB8AC3E}">
        <p14:creationId xmlns:p14="http://schemas.microsoft.com/office/powerpoint/2010/main" val="312581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12</a:t>
            </a:fld>
            <a:endParaRPr lang="zh-CN" altLang="en-US"/>
          </a:p>
        </p:txBody>
      </p:sp>
    </p:spTree>
    <p:extLst>
      <p:ext uri="{BB962C8B-B14F-4D97-AF65-F5344CB8AC3E}">
        <p14:creationId xmlns:p14="http://schemas.microsoft.com/office/powerpoint/2010/main" val="2641640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13</a:t>
            </a:fld>
            <a:endParaRPr lang="zh-CN" altLang="en-US"/>
          </a:p>
        </p:txBody>
      </p:sp>
    </p:spTree>
    <p:extLst>
      <p:ext uri="{BB962C8B-B14F-4D97-AF65-F5344CB8AC3E}">
        <p14:creationId xmlns:p14="http://schemas.microsoft.com/office/powerpoint/2010/main" val="620597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含：溯源</a:t>
            </a:r>
          </a:p>
        </p:txBody>
      </p:sp>
      <p:sp>
        <p:nvSpPr>
          <p:cNvPr id="4" name="灯片编号占位符 3"/>
          <p:cNvSpPr>
            <a:spLocks noGrp="1"/>
          </p:cNvSpPr>
          <p:nvPr>
            <p:ph type="sldNum" sz="quarter" idx="5"/>
          </p:nvPr>
        </p:nvSpPr>
        <p:spPr/>
        <p:txBody>
          <a:bodyPr/>
          <a:lstStyle/>
          <a:p>
            <a:fld id="{81E7798B-A396-4232-867C-01FCDD971E90}" type="slidenum">
              <a:rPr lang="zh-CN" altLang="en-US" smtClean="0"/>
              <a:t>14</a:t>
            </a:fld>
            <a:endParaRPr lang="zh-CN" altLang="en-US"/>
          </a:p>
        </p:txBody>
      </p:sp>
    </p:spTree>
    <p:extLst>
      <p:ext uri="{BB962C8B-B14F-4D97-AF65-F5344CB8AC3E}">
        <p14:creationId xmlns:p14="http://schemas.microsoft.com/office/powerpoint/2010/main" val="2681850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15</a:t>
            </a:fld>
            <a:endParaRPr lang="zh-CN" altLang="en-US"/>
          </a:p>
        </p:txBody>
      </p:sp>
    </p:spTree>
    <p:extLst>
      <p:ext uri="{BB962C8B-B14F-4D97-AF65-F5344CB8AC3E}">
        <p14:creationId xmlns:p14="http://schemas.microsoft.com/office/powerpoint/2010/main" val="706437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C5C4-4FBE-BBA8-3EBF-66103A36AB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374E16-61F3-EB3A-4E1D-4ED58D1026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1C0AC6-AAAB-4CC4-C0F6-5D5ECDB03B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海关数据因其商品类目众多、维度属性多样、数据体量庞大，传统基于多维交叉的数据查询方式往往效率低下。为解决这一痛点，中经数据联合翰云时代的数据智能技术，创新实现了自然语言交互下的数据高效查询和可视化展示</a:t>
            </a:r>
          </a:p>
        </p:txBody>
      </p:sp>
      <p:sp>
        <p:nvSpPr>
          <p:cNvPr id="4" name="灯片编号占位符 3">
            <a:extLst>
              <a:ext uri="{FF2B5EF4-FFF2-40B4-BE49-F238E27FC236}">
                <a16:creationId xmlns:a16="http://schemas.microsoft.com/office/drawing/2014/main" id="{D727E0E8-1E6A-511D-64CF-631AD8A136BB}"/>
              </a:ext>
            </a:extLst>
          </p:cNvPr>
          <p:cNvSpPr>
            <a:spLocks noGrp="1"/>
          </p:cNvSpPr>
          <p:nvPr>
            <p:ph type="sldNum" sz="quarter" idx="5"/>
          </p:nvPr>
        </p:nvSpPr>
        <p:spPr/>
        <p:txBody>
          <a:bodyPr/>
          <a:lstStyle/>
          <a:p>
            <a:fld id="{81E7798B-A396-4232-867C-01FCDD971E90}" type="slidenum">
              <a:rPr lang="zh-CN" altLang="en-US" smtClean="0"/>
              <a:t>16</a:t>
            </a:fld>
            <a:endParaRPr lang="zh-CN" altLang="en-US"/>
          </a:p>
        </p:txBody>
      </p:sp>
    </p:spTree>
    <p:extLst>
      <p:ext uri="{BB962C8B-B14F-4D97-AF65-F5344CB8AC3E}">
        <p14:creationId xmlns:p14="http://schemas.microsoft.com/office/powerpoint/2010/main" val="695471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FFAD-E8B8-8A5C-3D08-B6E7602B2D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D4C25A-DF09-861B-A05C-7EEB60FCE2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4C28D9-6934-CDAC-1FB2-E2C70EFDE8C2}"/>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将大健康管理西医循证医疗、中医辨证医疗、精准免疫健康、营养医学、功能医学、器官功能调理、抗衰老与退化七大关键领域融合到一起</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对于提高大众健康水平、提高医疗水平十分重要，具有重要的医学和社会意义</a:t>
            </a:r>
            <a:endParaRPr lang="zh-CN" altLang="en-US" dirty="0"/>
          </a:p>
        </p:txBody>
      </p:sp>
      <p:sp>
        <p:nvSpPr>
          <p:cNvPr id="4" name="灯片编号占位符 3">
            <a:extLst>
              <a:ext uri="{FF2B5EF4-FFF2-40B4-BE49-F238E27FC236}">
                <a16:creationId xmlns:a16="http://schemas.microsoft.com/office/drawing/2014/main" id="{B8EF46DB-5B2C-1935-F282-BDCE53AF94A3}"/>
              </a:ext>
            </a:extLst>
          </p:cNvPr>
          <p:cNvSpPr>
            <a:spLocks noGrp="1"/>
          </p:cNvSpPr>
          <p:nvPr>
            <p:ph type="sldNum" sz="quarter" idx="5"/>
          </p:nvPr>
        </p:nvSpPr>
        <p:spPr/>
        <p:txBody>
          <a:bodyPr/>
          <a:lstStyle/>
          <a:p>
            <a:fld id="{81E7798B-A396-4232-867C-01FCDD971E90}" type="slidenum">
              <a:rPr lang="zh-CN" altLang="en-US" smtClean="0"/>
              <a:t>17</a:t>
            </a:fld>
            <a:endParaRPr lang="zh-CN" altLang="en-US"/>
          </a:p>
        </p:txBody>
      </p:sp>
    </p:spTree>
    <p:extLst>
      <p:ext uri="{BB962C8B-B14F-4D97-AF65-F5344CB8AC3E}">
        <p14:creationId xmlns:p14="http://schemas.microsoft.com/office/powerpoint/2010/main" val="566828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A5B27-DFC1-1A8E-B314-64A84F46E8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639CBD-A3A6-F03A-956C-CEAAA0BA47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71B25A-F2F3-FF0C-6543-7DBA31F984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D48BE4A-007D-0A09-D082-073D58D93B5B}"/>
              </a:ext>
            </a:extLst>
          </p:cNvPr>
          <p:cNvSpPr>
            <a:spLocks noGrp="1"/>
          </p:cNvSpPr>
          <p:nvPr>
            <p:ph type="sldNum" sz="quarter" idx="5"/>
          </p:nvPr>
        </p:nvSpPr>
        <p:spPr/>
        <p:txBody>
          <a:bodyPr/>
          <a:lstStyle/>
          <a:p>
            <a:fld id="{81E7798B-A396-4232-867C-01FCDD971E90}" type="slidenum">
              <a:rPr lang="zh-CN" altLang="en-US" smtClean="0"/>
              <a:t>18</a:t>
            </a:fld>
            <a:endParaRPr lang="zh-CN" altLang="en-US"/>
          </a:p>
        </p:txBody>
      </p:sp>
    </p:spTree>
    <p:extLst>
      <p:ext uri="{BB962C8B-B14F-4D97-AF65-F5344CB8AC3E}">
        <p14:creationId xmlns:p14="http://schemas.microsoft.com/office/powerpoint/2010/main" val="2591371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E7798B-A396-4232-867C-01FCDD971E90}"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1AB17DF-4A63-44DD-BA1A-126C5D302D6A}" type="datetimeFigureOut">
              <a:rPr lang="zh-CN" altLang="en-US" smtClean="0"/>
              <a:t>2025/6/30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57F7B-9E30-4F6C-A99E-73BA498657FF}" type="slidenum">
              <a:rPr lang="zh-CN" altLang="en-US" smtClean="0"/>
              <a:t>‹#›</a:t>
            </a:fld>
            <a:endParaRPr lang="zh-CN" altLang="en-US"/>
          </a:p>
        </p:txBody>
      </p:sp>
      <p:sp>
        <p:nvSpPr>
          <p:cNvPr id="7" name="矩形 6"/>
          <p:cNvSpPr/>
          <p:nvPr userDrawn="1"/>
        </p:nvSpPr>
        <p:spPr>
          <a:xfrm>
            <a:off x="0" y="2304000"/>
            <a:ext cx="12193200" cy="2016000"/>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0" y="4371281"/>
            <a:ext cx="12192000" cy="0"/>
          </a:xfrm>
          <a:prstGeom prst="line">
            <a:avLst/>
          </a:prstGeom>
          <a:ln w="19050">
            <a:solidFill>
              <a:srgbClr val="1F487C"/>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0" y="4817777"/>
            <a:ext cx="4680000" cy="304800"/>
            <a:chOff x="0" y="4817777"/>
            <a:chExt cx="4680000" cy="304800"/>
          </a:xfrm>
        </p:grpSpPr>
        <p:cxnSp>
          <p:nvCxnSpPr>
            <p:cNvPr id="11" name="直接连接符 10"/>
            <p:cNvCxnSpPr/>
            <p:nvPr userDrawn="1"/>
          </p:nvCxnSpPr>
          <p:spPr>
            <a:xfrm>
              <a:off x="0" y="48177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0" y="49701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0" y="51225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userDrawn="1"/>
        </p:nvGrpSpPr>
        <p:grpSpPr>
          <a:xfrm>
            <a:off x="7512000" y="4817777"/>
            <a:ext cx="4680000" cy="304800"/>
            <a:chOff x="0" y="4817777"/>
            <a:chExt cx="4680000" cy="304800"/>
          </a:xfrm>
        </p:grpSpPr>
        <p:cxnSp>
          <p:nvCxnSpPr>
            <p:cNvPr id="23" name="直接连接符 22"/>
            <p:cNvCxnSpPr/>
            <p:nvPr userDrawn="1"/>
          </p:nvCxnSpPr>
          <p:spPr>
            <a:xfrm>
              <a:off x="0" y="48177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0" y="49701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0" y="5122577"/>
              <a:ext cx="4680000" cy="0"/>
            </a:xfrm>
            <a:prstGeom prst="line">
              <a:avLst/>
            </a:prstGeom>
            <a:ln w="3175">
              <a:solidFill>
                <a:srgbClr val="1F487C"/>
              </a:solidFill>
            </a:ln>
          </p:spPr>
          <p:style>
            <a:lnRef idx="1">
              <a:schemeClr val="accent1"/>
            </a:lnRef>
            <a:fillRef idx="0">
              <a:schemeClr val="accent1"/>
            </a:fillRef>
            <a:effectRef idx="0">
              <a:schemeClr val="accent1"/>
            </a:effectRef>
            <a:fontRef idx="minor">
              <a:schemeClr val="tx1"/>
            </a:fontRef>
          </p:style>
        </p:cxnSp>
      </p:gr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00" y="402812"/>
            <a:ext cx="12193200" cy="19011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1AB17DF-4A63-44DD-BA1A-126C5D302D6A}" type="datetimeFigureOut">
              <a:rPr lang="zh-CN" altLang="en-US" smtClean="0"/>
              <a:t>2025/6/30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57F7B-9E30-4F6C-A99E-73BA498657F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1AB17DF-4A63-44DD-BA1A-126C5D302D6A}" type="datetimeFigureOut">
              <a:rPr lang="zh-CN" altLang="en-US" smtClean="0"/>
              <a:t>2025/6/30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57F7B-9E30-4F6C-A99E-73BA498657FF}" type="slidenum">
              <a:rPr lang="zh-CN" altLang="en-US" smtClean="0"/>
              <a:t>‹#›</a:t>
            </a:fld>
            <a:endParaRPr lang="zh-CN" altLang="en-US"/>
          </a:p>
        </p:txBody>
      </p:sp>
      <p:sp>
        <p:nvSpPr>
          <p:cNvPr id="6" name="矩形 5"/>
          <p:cNvSpPr/>
          <p:nvPr userDrawn="1"/>
        </p:nvSpPr>
        <p:spPr>
          <a:xfrm>
            <a:off x="0" y="260648"/>
            <a:ext cx="1271464" cy="432048"/>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造字工房悦黑体验版常规体" pitchFamily="50" charset="-122"/>
            </a:endParaRPr>
          </a:p>
        </p:txBody>
      </p:sp>
      <p:sp>
        <p:nvSpPr>
          <p:cNvPr id="7" name="矩形 6"/>
          <p:cNvSpPr/>
          <p:nvPr userDrawn="1"/>
        </p:nvSpPr>
        <p:spPr>
          <a:xfrm>
            <a:off x="1343472" y="260648"/>
            <a:ext cx="72008" cy="432048"/>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造字工房悦黑体验版常规体" pitchFamily="50" charset="-122"/>
            </a:endParaRPr>
          </a:p>
        </p:txBody>
      </p:sp>
      <p:sp>
        <p:nvSpPr>
          <p:cNvPr id="8" name="矩形 7"/>
          <p:cNvSpPr/>
          <p:nvPr userDrawn="1"/>
        </p:nvSpPr>
        <p:spPr>
          <a:xfrm>
            <a:off x="1480796" y="464299"/>
            <a:ext cx="63624" cy="224408"/>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造字工房悦黑体验版常规体" pitchFamily="50" charset="-122"/>
            </a:endParaRPr>
          </a:p>
        </p:txBody>
      </p:sp>
      <p:sp>
        <p:nvSpPr>
          <p:cNvPr id="9" name="矩形 8"/>
          <p:cNvSpPr/>
          <p:nvPr userDrawn="1"/>
        </p:nvSpPr>
        <p:spPr>
          <a:xfrm>
            <a:off x="4884000" y="543538"/>
            <a:ext cx="7308000" cy="145169"/>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609200" y="147600"/>
            <a:ext cx="4460400" cy="860400"/>
          </a:xfrm>
        </p:spPr>
        <p:txBody>
          <a:bodyPr>
            <a:normAutofit/>
          </a:bodyPr>
          <a:lstStyle>
            <a:lvl1pPr>
              <a:defRPr sz="2400" baseline="0">
                <a:solidFill>
                  <a:schemeClr val="tx1">
                    <a:lumMod val="75000"/>
                    <a:lumOff val="25000"/>
                  </a:schemeClr>
                </a:solidFill>
                <a:ea typeface="微软雅黑" panose="020B0503020204020204" pitchFamily="34" charset="-122"/>
              </a:defRPr>
            </a:lvl1pPr>
          </a:lstStyle>
          <a:p>
            <a:r>
              <a:rPr lang="zh-CN" altLang="en-US"/>
              <a:t>单击此处编辑母版标题样式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1AB17DF-4A63-44DD-BA1A-126C5D302D6A}" type="datetimeFigureOut">
              <a:rPr lang="zh-CN" altLang="en-US" smtClean="0"/>
              <a:t>2025/6/30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557F7B-9E30-4F6C-A99E-73BA498657FF}" type="slidenum">
              <a:rPr lang="zh-CN" altLang="en-US" smtClean="0"/>
              <a:t>‹#›</a:t>
            </a:fld>
            <a:endParaRPr lang="zh-CN" altLang="en-US"/>
          </a:p>
        </p:txBody>
      </p:sp>
      <p:sp>
        <p:nvSpPr>
          <p:cNvPr id="9" name="矩形 8"/>
          <p:cNvSpPr/>
          <p:nvPr userDrawn="1"/>
        </p:nvSpPr>
        <p:spPr>
          <a:xfrm>
            <a:off x="2927648" y="-16874"/>
            <a:ext cx="596900" cy="238986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矩形 9"/>
          <p:cNvSpPr/>
          <p:nvPr userDrawn="1"/>
        </p:nvSpPr>
        <p:spPr>
          <a:xfrm>
            <a:off x="3524548" y="3491501"/>
            <a:ext cx="8667452" cy="65722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r">
              <a:defRPr/>
            </a:pPr>
            <a:endParaRPr lang="zh-CN" altLang="en-US" sz="2800" dirty="0">
              <a:solidFill>
                <a:schemeClr val="accent2">
                  <a:lumMod val="40000"/>
                  <a:lumOff val="60000"/>
                </a:schemeClr>
              </a:solidFill>
              <a:latin typeface="幼圆" panose="02010509060101010101" pitchFamily="49" charset="-122"/>
              <a:ea typeface="幼圆" panose="02010509060101010101" pitchFamily="49" charset="-122"/>
              <a:cs typeface="Meiryo" panose="020B0604030504040204" pitchFamily="34" charset="-128"/>
            </a:endParaRPr>
          </a:p>
        </p:txBody>
      </p:sp>
      <p:sp>
        <p:nvSpPr>
          <p:cNvPr id="11" name="矩形 10"/>
          <p:cNvSpPr/>
          <p:nvPr userDrawn="1"/>
        </p:nvSpPr>
        <p:spPr>
          <a:xfrm>
            <a:off x="0" y="2323100"/>
            <a:ext cx="10836275" cy="11684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5400" spc="200" dirty="0">
              <a:solidFill>
                <a:srgbClr val="FFFFFF"/>
              </a:solidFill>
              <a:latin typeface="幼圆" panose="02010509060101010101" pitchFamily="49" charset="-122"/>
              <a:ea typeface="幼圆" panose="02010509060101010101" pitchFamily="49" charset="-122"/>
            </a:endParaRPr>
          </a:p>
        </p:txBody>
      </p:sp>
      <p:sp>
        <p:nvSpPr>
          <p:cNvPr id="12" name="矩形 11"/>
          <p:cNvSpPr/>
          <p:nvPr userDrawn="1"/>
        </p:nvSpPr>
        <p:spPr>
          <a:xfrm>
            <a:off x="10836274" y="4148726"/>
            <a:ext cx="1009650" cy="67786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直角三角形 12"/>
          <p:cNvSpPr/>
          <p:nvPr userDrawn="1"/>
        </p:nvSpPr>
        <p:spPr>
          <a:xfrm>
            <a:off x="10836274" y="2323100"/>
            <a:ext cx="1009650" cy="1168400"/>
          </a:xfrm>
          <a:prstGeom prst="r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直角三角形 13"/>
          <p:cNvSpPr/>
          <p:nvPr userDrawn="1"/>
        </p:nvSpPr>
        <p:spPr>
          <a:xfrm flipH="1" flipV="1">
            <a:off x="10836274" y="4826588"/>
            <a:ext cx="1009650" cy="1168400"/>
          </a:xfrm>
          <a:prstGeom prst="r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4"/>
          <p:cNvSpPr/>
          <p:nvPr userDrawn="1"/>
        </p:nvSpPr>
        <p:spPr>
          <a:xfrm>
            <a:off x="11845925" y="4829764"/>
            <a:ext cx="346075" cy="116522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直角三角形 4"/>
          <p:cNvSpPr/>
          <p:nvPr userDrawn="1"/>
        </p:nvSpPr>
        <p:spPr>
          <a:xfrm rot="10800000">
            <a:off x="2927647" y="3491500"/>
            <a:ext cx="596898" cy="657226"/>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AB17DF-4A63-44DD-BA1A-126C5D302D6A}" type="datetimeFigureOut">
              <a:rPr lang="zh-CN" altLang="en-US" smtClean="0"/>
              <a:t>2025/6/30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557F7B-9E30-4F6C-A99E-73BA498657F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notesSlide" Target="../notesSlides/notesSlide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slideLayout" Target="../slideLayouts/slideLayout3.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jpeg"/><Relationship Id="rId11" Type="http://schemas.openxmlformats.org/officeDocument/2006/relationships/image" Target="../media/image15.jpe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jpeg"/><Relationship Id="rId9"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7.jpg"/><Relationship Id="rId5" Type="http://schemas.openxmlformats.org/officeDocument/2006/relationships/image" Target="../media/image26.jpeg"/><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1524000" y="3209948"/>
            <a:ext cx="9144000" cy="1006429"/>
          </a:xfrm>
        </p:spPr>
        <p:txBody>
          <a:bodyPr>
            <a:spAutoFit/>
          </a:bodyPr>
          <a:lstStyle/>
          <a:p>
            <a:pPr algn="ctr"/>
            <a:r>
              <a:rPr lang="zh-CN" altLang="en-US" sz="6600" b="1" spc="300" dirty="0">
                <a:solidFill>
                  <a:schemeClr val="bg1"/>
                </a:solidFill>
                <a:ea typeface="微软雅黑" panose="020B0503020204020204" pitchFamily="34" charset="-122"/>
              </a:rPr>
              <a:t>翰云智能数仓</a:t>
            </a:r>
          </a:p>
        </p:txBody>
      </p:sp>
      <p:sp>
        <p:nvSpPr>
          <p:cNvPr id="3" name="副标题 2"/>
          <p:cNvSpPr>
            <a:spLocks noGrp="1"/>
          </p:cNvSpPr>
          <p:nvPr>
            <p:ph type="subTitle" idx="4294967295"/>
          </p:nvPr>
        </p:nvSpPr>
        <p:spPr>
          <a:xfrm>
            <a:off x="1524000" y="2560638"/>
            <a:ext cx="9144000" cy="535531"/>
          </a:xfrm>
        </p:spPr>
        <p:txBody>
          <a:bodyPr>
            <a:spAutoFit/>
          </a:bodyPr>
          <a:lstStyle/>
          <a:p>
            <a:pPr marL="0" indent="0" algn="ctr">
              <a:buNone/>
            </a:pPr>
            <a:r>
              <a:rPr lang="zh-CN" altLang="en-US" sz="3200" b="1" dirty="0">
                <a:solidFill>
                  <a:schemeClr val="bg1"/>
                </a:solidFill>
                <a:latin typeface="微软雅黑" panose="020B0503020204020204" pitchFamily="34" charset="-122"/>
                <a:ea typeface="微软雅黑" panose="020B0503020204020204" pitchFamily="34" charset="-122"/>
              </a:rPr>
              <a:t>北京翰云时代数据技术有限公司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文本框 115"/>
          <p:cNvSpPr txBox="1"/>
          <p:nvPr/>
        </p:nvSpPr>
        <p:spPr>
          <a:xfrm>
            <a:off x="54905" y="25171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0" name="文本框 129"/>
          <p:cNvSpPr txBox="1"/>
          <p:nvPr/>
        </p:nvSpPr>
        <p:spPr>
          <a:xfrm>
            <a:off x="2764782" y="26123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1" name="文本框 130"/>
          <p:cNvSpPr txBox="1"/>
          <p:nvPr/>
        </p:nvSpPr>
        <p:spPr>
          <a:xfrm>
            <a:off x="5431797" y="242175"/>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8170246" y="237407"/>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nvGrpSpPr>
          <p:cNvPr id="133" name="组合 132"/>
          <p:cNvGrpSpPr/>
          <p:nvPr/>
        </p:nvGrpSpPr>
        <p:grpSpPr>
          <a:xfrm>
            <a:off x="1607461" y="1334819"/>
            <a:ext cx="2070147" cy="523220"/>
            <a:chOff x="7381892" y="3307286"/>
            <a:chExt cx="2967758" cy="523220"/>
          </a:xfrm>
        </p:grpSpPr>
        <p:sp>
          <p:nvSpPr>
            <p:cNvPr id="134" name="文本框 133"/>
            <p:cNvSpPr txBox="1"/>
            <p:nvPr/>
          </p:nvSpPr>
          <p:spPr>
            <a:xfrm>
              <a:off x="7973294" y="3307286"/>
              <a:ext cx="2376356" cy="523220"/>
            </a:xfrm>
            <a:prstGeom prst="rect">
              <a:avLst/>
            </a:prstGeom>
            <a:noFill/>
          </p:spPr>
          <p:txBody>
            <a:bodyPr wrap="square" rtlCol="0">
              <a:spAutoFit/>
            </a:bodyPr>
            <a:lstStyle/>
            <a:p>
              <a:r>
                <a:rPr lang="zh-CN" altLang="en-US" sz="2800" b="1" dirty="0">
                  <a:solidFill>
                    <a:srgbClr val="1F487C"/>
                  </a:solidFill>
                  <a:latin typeface="微软雅黑" panose="020B0503020204020204" pitchFamily="34" charset="-122"/>
                  <a:ea typeface="微软雅黑" panose="020B0503020204020204" pitchFamily="34" charset="-122"/>
                </a:rPr>
                <a:t>公司简介</a:t>
              </a:r>
              <a:endParaRPr lang="zh-CN" altLang="zh-CN" sz="2800" b="1" dirty="0">
                <a:solidFill>
                  <a:srgbClr val="1F487C"/>
                </a:solidFill>
                <a:latin typeface="微软雅黑" panose="020B0503020204020204" pitchFamily="34" charset="-122"/>
                <a:ea typeface="微软雅黑" panose="020B0503020204020204" pitchFamily="34" charset="-122"/>
              </a:endParaRPr>
            </a:p>
          </p:txBody>
        </p:sp>
        <p:sp>
          <p:nvSpPr>
            <p:cNvPr id="135" name="矩形 134"/>
            <p:cNvSpPr/>
            <p:nvPr/>
          </p:nvSpPr>
          <p:spPr>
            <a:xfrm>
              <a:off x="7381892" y="3378325"/>
              <a:ext cx="481281" cy="366345"/>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Arial Rounded MT Bold" panose="020F0704030504030204" pitchFamily="34" charset="0"/>
                </a:rPr>
                <a:t>1</a:t>
              </a:r>
              <a:endParaRPr lang="zh-CN" altLang="en-US" sz="2000" dirty="0">
                <a:solidFill>
                  <a:srgbClr val="FFFFFF"/>
                </a:solidFill>
                <a:latin typeface="Arial Rounded MT Bold" panose="020F0704030504030204" pitchFamily="34" charset="0"/>
              </a:endParaRPr>
            </a:p>
          </p:txBody>
        </p:sp>
      </p:grpSp>
      <p:cxnSp>
        <p:nvCxnSpPr>
          <p:cNvPr id="136" name="直接连接符 135"/>
          <p:cNvCxnSpPr/>
          <p:nvPr/>
        </p:nvCxnSpPr>
        <p:spPr>
          <a:xfrm flipH="1">
            <a:off x="1312132" y="914779"/>
            <a:ext cx="18816" cy="1811574"/>
          </a:xfrm>
          <a:prstGeom prst="line">
            <a:avLst/>
          </a:prstGeom>
          <a:ln>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4554025" y="914779"/>
            <a:ext cx="0" cy="3184813"/>
          </a:xfrm>
          <a:prstGeom prst="line">
            <a:avLst/>
          </a:prstGeom>
          <a:ln>
            <a:solidFill>
              <a:srgbClr val="1F487C"/>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8548929" y="1033608"/>
            <a:ext cx="0" cy="5169869"/>
          </a:xfrm>
          <a:prstGeom prst="line">
            <a:avLst/>
          </a:prstGeom>
          <a:ln>
            <a:solidFill>
              <a:srgbClr val="1F487C"/>
            </a:solidFill>
          </a:ln>
        </p:spPr>
        <p:style>
          <a:lnRef idx="1">
            <a:schemeClr val="accent1"/>
          </a:lnRef>
          <a:fillRef idx="0">
            <a:schemeClr val="accent1"/>
          </a:fillRef>
          <a:effectRef idx="0">
            <a:schemeClr val="accent1"/>
          </a:effectRef>
          <a:fontRef idx="minor">
            <a:schemeClr val="tx1"/>
          </a:fontRef>
        </p:style>
      </p:cxnSp>
      <p:sp>
        <p:nvSpPr>
          <p:cNvPr id="149" name="文本框 148"/>
          <p:cNvSpPr txBox="1"/>
          <p:nvPr/>
        </p:nvSpPr>
        <p:spPr>
          <a:xfrm>
            <a:off x="5412737" y="2160730"/>
            <a:ext cx="2020275" cy="523220"/>
          </a:xfrm>
          <a:prstGeom prst="rect">
            <a:avLst/>
          </a:prstGeom>
          <a:noFill/>
        </p:spPr>
        <p:txBody>
          <a:bodyPr wrap="square" rtlCol="0">
            <a:spAutoFit/>
          </a:bodyPr>
          <a:lstStyle/>
          <a:p>
            <a:r>
              <a:rPr lang="zh-CN" altLang="en-US" sz="2800" b="1" dirty="0">
                <a:solidFill>
                  <a:srgbClr val="1F487C"/>
                </a:solidFill>
                <a:latin typeface="微软雅黑" panose="020B0503020204020204" pitchFamily="34" charset="-122"/>
                <a:ea typeface="微软雅黑" panose="020B0503020204020204" pitchFamily="34" charset="-122"/>
              </a:rPr>
              <a:t>翰云数仓</a:t>
            </a:r>
            <a:endParaRPr lang="zh-CN" altLang="zh-CN" sz="2800" b="1" dirty="0">
              <a:solidFill>
                <a:srgbClr val="1F487C"/>
              </a:solidFill>
              <a:latin typeface="微软雅黑" panose="020B0503020204020204" pitchFamily="34" charset="-122"/>
              <a:ea typeface="微软雅黑" panose="020B0503020204020204" pitchFamily="34" charset="-122"/>
            </a:endParaRPr>
          </a:p>
        </p:txBody>
      </p:sp>
      <p:sp>
        <p:nvSpPr>
          <p:cNvPr id="150" name="矩形 149"/>
          <p:cNvSpPr/>
          <p:nvPr/>
        </p:nvSpPr>
        <p:spPr>
          <a:xfrm>
            <a:off x="4871075" y="2231769"/>
            <a:ext cx="481281" cy="366345"/>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Arial Rounded MT Bold" panose="020F0704030504030204" pitchFamily="34" charset="0"/>
              </a:rPr>
              <a:t>2</a:t>
            </a:r>
            <a:endParaRPr lang="zh-CN" altLang="en-US" sz="2000" dirty="0">
              <a:solidFill>
                <a:srgbClr val="FFFFFF"/>
              </a:solidFill>
              <a:latin typeface="Arial Rounded MT Bold" panose="020F0704030504030204" pitchFamily="34" charset="0"/>
            </a:endParaRPr>
          </a:p>
        </p:txBody>
      </p:sp>
      <p:sp>
        <p:nvSpPr>
          <p:cNvPr id="158" name="矩形 157"/>
          <p:cNvSpPr/>
          <p:nvPr/>
        </p:nvSpPr>
        <p:spPr>
          <a:xfrm>
            <a:off x="9248532" y="4071721"/>
            <a:ext cx="2088511" cy="369332"/>
          </a:xfrm>
          <a:prstGeom prst="rect">
            <a:avLst/>
          </a:prstGeom>
          <a:noFill/>
        </p:spPr>
        <p:txBody>
          <a:bodyPr wrap="square">
            <a:spAutoFit/>
          </a:bodyPr>
          <a:lstStyle/>
          <a:p>
            <a:r>
              <a:rPr lang="zh-CN" altLang="en-US" dirty="0">
                <a:solidFill>
                  <a:srgbClr val="1F487C"/>
                </a:solidFill>
                <a:latin typeface="微软雅黑" panose="020B0503020204020204" pitchFamily="34" charset="-122"/>
                <a:ea typeface="微软雅黑" panose="020B0503020204020204" pitchFamily="34" charset="-122"/>
              </a:rPr>
              <a:t>向量数据存储管理</a:t>
            </a:r>
          </a:p>
        </p:txBody>
      </p:sp>
      <p:sp>
        <p:nvSpPr>
          <p:cNvPr id="159" name="矩形 158"/>
          <p:cNvSpPr/>
          <p:nvPr/>
        </p:nvSpPr>
        <p:spPr>
          <a:xfrm>
            <a:off x="8895412" y="3331986"/>
            <a:ext cx="361637" cy="366345"/>
          </a:xfrm>
          <a:prstGeom prst="rect">
            <a:avLst/>
          </a:pr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FFFF"/>
                </a:solidFill>
                <a:latin typeface="Arial Rounded MT Bold" panose="020F0704030504030204" pitchFamily="34" charset="0"/>
              </a:rPr>
              <a:t>3</a:t>
            </a:r>
            <a:endParaRPr lang="zh-CN" altLang="en-US" sz="2000" dirty="0">
              <a:solidFill>
                <a:srgbClr val="FFFFFF"/>
              </a:solidFill>
              <a:latin typeface="Arial Rounded MT Bold" panose="020F0704030504030204" pitchFamily="34" charset="0"/>
            </a:endParaRPr>
          </a:p>
        </p:txBody>
      </p:sp>
      <p:sp>
        <p:nvSpPr>
          <p:cNvPr id="160" name="文本框 159"/>
          <p:cNvSpPr txBox="1"/>
          <p:nvPr/>
        </p:nvSpPr>
        <p:spPr>
          <a:xfrm>
            <a:off x="9336319" y="3255768"/>
            <a:ext cx="2088515" cy="523220"/>
          </a:xfrm>
          <a:prstGeom prst="rect">
            <a:avLst/>
          </a:prstGeom>
          <a:noFill/>
        </p:spPr>
        <p:txBody>
          <a:bodyPr wrap="square" rtlCol="0">
            <a:spAutoFit/>
          </a:bodyPr>
          <a:lstStyle/>
          <a:p>
            <a:r>
              <a:rPr lang="en-US" altLang="zh-CN" sz="2800" b="1" dirty="0">
                <a:solidFill>
                  <a:srgbClr val="1F487C"/>
                </a:solidFill>
                <a:latin typeface="微软雅黑" panose="020B0503020204020204" pitchFamily="34" charset="-122"/>
                <a:ea typeface="微软雅黑" panose="020B0503020204020204" pitchFamily="34" charset="-122"/>
              </a:rPr>
              <a:t>AI</a:t>
            </a:r>
            <a:r>
              <a:rPr lang="zh-CN" altLang="en-US" sz="2800" b="1" dirty="0">
                <a:solidFill>
                  <a:srgbClr val="1F487C"/>
                </a:solidFill>
                <a:latin typeface="微软雅黑" panose="020B0503020204020204" pitchFamily="34" charset="-122"/>
                <a:ea typeface="微软雅黑" panose="020B0503020204020204" pitchFamily="34" charset="-122"/>
              </a:rPr>
              <a:t>技术应用</a:t>
            </a:r>
            <a:endParaRPr lang="zh-CN" altLang="zh-CN" sz="2800" b="1" dirty="0">
              <a:solidFill>
                <a:srgbClr val="1F487C"/>
              </a:solidFill>
              <a:latin typeface="微软雅黑" panose="020B0503020204020204" pitchFamily="34" charset="-122"/>
              <a:ea typeface="微软雅黑" panose="020B0503020204020204" pitchFamily="34" charset="-122"/>
            </a:endParaRPr>
          </a:p>
        </p:txBody>
      </p:sp>
      <p:graphicFrame>
        <p:nvGraphicFramePr>
          <p:cNvPr id="171" name="表格 171"/>
          <p:cNvGraphicFramePr>
            <a:graphicFrameLocks noGrp="1"/>
          </p:cNvGraphicFramePr>
          <p:nvPr>
            <p:extLst>
              <p:ext uri="{D42A27DB-BD31-4B8C-83A1-F6EECF244321}">
                <p14:modId xmlns:p14="http://schemas.microsoft.com/office/powerpoint/2010/main" val="3346198290"/>
              </p:ext>
            </p:extLst>
          </p:nvPr>
        </p:nvGraphicFramePr>
        <p:xfrm>
          <a:off x="-17287" y="-2057"/>
          <a:ext cx="12230103" cy="958986"/>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3234620">
                  <a:extLst>
                    <a:ext uri="{9D8B030D-6E8A-4147-A177-3AD203B41FA5}">
                      <a16:colId xmlns:a16="http://schemas.microsoft.com/office/drawing/2014/main" val="20001"/>
                    </a:ext>
                  </a:extLst>
                </a:gridCol>
                <a:gridCol w="3997917">
                  <a:extLst>
                    <a:ext uri="{9D8B030D-6E8A-4147-A177-3AD203B41FA5}">
                      <a16:colId xmlns:a16="http://schemas.microsoft.com/office/drawing/2014/main" val="20002"/>
                    </a:ext>
                  </a:extLst>
                </a:gridCol>
                <a:gridCol w="3642899">
                  <a:extLst>
                    <a:ext uri="{9D8B030D-6E8A-4147-A177-3AD203B41FA5}">
                      <a16:colId xmlns:a16="http://schemas.microsoft.com/office/drawing/2014/main" val="20003"/>
                    </a:ext>
                  </a:extLst>
                </a:gridCol>
              </a:tblGrid>
              <a:tr h="958986">
                <a:tc>
                  <a:txBody>
                    <a:bodyPr/>
                    <a:lstStyle/>
                    <a:p>
                      <a:endParaRPr lang="zh-CN" altLang="en-US" dirty="0"/>
                    </a:p>
                  </a:txBody>
                  <a:tcPr>
                    <a:solidFill>
                      <a:srgbClr val="1F487C"/>
                    </a:solidFill>
                  </a:tcPr>
                </a:tc>
                <a:tc>
                  <a:txBody>
                    <a:bodyPr/>
                    <a:lstStyle/>
                    <a:p>
                      <a:endParaRPr lang="zh-CN" altLang="en-US" dirty="0"/>
                    </a:p>
                  </a:txBody>
                  <a:tcPr>
                    <a:solidFill>
                      <a:srgbClr val="1F487C"/>
                    </a:solidFill>
                  </a:tcPr>
                </a:tc>
                <a:tc>
                  <a:txBody>
                    <a:bodyPr/>
                    <a:lstStyle/>
                    <a:p>
                      <a:endParaRPr lang="zh-CN" altLang="en-US" dirty="0"/>
                    </a:p>
                  </a:txBody>
                  <a:tcPr>
                    <a:solidFill>
                      <a:srgbClr val="1F487C"/>
                    </a:solidFill>
                  </a:tcPr>
                </a:tc>
                <a:tc>
                  <a:txBody>
                    <a:bodyPr/>
                    <a:lstStyle/>
                    <a:p>
                      <a:endParaRPr lang="zh-CN" altLang="en-US" dirty="0"/>
                    </a:p>
                  </a:txBody>
                  <a:tcPr>
                    <a:solidFill>
                      <a:srgbClr val="1F487C"/>
                    </a:solidFill>
                  </a:tcPr>
                </a:tc>
                <a:extLst>
                  <a:ext uri="{0D108BD9-81ED-4DB2-BD59-A6C34878D82A}">
                    <a16:rowId xmlns:a16="http://schemas.microsoft.com/office/drawing/2014/main" val="10000"/>
                  </a:ext>
                </a:extLst>
              </a:tr>
            </a:tbl>
          </a:graphicData>
        </a:graphic>
      </p:graphicFrame>
      <p:sp>
        <p:nvSpPr>
          <p:cNvPr id="172" name="文本框 171"/>
          <p:cNvSpPr txBox="1"/>
          <p:nvPr/>
        </p:nvSpPr>
        <p:spPr>
          <a:xfrm>
            <a:off x="358543" y="1298955"/>
            <a:ext cx="575799" cy="1384995"/>
          </a:xfrm>
          <a:prstGeom prst="rect">
            <a:avLst/>
          </a:prstGeom>
          <a:noFill/>
        </p:spPr>
        <p:txBody>
          <a:bodyPr wrap="none" rtlCol="0">
            <a:spAutoFit/>
          </a:bodyPr>
          <a:lstStyle/>
          <a:p>
            <a:r>
              <a:rPr lang="zh-CN" altLang="en-US" sz="2800" b="1" spc="250" dirty="0">
                <a:solidFill>
                  <a:srgbClr val="1F487C"/>
                </a:solidFill>
                <a:latin typeface="微软雅黑" panose="020B0503020204020204" pitchFamily="34" charset="-122"/>
                <a:ea typeface="微软雅黑" panose="020B0503020204020204" pitchFamily="34" charset="-122"/>
              </a:rPr>
              <a:t>目</a:t>
            </a:r>
            <a:endParaRPr lang="en-US" altLang="zh-CN" sz="2800" b="1" spc="250" dirty="0">
              <a:solidFill>
                <a:srgbClr val="1F487C"/>
              </a:solidFill>
              <a:latin typeface="微软雅黑" panose="020B0503020204020204" pitchFamily="34" charset="-122"/>
              <a:ea typeface="微软雅黑" panose="020B0503020204020204" pitchFamily="34" charset="-122"/>
            </a:endParaRPr>
          </a:p>
          <a:p>
            <a:endParaRPr lang="en-US" altLang="zh-CN" sz="2800" b="1" spc="250" dirty="0">
              <a:solidFill>
                <a:srgbClr val="1F487C"/>
              </a:solidFill>
              <a:latin typeface="微软雅黑" panose="020B0503020204020204" pitchFamily="34" charset="-122"/>
              <a:ea typeface="微软雅黑" panose="020B0503020204020204" pitchFamily="34" charset="-122"/>
            </a:endParaRPr>
          </a:p>
          <a:p>
            <a:r>
              <a:rPr lang="zh-CN" altLang="en-US" sz="2800" b="1" spc="250" dirty="0">
                <a:solidFill>
                  <a:srgbClr val="1F487C"/>
                </a:solidFill>
                <a:latin typeface="微软雅黑" panose="020B0503020204020204" pitchFamily="34" charset="-122"/>
                <a:ea typeface="微软雅黑" panose="020B0503020204020204" pitchFamily="34" charset="-122"/>
              </a:rPr>
              <a:t>录</a:t>
            </a:r>
          </a:p>
        </p:txBody>
      </p:sp>
      <p:sp>
        <p:nvSpPr>
          <p:cNvPr id="173" name="文本框 172"/>
          <p:cNvSpPr txBox="1"/>
          <p:nvPr/>
        </p:nvSpPr>
        <p:spPr>
          <a:xfrm>
            <a:off x="1341525" y="183135"/>
            <a:ext cx="1012713" cy="461665"/>
          </a:xfrm>
          <a:prstGeom prst="rect">
            <a:avLst/>
          </a:prstGeom>
          <a:noFill/>
        </p:spPr>
        <p:txBody>
          <a:bodyPr wrap="none" rtlCol="0">
            <a:spAutoFit/>
          </a:bodyPr>
          <a:lstStyle/>
          <a:p>
            <a:r>
              <a:rPr lang="en-US" altLang="zh-CN" sz="2400" b="1" dirty="0">
                <a:solidFill>
                  <a:schemeClr val="bg1">
                    <a:lumMod val="95000"/>
                  </a:schemeClr>
                </a:solidFill>
                <a:latin typeface="微软雅黑" panose="020B0503020204020204" pitchFamily="34" charset="-122"/>
                <a:ea typeface="微软雅黑" panose="020B0503020204020204" pitchFamily="34" charset="-122"/>
              </a:rPr>
              <a:t>Part1</a:t>
            </a:r>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74" name="文本框 173"/>
          <p:cNvSpPr txBox="1"/>
          <p:nvPr/>
        </p:nvSpPr>
        <p:spPr>
          <a:xfrm>
            <a:off x="4761833" y="179127"/>
            <a:ext cx="1012713" cy="461665"/>
          </a:xfrm>
          <a:prstGeom prst="rect">
            <a:avLst/>
          </a:prstGeom>
          <a:noFill/>
        </p:spPr>
        <p:txBody>
          <a:bodyPr wrap="none" rtlCol="0">
            <a:spAutoFit/>
          </a:bodyPr>
          <a:lstStyle/>
          <a:p>
            <a:r>
              <a:rPr lang="en-US" altLang="zh-CN" sz="2400" b="1" dirty="0">
                <a:solidFill>
                  <a:schemeClr val="bg1">
                    <a:lumMod val="95000"/>
                  </a:schemeClr>
                </a:solidFill>
                <a:latin typeface="微软雅黑" panose="020B0503020204020204" pitchFamily="34" charset="-122"/>
                <a:ea typeface="微软雅黑" panose="020B0503020204020204" pitchFamily="34" charset="-122"/>
              </a:rPr>
              <a:t>Part2</a:t>
            </a:r>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76" name="文本框 175"/>
          <p:cNvSpPr txBox="1"/>
          <p:nvPr/>
        </p:nvSpPr>
        <p:spPr>
          <a:xfrm>
            <a:off x="9470890" y="179127"/>
            <a:ext cx="1012713" cy="461665"/>
          </a:xfrm>
          <a:prstGeom prst="rect">
            <a:avLst/>
          </a:prstGeom>
          <a:noFill/>
        </p:spPr>
        <p:txBody>
          <a:bodyPr wrap="none" rtlCol="0">
            <a:spAutoFit/>
          </a:bodyPr>
          <a:lstStyle/>
          <a:p>
            <a:r>
              <a:rPr lang="en-US" altLang="zh-CN" sz="2400" b="1" dirty="0">
                <a:solidFill>
                  <a:schemeClr val="bg1">
                    <a:lumMod val="95000"/>
                  </a:schemeClr>
                </a:solidFill>
                <a:latin typeface="微软雅黑" panose="020B0503020204020204" pitchFamily="34" charset="-122"/>
                <a:ea typeface="微软雅黑" panose="020B0503020204020204" pitchFamily="34" charset="-122"/>
              </a:rPr>
              <a:t>Part3</a:t>
            </a:r>
            <a:endParaRPr lang="zh-CN" altLang="en-US" sz="2400" b="1" dirty="0">
              <a:solidFill>
                <a:schemeClr val="bg1">
                  <a:lumMod val="95000"/>
                </a:schemeClr>
              </a:solidFill>
              <a:latin typeface="微软雅黑" panose="020B0503020204020204" pitchFamily="34" charset="-122"/>
              <a:ea typeface="微软雅黑" panose="020B0503020204020204" pitchFamily="34" charset="-122"/>
            </a:endParaRPr>
          </a:p>
        </p:txBody>
      </p:sp>
      <p:grpSp>
        <p:nvGrpSpPr>
          <p:cNvPr id="177" name="组合 176"/>
          <p:cNvGrpSpPr/>
          <p:nvPr/>
        </p:nvGrpSpPr>
        <p:grpSpPr>
          <a:xfrm>
            <a:off x="10892083" y="30541"/>
            <a:ext cx="882650" cy="884238"/>
            <a:chOff x="3121025" y="4122738"/>
            <a:chExt cx="882650" cy="884238"/>
          </a:xfrm>
        </p:grpSpPr>
        <p:sp>
          <p:nvSpPr>
            <p:cNvPr id="178" name="Oval 11"/>
            <p:cNvSpPr>
              <a:spLocks noChangeArrowheads="1"/>
            </p:cNvSpPr>
            <p:nvPr/>
          </p:nvSpPr>
          <p:spPr bwMode="auto">
            <a:xfrm>
              <a:off x="3121025" y="4122738"/>
              <a:ext cx="882650" cy="884238"/>
            </a:xfrm>
            <a:prstGeom prst="ellipse">
              <a:avLst/>
            </a:prstGeom>
            <a:solidFill>
              <a:srgbClr val="3A73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9" name="Freeform 12"/>
            <p:cNvSpPr/>
            <p:nvPr/>
          </p:nvSpPr>
          <p:spPr bwMode="auto">
            <a:xfrm>
              <a:off x="3246438" y="4279901"/>
              <a:ext cx="757237" cy="727075"/>
            </a:xfrm>
            <a:custGeom>
              <a:avLst/>
              <a:gdLst>
                <a:gd name="T0" fmla="*/ 201 w 305"/>
                <a:gd name="T1" fmla="*/ 15 h 292"/>
                <a:gd name="T2" fmla="*/ 200 w 305"/>
                <a:gd name="T3" fmla="*/ 15 h 292"/>
                <a:gd name="T4" fmla="*/ 198 w 305"/>
                <a:gd name="T5" fmla="*/ 18 h 292"/>
                <a:gd name="T6" fmla="*/ 180 w 305"/>
                <a:gd name="T7" fmla="*/ 1 h 292"/>
                <a:gd name="T8" fmla="*/ 178 w 305"/>
                <a:gd name="T9" fmla="*/ 0 h 292"/>
                <a:gd name="T10" fmla="*/ 175 w 305"/>
                <a:gd name="T11" fmla="*/ 0 h 292"/>
                <a:gd name="T12" fmla="*/ 171 w 305"/>
                <a:gd name="T13" fmla="*/ 1 h 292"/>
                <a:gd name="T14" fmla="*/ 168 w 305"/>
                <a:gd name="T15" fmla="*/ 2 h 292"/>
                <a:gd name="T16" fmla="*/ 164 w 305"/>
                <a:gd name="T17" fmla="*/ 4 h 292"/>
                <a:gd name="T18" fmla="*/ 161 w 305"/>
                <a:gd name="T19" fmla="*/ 6 h 292"/>
                <a:gd name="T20" fmla="*/ 158 w 305"/>
                <a:gd name="T21" fmla="*/ 9 h 292"/>
                <a:gd name="T22" fmla="*/ 155 w 305"/>
                <a:gd name="T23" fmla="*/ 12 h 292"/>
                <a:gd name="T24" fmla="*/ 154 w 305"/>
                <a:gd name="T25" fmla="*/ 15 h 292"/>
                <a:gd name="T26" fmla="*/ 153 w 305"/>
                <a:gd name="T27" fmla="*/ 18 h 292"/>
                <a:gd name="T28" fmla="*/ 152 w 305"/>
                <a:gd name="T29" fmla="*/ 21 h 292"/>
                <a:gd name="T30" fmla="*/ 151 w 305"/>
                <a:gd name="T31" fmla="*/ 24 h 292"/>
                <a:gd name="T32" fmla="*/ 150 w 305"/>
                <a:gd name="T33" fmla="*/ 28 h 292"/>
                <a:gd name="T34" fmla="*/ 148 w 305"/>
                <a:gd name="T35" fmla="*/ 33 h 292"/>
                <a:gd name="T36" fmla="*/ 145 w 305"/>
                <a:gd name="T37" fmla="*/ 36 h 292"/>
                <a:gd name="T38" fmla="*/ 143 w 305"/>
                <a:gd name="T39" fmla="*/ 40 h 292"/>
                <a:gd name="T40" fmla="*/ 140 w 305"/>
                <a:gd name="T41" fmla="*/ 43 h 292"/>
                <a:gd name="T42" fmla="*/ 136 w 305"/>
                <a:gd name="T43" fmla="*/ 46 h 292"/>
                <a:gd name="T44" fmla="*/ 31 w 305"/>
                <a:gd name="T45" fmla="*/ 126 h 292"/>
                <a:gd name="T46" fmla="*/ 28 w 305"/>
                <a:gd name="T47" fmla="*/ 125 h 292"/>
                <a:gd name="T48" fmla="*/ 24 w 305"/>
                <a:gd name="T49" fmla="*/ 125 h 292"/>
                <a:gd name="T50" fmla="*/ 20 w 305"/>
                <a:gd name="T51" fmla="*/ 126 h 292"/>
                <a:gd name="T52" fmla="*/ 16 w 305"/>
                <a:gd name="T53" fmla="*/ 128 h 292"/>
                <a:gd name="T54" fmla="*/ 12 w 305"/>
                <a:gd name="T55" fmla="*/ 131 h 292"/>
                <a:gd name="T56" fmla="*/ 9 w 305"/>
                <a:gd name="T57" fmla="*/ 136 h 292"/>
                <a:gd name="T58" fmla="*/ 7 w 305"/>
                <a:gd name="T59" fmla="*/ 141 h 292"/>
                <a:gd name="T60" fmla="*/ 7 w 305"/>
                <a:gd name="T61" fmla="*/ 147 h 292"/>
                <a:gd name="T62" fmla="*/ 8 w 305"/>
                <a:gd name="T63" fmla="*/ 153 h 292"/>
                <a:gd name="T64" fmla="*/ 11 w 305"/>
                <a:gd name="T65" fmla="*/ 158 h 292"/>
                <a:gd name="T66" fmla="*/ 34 w 305"/>
                <a:gd name="T67" fmla="*/ 182 h 292"/>
                <a:gd name="T68" fmla="*/ 30 w 305"/>
                <a:gd name="T69" fmla="*/ 180 h 292"/>
                <a:gd name="T70" fmla="*/ 25 w 305"/>
                <a:gd name="T71" fmla="*/ 180 h 292"/>
                <a:gd name="T72" fmla="*/ 21 w 305"/>
                <a:gd name="T73" fmla="*/ 180 h 292"/>
                <a:gd name="T74" fmla="*/ 16 w 305"/>
                <a:gd name="T75" fmla="*/ 181 h 292"/>
                <a:gd name="T76" fmla="*/ 11 w 305"/>
                <a:gd name="T77" fmla="*/ 184 h 292"/>
                <a:gd name="T78" fmla="*/ 6 w 305"/>
                <a:gd name="T79" fmla="*/ 188 h 292"/>
                <a:gd name="T80" fmla="*/ 2 w 305"/>
                <a:gd name="T81" fmla="*/ 194 h 292"/>
                <a:gd name="T82" fmla="*/ 0 w 305"/>
                <a:gd name="T83" fmla="*/ 201 h 292"/>
                <a:gd name="T84" fmla="*/ 0 w 305"/>
                <a:gd name="T85" fmla="*/ 208 h 292"/>
                <a:gd name="T86" fmla="*/ 2 w 305"/>
                <a:gd name="T87" fmla="*/ 215 h 292"/>
                <a:gd name="T88" fmla="*/ 6 w 305"/>
                <a:gd name="T89" fmla="*/ 221 h 292"/>
                <a:gd name="T90" fmla="*/ 305 w 305"/>
                <a:gd name="T91" fmla="*/ 118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5" h="292">
                  <a:moveTo>
                    <a:pt x="305" y="118"/>
                  </a:moveTo>
                  <a:cubicBezTo>
                    <a:pt x="201" y="15"/>
                    <a:pt x="201" y="15"/>
                    <a:pt x="201" y="15"/>
                  </a:cubicBezTo>
                  <a:cubicBezTo>
                    <a:pt x="201" y="15"/>
                    <a:pt x="201" y="15"/>
                    <a:pt x="201" y="15"/>
                  </a:cubicBezTo>
                  <a:cubicBezTo>
                    <a:pt x="201" y="14"/>
                    <a:pt x="201" y="14"/>
                    <a:pt x="201" y="14"/>
                  </a:cubicBezTo>
                  <a:cubicBezTo>
                    <a:pt x="200" y="15"/>
                    <a:pt x="200" y="15"/>
                    <a:pt x="200" y="15"/>
                  </a:cubicBezTo>
                  <a:cubicBezTo>
                    <a:pt x="200" y="15"/>
                    <a:pt x="200" y="15"/>
                    <a:pt x="200" y="15"/>
                  </a:cubicBezTo>
                  <a:cubicBezTo>
                    <a:pt x="199" y="16"/>
                    <a:pt x="199" y="16"/>
                    <a:pt x="199" y="16"/>
                  </a:cubicBezTo>
                  <a:cubicBezTo>
                    <a:pt x="198" y="17"/>
                    <a:pt x="198" y="17"/>
                    <a:pt x="198" y="17"/>
                  </a:cubicBezTo>
                  <a:cubicBezTo>
                    <a:pt x="198" y="18"/>
                    <a:pt x="198" y="18"/>
                    <a:pt x="198" y="18"/>
                  </a:cubicBezTo>
                  <a:cubicBezTo>
                    <a:pt x="197" y="18"/>
                    <a:pt x="197" y="18"/>
                    <a:pt x="197" y="18"/>
                  </a:cubicBezTo>
                  <a:cubicBezTo>
                    <a:pt x="197" y="18"/>
                    <a:pt x="197" y="18"/>
                    <a:pt x="197" y="18"/>
                  </a:cubicBezTo>
                  <a:cubicBezTo>
                    <a:pt x="180" y="1"/>
                    <a:pt x="180" y="1"/>
                    <a:pt x="180" y="1"/>
                  </a:cubicBezTo>
                  <a:cubicBezTo>
                    <a:pt x="180" y="1"/>
                    <a:pt x="180" y="1"/>
                    <a:pt x="180" y="1"/>
                  </a:cubicBezTo>
                  <a:cubicBezTo>
                    <a:pt x="179" y="1"/>
                    <a:pt x="179" y="1"/>
                    <a:pt x="179" y="1"/>
                  </a:cubicBezTo>
                  <a:cubicBezTo>
                    <a:pt x="178" y="0"/>
                    <a:pt x="178" y="0"/>
                    <a:pt x="178" y="0"/>
                  </a:cubicBezTo>
                  <a:cubicBezTo>
                    <a:pt x="177" y="0"/>
                    <a:pt x="177" y="0"/>
                    <a:pt x="177" y="0"/>
                  </a:cubicBezTo>
                  <a:cubicBezTo>
                    <a:pt x="176" y="0"/>
                    <a:pt x="176" y="0"/>
                    <a:pt x="176" y="0"/>
                  </a:cubicBezTo>
                  <a:cubicBezTo>
                    <a:pt x="175" y="0"/>
                    <a:pt x="175" y="0"/>
                    <a:pt x="175" y="0"/>
                  </a:cubicBezTo>
                  <a:cubicBezTo>
                    <a:pt x="174" y="0"/>
                    <a:pt x="174" y="0"/>
                    <a:pt x="174" y="0"/>
                  </a:cubicBezTo>
                  <a:cubicBezTo>
                    <a:pt x="173" y="1"/>
                    <a:pt x="173" y="1"/>
                    <a:pt x="173" y="1"/>
                  </a:cubicBezTo>
                  <a:cubicBezTo>
                    <a:pt x="171" y="1"/>
                    <a:pt x="171" y="1"/>
                    <a:pt x="171" y="1"/>
                  </a:cubicBezTo>
                  <a:cubicBezTo>
                    <a:pt x="170" y="2"/>
                    <a:pt x="170" y="2"/>
                    <a:pt x="170" y="2"/>
                  </a:cubicBezTo>
                  <a:cubicBezTo>
                    <a:pt x="169" y="2"/>
                    <a:pt x="169" y="2"/>
                    <a:pt x="169" y="2"/>
                  </a:cubicBezTo>
                  <a:cubicBezTo>
                    <a:pt x="168" y="2"/>
                    <a:pt x="168" y="2"/>
                    <a:pt x="168" y="2"/>
                  </a:cubicBezTo>
                  <a:cubicBezTo>
                    <a:pt x="167" y="3"/>
                    <a:pt x="167" y="3"/>
                    <a:pt x="167" y="3"/>
                  </a:cubicBezTo>
                  <a:cubicBezTo>
                    <a:pt x="165" y="4"/>
                    <a:pt x="165" y="4"/>
                    <a:pt x="165" y="4"/>
                  </a:cubicBezTo>
                  <a:cubicBezTo>
                    <a:pt x="164" y="4"/>
                    <a:pt x="164" y="4"/>
                    <a:pt x="164" y="4"/>
                  </a:cubicBezTo>
                  <a:cubicBezTo>
                    <a:pt x="163" y="5"/>
                    <a:pt x="163" y="5"/>
                    <a:pt x="163" y="5"/>
                  </a:cubicBezTo>
                  <a:cubicBezTo>
                    <a:pt x="162" y="6"/>
                    <a:pt x="162" y="6"/>
                    <a:pt x="162" y="6"/>
                  </a:cubicBezTo>
                  <a:cubicBezTo>
                    <a:pt x="161" y="6"/>
                    <a:pt x="161" y="6"/>
                    <a:pt x="161" y="6"/>
                  </a:cubicBezTo>
                  <a:cubicBezTo>
                    <a:pt x="160" y="7"/>
                    <a:pt x="160" y="7"/>
                    <a:pt x="160" y="7"/>
                  </a:cubicBezTo>
                  <a:cubicBezTo>
                    <a:pt x="159" y="8"/>
                    <a:pt x="159" y="8"/>
                    <a:pt x="159" y="8"/>
                  </a:cubicBezTo>
                  <a:cubicBezTo>
                    <a:pt x="158" y="9"/>
                    <a:pt x="158" y="9"/>
                    <a:pt x="158" y="9"/>
                  </a:cubicBezTo>
                  <a:cubicBezTo>
                    <a:pt x="157" y="10"/>
                    <a:pt x="157" y="10"/>
                    <a:pt x="157" y="10"/>
                  </a:cubicBezTo>
                  <a:cubicBezTo>
                    <a:pt x="156" y="11"/>
                    <a:pt x="156" y="11"/>
                    <a:pt x="156" y="11"/>
                  </a:cubicBezTo>
                  <a:cubicBezTo>
                    <a:pt x="155" y="12"/>
                    <a:pt x="155" y="12"/>
                    <a:pt x="155" y="12"/>
                  </a:cubicBezTo>
                  <a:cubicBezTo>
                    <a:pt x="155" y="13"/>
                    <a:pt x="155" y="13"/>
                    <a:pt x="155" y="13"/>
                  </a:cubicBezTo>
                  <a:cubicBezTo>
                    <a:pt x="154" y="14"/>
                    <a:pt x="154" y="14"/>
                    <a:pt x="154" y="14"/>
                  </a:cubicBezTo>
                  <a:cubicBezTo>
                    <a:pt x="154" y="15"/>
                    <a:pt x="154" y="15"/>
                    <a:pt x="154" y="15"/>
                  </a:cubicBezTo>
                  <a:cubicBezTo>
                    <a:pt x="153" y="16"/>
                    <a:pt x="153" y="16"/>
                    <a:pt x="153" y="16"/>
                  </a:cubicBezTo>
                  <a:cubicBezTo>
                    <a:pt x="153" y="17"/>
                    <a:pt x="153" y="17"/>
                    <a:pt x="153" y="17"/>
                  </a:cubicBezTo>
                  <a:cubicBezTo>
                    <a:pt x="153" y="18"/>
                    <a:pt x="153" y="18"/>
                    <a:pt x="153" y="18"/>
                  </a:cubicBezTo>
                  <a:cubicBezTo>
                    <a:pt x="153" y="19"/>
                    <a:pt x="153" y="19"/>
                    <a:pt x="153" y="19"/>
                  </a:cubicBezTo>
                  <a:cubicBezTo>
                    <a:pt x="152" y="20"/>
                    <a:pt x="152" y="20"/>
                    <a:pt x="152" y="20"/>
                  </a:cubicBezTo>
                  <a:cubicBezTo>
                    <a:pt x="152" y="21"/>
                    <a:pt x="152" y="21"/>
                    <a:pt x="152" y="21"/>
                  </a:cubicBezTo>
                  <a:cubicBezTo>
                    <a:pt x="152" y="22"/>
                    <a:pt x="152" y="22"/>
                    <a:pt x="152" y="22"/>
                  </a:cubicBezTo>
                  <a:cubicBezTo>
                    <a:pt x="152" y="23"/>
                    <a:pt x="152" y="23"/>
                    <a:pt x="152" y="23"/>
                  </a:cubicBezTo>
                  <a:cubicBezTo>
                    <a:pt x="151" y="24"/>
                    <a:pt x="151" y="24"/>
                    <a:pt x="151" y="24"/>
                  </a:cubicBezTo>
                  <a:cubicBezTo>
                    <a:pt x="151" y="25"/>
                    <a:pt x="151" y="25"/>
                    <a:pt x="151" y="25"/>
                  </a:cubicBezTo>
                  <a:cubicBezTo>
                    <a:pt x="150" y="26"/>
                    <a:pt x="150" y="26"/>
                    <a:pt x="150" y="26"/>
                  </a:cubicBezTo>
                  <a:cubicBezTo>
                    <a:pt x="150" y="28"/>
                    <a:pt x="150" y="28"/>
                    <a:pt x="150" y="28"/>
                  </a:cubicBezTo>
                  <a:cubicBezTo>
                    <a:pt x="149" y="30"/>
                    <a:pt x="149" y="30"/>
                    <a:pt x="149" y="30"/>
                  </a:cubicBezTo>
                  <a:cubicBezTo>
                    <a:pt x="148" y="31"/>
                    <a:pt x="148" y="31"/>
                    <a:pt x="148" y="31"/>
                  </a:cubicBezTo>
                  <a:cubicBezTo>
                    <a:pt x="148" y="33"/>
                    <a:pt x="148" y="33"/>
                    <a:pt x="148" y="33"/>
                  </a:cubicBezTo>
                  <a:cubicBezTo>
                    <a:pt x="147" y="34"/>
                    <a:pt x="147" y="34"/>
                    <a:pt x="147" y="34"/>
                  </a:cubicBezTo>
                  <a:cubicBezTo>
                    <a:pt x="146" y="35"/>
                    <a:pt x="146" y="35"/>
                    <a:pt x="146" y="35"/>
                  </a:cubicBezTo>
                  <a:cubicBezTo>
                    <a:pt x="145" y="36"/>
                    <a:pt x="145" y="36"/>
                    <a:pt x="145" y="36"/>
                  </a:cubicBezTo>
                  <a:cubicBezTo>
                    <a:pt x="145" y="37"/>
                    <a:pt x="145" y="37"/>
                    <a:pt x="145" y="37"/>
                  </a:cubicBezTo>
                  <a:cubicBezTo>
                    <a:pt x="144" y="39"/>
                    <a:pt x="144" y="39"/>
                    <a:pt x="144" y="39"/>
                  </a:cubicBezTo>
                  <a:cubicBezTo>
                    <a:pt x="143" y="40"/>
                    <a:pt x="143" y="40"/>
                    <a:pt x="143" y="40"/>
                  </a:cubicBezTo>
                  <a:cubicBezTo>
                    <a:pt x="142" y="41"/>
                    <a:pt x="142" y="41"/>
                    <a:pt x="142" y="41"/>
                  </a:cubicBezTo>
                  <a:cubicBezTo>
                    <a:pt x="141" y="42"/>
                    <a:pt x="141" y="42"/>
                    <a:pt x="141" y="42"/>
                  </a:cubicBezTo>
                  <a:cubicBezTo>
                    <a:pt x="140" y="43"/>
                    <a:pt x="140" y="43"/>
                    <a:pt x="140" y="43"/>
                  </a:cubicBezTo>
                  <a:cubicBezTo>
                    <a:pt x="138" y="44"/>
                    <a:pt x="138" y="44"/>
                    <a:pt x="138" y="44"/>
                  </a:cubicBezTo>
                  <a:cubicBezTo>
                    <a:pt x="137" y="45"/>
                    <a:pt x="137" y="45"/>
                    <a:pt x="137" y="45"/>
                  </a:cubicBezTo>
                  <a:cubicBezTo>
                    <a:pt x="136" y="46"/>
                    <a:pt x="136" y="46"/>
                    <a:pt x="136" y="46"/>
                  </a:cubicBezTo>
                  <a:cubicBezTo>
                    <a:pt x="34" y="127"/>
                    <a:pt x="34" y="127"/>
                    <a:pt x="34" y="127"/>
                  </a:cubicBezTo>
                  <a:cubicBezTo>
                    <a:pt x="32" y="126"/>
                    <a:pt x="32" y="126"/>
                    <a:pt x="32" y="126"/>
                  </a:cubicBezTo>
                  <a:cubicBezTo>
                    <a:pt x="31" y="126"/>
                    <a:pt x="31" y="126"/>
                    <a:pt x="31" y="126"/>
                  </a:cubicBezTo>
                  <a:cubicBezTo>
                    <a:pt x="30" y="126"/>
                    <a:pt x="30" y="126"/>
                    <a:pt x="30" y="126"/>
                  </a:cubicBezTo>
                  <a:cubicBezTo>
                    <a:pt x="29" y="125"/>
                    <a:pt x="29" y="125"/>
                    <a:pt x="29" y="125"/>
                  </a:cubicBezTo>
                  <a:cubicBezTo>
                    <a:pt x="28" y="125"/>
                    <a:pt x="28" y="125"/>
                    <a:pt x="28" y="125"/>
                  </a:cubicBezTo>
                  <a:cubicBezTo>
                    <a:pt x="26" y="125"/>
                    <a:pt x="26" y="125"/>
                    <a:pt x="26" y="125"/>
                  </a:cubicBezTo>
                  <a:cubicBezTo>
                    <a:pt x="25" y="125"/>
                    <a:pt x="25" y="125"/>
                    <a:pt x="25" y="125"/>
                  </a:cubicBezTo>
                  <a:cubicBezTo>
                    <a:pt x="24" y="125"/>
                    <a:pt x="24" y="125"/>
                    <a:pt x="24" y="125"/>
                  </a:cubicBezTo>
                  <a:cubicBezTo>
                    <a:pt x="23" y="125"/>
                    <a:pt x="23" y="125"/>
                    <a:pt x="23" y="125"/>
                  </a:cubicBezTo>
                  <a:cubicBezTo>
                    <a:pt x="22" y="126"/>
                    <a:pt x="22" y="126"/>
                    <a:pt x="22" y="126"/>
                  </a:cubicBezTo>
                  <a:cubicBezTo>
                    <a:pt x="20" y="126"/>
                    <a:pt x="20" y="126"/>
                    <a:pt x="20" y="126"/>
                  </a:cubicBezTo>
                  <a:cubicBezTo>
                    <a:pt x="19" y="127"/>
                    <a:pt x="19" y="127"/>
                    <a:pt x="19" y="127"/>
                  </a:cubicBezTo>
                  <a:cubicBezTo>
                    <a:pt x="18" y="127"/>
                    <a:pt x="18" y="127"/>
                    <a:pt x="18" y="127"/>
                  </a:cubicBezTo>
                  <a:cubicBezTo>
                    <a:pt x="16" y="128"/>
                    <a:pt x="16" y="128"/>
                    <a:pt x="16" y="128"/>
                  </a:cubicBezTo>
                  <a:cubicBezTo>
                    <a:pt x="15" y="129"/>
                    <a:pt x="15" y="129"/>
                    <a:pt x="15" y="129"/>
                  </a:cubicBezTo>
                  <a:cubicBezTo>
                    <a:pt x="14" y="130"/>
                    <a:pt x="14" y="130"/>
                    <a:pt x="14" y="130"/>
                  </a:cubicBezTo>
                  <a:cubicBezTo>
                    <a:pt x="12" y="131"/>
                    <a:pt x="12" y="131"/>
                    <a:pt x="12" y="131"/>
                  </a:cubicBezTo>
                  <a:cubicBezTo>
                    <a:pt x="11" y="132"/>
                    <a:pt x="11" y="132"/>
                    <a:pt x="11" y="132"/>
                  </a:cubicBezTo>
                  <a:cubicBezTo>
                    <a:pt x="10" y="134"/>
                    <a:pt x="10" y="134"/>
                    <a:pt x="10" y="134"/>
                  </a:cubicBezTo>
                  <a:cubicBezTo>
                    <a:pt x="9" y="136"/>
                    <a:pt x="9" y="136"/>
                    <a:pt x="9" y="136"/>
                  </a:cubicBezTo>
                  <a:cubicBezTo>
                    <a:pt x="8" y="137"/>
                    <a:pt x="8" y="137"/>
                    <a:pt x="8" y="137"/>
                  </a:cubicBezTo>
                  <a:cubicBezTo>
                    <a:pt x="8" y="139"/>
                    <a:pt x="8" y="139"/>
                    <a:pt x="8" y="139"/>
                  </a:cubicBezTo>
                  <a:cubicBezTo>
                    <a:pt x="7" y="141"/>
                    <a:pt x="7" y="141"/>
                    <a:pt x="7" y="141"/>
                  </a:cubicBezTo>
                  <a:cubicBezTo>
                    <a:pt x="7" y="143"/>
                    <a:pt x="7" y="143"/>
                    <a:pt x="7" y="143"/>
                  </a:cubicBezTo>
                  <a:cubicBezTo>
                    <a:pt x="7" y="145"/>
                    <a:pt x="7" y="145"/>
                    <a:pt x="7" y="145"/>
                  </a:cubicBezTo>
                  <a:cubicBezTo>
                    <a:pt x="7" y="147"/>
                    <a:pt x="7" y="147"/>
                    <a:pt x="7" y="147"/>
                  </a:cubicBezTo>
                  <a:cubicBezTo>
                    <a:pt x="7" y="149"/>
                    <a:pt x="7" y="149"/>
                    <a:pt x="7" y="149"/>
                  </a:cubicBezTo>
                  <a:cubicBezTo>
                    <a:pt x="7" y="151"/>
                    <a:pt x="7" y="151"/>
                    <a:pt x="7" y="151"/>
                  </a:cubicBezTo>
                  <a:cubicBezTo>
                    <a:pt x="8" y="153"/>
                    <a:pt x="8" y="153"/>
                    <a:pt x="8" y="153"/>
                  </a:cubicBezTo>
                  <a:cubicBezTo>
                    <a:pt x="8" y="155"/>
                    <a:pt x="8" y="155"/>
                    <a:pt x="8" y="155"/>
                  </a:cubicBezTo>
                  <a:cubicBezTo>
                    <a:pt x="9" y="157"/>
                    <a:pt x="9" y="157"/>
                    <a:pt x="9" y="157"/>
                  </a:cubicBezTo>
                  <a:cubicBezTo>
                    <a:pt x="11" y="158"/>
                    <a:pt x="11" y="158"/>
                    <a:pt x="11" y="158"/>
                  </a:cubicBezTo>
                  <a:cubicBezTo>
                    <a:pt x="12" y="160"/>
                    <a:pt x="12" y="160"/>
                    <a:pt x="12" y="160"/>
                  </a:cubicBezTo>
                  <a:cubicBezTo>
                    <a:pt x="35" y="182"/>
                    <a:pt x="35" y="182"/>
                    <a:pt x="35" y="182"/>
                  </a:cubicBezTo>
                  <a:cubicBezTo>
                    <a:pt x="34" y="182"/>
                    <a:pt x="34" y="182"/>
                    <a:pt x="34" y="182"/>
                  </a:cubicBezTo>
                  <a:cubicBezTo>
                    <a:pt x="33" y="181"/>
                    <a:pt x="33" y="181"/>
                    <a:pt x="33" y="181"/>
                  </a:cubicBezTo>
                  <a:cubicBezTo>
                    <a:pt x="31" y="181"/>
                    <a:pt x="31" y="181"/>
                    <a:pt x="31" y="181"/>
                  </a:cubicBezTo>
                  <a:cubicBezTo>
                    <a:pt x="30" y="180"/>
                    <a:pt x="30" y="180"/>
                    <a:pt x="30" y="180"/>
                  </a:cubicBezTo>
                  <a:cubicBezTo>
                    <a:pt x="28" y="180"/>
                    <a:pt x="28" y="180"/>
                    <a:pt x="28" y="180"/>
                  </a:cubicBezTo>
                  <a:cubicBezTo>
                    <a:pt x="27" y="180"/>
                    <a:pt x="27" y="180"/>
                    <a:pt x="27" y="180"/>
                  </a:cubicBezTo>
                  <a:cubicBezTo>
                    <a:pt x="25" y="180"/>
                    <a:pt x="25" y="180"/>
                    <a:pt x="25" y="180"/>
                  </a:cubicBezTo>
                  <a:cubicBezTo>
                    <a:pt x="24" y="180"/>
                    <a:pt x="24" y="180"/>
                    <a:pt x="24" y="180"/>
                  </a:cubicBezTo>
                  <a:cubicBezTo>
                    <a:pt x="22" y="180"/>
                    <a:pt x="22" y="180"/>
                    <a:pt x="22" y="180"/>
                  </a:cubicBezTo>
                  <a:cubicBezTo>
                    <a:pt x="21" y="180"/>
                    <a:pt x="21" y="180"/>
                    <a:pt x="21" y="180"/>
                  </a:cubicBezTo>
                  <a:cubicBezTo>
                    <a:pt x="19" y="180"/>
                    <a:pt x="19" y="180"/>
                    <a:pt x="19" y="180"/>
                  </a:cubicBezTo>
                  <a:cubicBezTo>
                    <a:pt x="18" y="180"/>
                    <a:pt x="18" y="180"/>
                    <a:pt x="18" y="180"/>
                  </a:cubicBezTo>
                  <a:cubicBezTo>
                    <a:pt x="16" y="181"/>
                    <a:pt x="16" y="181"/>
                    <a:pt x="16" y="181"/>
                  </a:cubicBezTo>
                  <a:cubicBezTo>
                    <a:pt x="15" y="182"/>
                    <a:pt x="15" y="182"/>
                    <a:pt x="15" y="182"/>
                  </a:cubicBezTo>
                  <a:cubicBezTo>
                    <a:pt x="13" y="183"/>
                    <a:pt x="13" y="183"/>
                    <a:pt x="13" y="183"/>
                  </a:cubicBezTo>
                  <a:cubicBezTo>
                    <a:pt x="11" y="184"/>
                    <a:pt x="11" y="184"/>
                    <a:pt x="11" y="184"/>
                  </a:cubicBezTo>
                  <a:cubicBezTo>
                    <a:pt x="9" y="185"/>
                    <a:pt x="9" y="185"/>
                    <a:pt x="9" y="185"/>
                  </a:cubicBezTo>
                  <a:cubicBezTo>
                    <a:pt x="8" y="186"/>
                    <a:pt x="8" y="186"/>
                    <a:pt x="8" y="186"/>
                  </a:cubicBezTo>
                  <a:cubicBezTo>
                    <a:pt x="6" y="188"/>
                    <a:pt x="6" y="188"/>
                    <a:pt x="6" y="188"/>
                  </a:cubicBezTo>
                  <a:cubicBezTo>
                    <a:pt x="5" y="190"/>
                    <a:pt x="5" y="190"/>
                    <a:pt x="5" y="190"/>
                  </a:cubicBezTo>
                  <a:cubicBezTo>
                    <a:pt x="3" y="192"/>
                    <a:pt x="3" y="192"/>
                    <a:pt x="3" y="192"/>
                  </a:cubicBezTo>
                  <a:cubicBezTo>
                    <a:pt x="2" y="194"/>
                    <a:pt x="2" y="194"/>
                    <a:pt x="2" y="194"/>
                  </a:cubicBezTo>
                  <a:cubicBezTo>
                    <a:pt x="1" y="196"/>
                    <a:pt x="1" y="196"/>
                    <a:pt x="1" y="196"/>
                  </a:cubicBezTo>
                  <a:cubicBezTo>
                    <a:pt x="1" y="198"/>
                    <a:pt x="1" y="198"/>
                    <a:pt x="1" y="198"/>
                  </a:cubicBezTo>
                  <a:cubicBezTo>
                    <a:pt x="0" y="201"/>
                    <a:pt x="0" y="201"/>
                    <a:pt x="0" y="201"/>
                  </a:cubicBezTo>
                  <a:cubicBezTo>
                    <a:pt x="0" y="203"/>
                    <a:pt x="0" y="203"/>
                    <a:pt x="0" y="203"/>
                  </a:cubicBezTo>
                  <a:cubicBezTo>
                    <a:pt x="0" y="206"/>
                    <a:pt x="0" y="206"/>
                    <a:pt x="0" y="206"/>
                  </a:cubicBezTo>
                  <a:cubicBezTo>
                    <a:pt x="0" y="208"/>
                    <a:pt x="0" y="208"/>
                    <a:pt x="0" y="208"/>
                  </a:cubicBezTo>
                  <a:cubicBezTo>
                    <a:pt x="0" y="211"/>
                    <a:pt x="0" y="211"/>
                    <a:pt x="0" y="211"/>
                  </a:cubicBezTo>
                  <a:cubicBezTo>
                    <a:pt x="1" y="213"/>
                    <a:pt x="1" y="213"/>
                    <a:pt x="1" y="213"/>
                  </a:cubicBezTo>
                  <a:cubicBezTo>
                    <a:pt x="2" y="215"/>
                    <a:pt x="2" y="215"/>
                    <a:pt x="2" y="215"/>
                  </a:cubicBezTo>
                  <a:cubicBezTo>
                    <a:pt x="3" y="217"/>
                    <a:pt x="3" y="217"/>
                    <a:pt x="3" y="217"/>
                  </a:cubicBezTo>
                  <a:cubicBezTo>
                    <a:pt x="4" y="220"/>
                    <a:pt x="4" y="220"/>
                    <a:pt x="4" y="220"/>
                  </a:cubicBezTo>
                  <a:cubicBezTo>
                    <a:pt x="6" y="221"/>
                    <a:pt x="6" y="221"/>
                    <a:pt x="6" y="221"/>
                  </a:cubicBezTo>
                  <a:cubicBezTo>
                    <a:pt x="65" y="280"/>
                    <a:pt x="65" y="280"/>
                    <a:pt x="65" y="280"/>
                  </a:cubicBezTo>
                  <a:cubicBezTo>
                    <a:pt x="84" y="288"/>
                    <a:pt x="106" y="292"/>
                    <a:pt x="128" y="292"/>
                  </a:cubicBezTo>
                  <a:cubicBezTo>
                    <a:pt x="224" y="292"/>
                    <a:pt x="303" y="214"/>
                    <a:pt x="305" y="118"/>
                  </a:cubicBezTo>
                  <a:close/>
                </a:path>
              </a:pathLst>
            </a:custGeom>
            <a:solidFill>
              <a:srgbClr val="2E5C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0" name="Freeform 71"/>
            <p:cNvSpPr>
              <a:spLocks noEditPoints="1"/>
            </p:cNvSpPr>
            <p:nvPr/>
          </p:nvSpPr>
          <p:spPr bwMode="auto">
            <a:xfrm>
              <a:off x="3236913" y="4279901"/>
              <a:ext cx="646112" cy="574675"/>
            </a:xfrm>
            <a:custGeom>
              <a:avLst/>
              <a:gdLst>
                <a:gd name="T0" fmla="*/ 18 w 260"/>
                <a:gd name="T1" fmla="*/ 130 h 231"/>
                <a:gd name="T2" fmla="*/ 38 w 260"/>
                <a:gd name="T3" fmla="*/ 127 h 231"/>
                <a:gd name="T4" fmla="*/ 140 w 260"/>
                <a:gd name="T5" fmla="*/ 46 h 231"/>
                <a:gd name="T6" fmla="*/ 154 w 260"/>
                <a:gd name="T7" fmla="*/ 26 h 231"/>
                <a:gd name="T8" fmla="*/ 161 w 260"/>
                <a:gd name="T9" fmla="*/ 10 h 231"/>
                <a:gd name="T10" fmla="*/ 179 w 260"/>
                <a:gd name="T11" fmla="*/ 0 h 231"/>
                <a:gd name="T12" fmla="*/ 184 w 260"/>
                <a:gd name="T13" fmla="*/ 2 h 231"/>
                <a:gd name="T14" fmla="*/ 174 w 260"/>
                <a:gd name="T15" fmla="*/ 18 h 231"/>
                <a:gd name="T16" fmla="*/ 191 w 260"/>
                <a:gd name="T17" fmla="*/ 29 h 231"/>
                <a:gd name="T18" fmla="*/ 204 w 260"/>
                <a:gd name="T19" fmla="*/ 15 h 231"/>
                <a:gd name="T20" fmla="*/ 207 w 260"/>
                <a:gd name="T21" fmla="*/ 26 h 231"/>
                <a:gd name="T22" fmla="*/ 201 w 260"/>
                <a:gd name="T23" fmla="*/ 42 h 231"/>
                <a:gd name="T24" fmla="*/ 180 w 260"/>
                <a:gd name="T25" fmla="*/ 50 h 231"/>
                <a:gd name="T26" fmla="*/ 155 w 260"/>
                <a:gd name="T27" fmla="*/ 61 h 231"/>
                <a:gd name="T28" fmla="*/ 51 w 260"/>
                <a:gd name="T29" fmla="*/ 143 h 231"/>
                <a:gd name="T30" fmla="*/ 43 w 260"/>
                <a:gd name="T31" fmla="*/ 162 h 231"/>
                <a:gd name="T32" fmla="*/ 15 w 260"/>
                <a:gd name="T33" fmla="*/ 158 h 231"/>
                <a:gd name="T34" fmla="*/ 18 w 260"/>
                <a:gd name="T35" fmla="*/ 130 h 231"/>
                <a:gd name="T36" fmla="*/ 15 w 260"/>
                <a:gd name="T37" fmla="*/ 184 h 231"/>
                <a:gd name="T38" fmla="*/ 39 w 260"/>
                <a:gd name="T39" fmla="*/ 183 h 231"/>
                <a:gd name="T40" fmla="*/ 175 w 260"/>
                <a:gd name="T41" fmla="*/ 101 h 231"/>
                <a:gd name="T42" fmla="*/ 196 w 260"/>
                <a:gd name="T43" fmla="*/ 80 h 231"/>
                <a:gd name="T44" fmla="*/ 206 w 260"/>
                <a:gd name="T45" fmla="*/ 61 h 231"/>
                <a:gd name="T46" fmla="*/ 229 w 260"/>
                <a:gd name="T47" fmla="*/ 52 h 231"/>
                <a:gd name="T48" fmla="*/ 235 w 260"/>
                <a:gd name="T49" fmla="*/ 55 h 231"/>
                <a:gd name="T50" fmla="*/ 221 w 260"/>
                <a:gd name="T51" fmla="*/ 73 h 231"/>
                <a:gd name="T52" fmla="*/ 239 w 260"/>
                <a:gd name="T53" fmla="*/ 88 h 231"/>
                <a:gd name="T54" fmla="*/ 257 w 260"/>
                <a:gd name="T55" fmla="*/ 73 h 231"/>
                <a:gd name="T56" fmla="*/ 259 w 260"/>
                <a:gd name="T57" fmla="*/ 87 h 231"/>
                <a:gd name="T58" fmla="*/ 250 w 260"/>
                <a:gd name="T59" fmla="*/ 105 h 231"/>
                <a:gd name="T60" fmla="*/ 223 w 260"/>
                <a:gd name="T61" fmla="*/ 112 h 231"/>
                <a:gd name="T62" fmla="*/ 191 w 260"/>
                <a:gd name="T63" fmla="*/ 121 h 231"/>
                <a:gd name="T64" fmla="*/ 52 w 260"/>
                <a:gd name="T65" fmla="*/ 204 h 231"/>
                <a:gd name="T66" fmla="*/ 41 w 260"/>
                <a:gd name="T67" fmla="*/ 226 h 231"/>
                <a:gd name="T68" fmla="*/ 7 w 260"/>
                <a:gd name="T69" fmla="*/ 217 h 231"/>
                <a:gd name="T70" fmla="*/ 15 w 260"/>
                <a:gd name="T71" fmla="*/ 184 h 231"/>
                <a:gd name="T72" fmla="*/ 20 w 260"/>
                <a:gd name="T73" fmla="*/ 193 h 231"/>
                <a:gd name="T74" fmla="*/ 28 w 260"/>
                <a:gd name="T75" fmla="*/ 192 h 231"/>
                <a:gd name="T76" fmla="*/ 35 w 260"/>
                <a:gd name="T77" fmla="*/ 192 h 231"/>
                <a:gd name="T78" fmla="*/ 38 w 260"/>
                <a:gd name="T79" fmla="*/ 198 h 231"/>
                <a:gd name="T80" fmla="*/ 42 w 260"/>
                <a:gd name="T81" fmla="*/ 204 h 231"/>
                <a:gd name="T82" fmla="*/ 39 w 260"/>
                <a:gd name="T83" fmla="*/ 210 h 231"/>
                <a:gd name="T84" fmla="*/ 35 w 260"/>
                <a:gd name="T85" fmla="*/ 217 h 231"/>
                <a:gd name="T86" fmla="*/ 28 w 260"/>
                <a:gd name="T87" fmla="*/ 217 h 231"/>
                <a:gd name="T88" fmla="*/ 21 w 260"/>
                <a:gd name="T89" fmla="*/ 217 h 231"/>
                <a:gd name="T90" fmla="*/ 17 w 260"/>
                <a:gd name="T91" fmla="*/ 211 h 231"/>
                <a:gd name="T92" fmla="*/ 14 w 260"/>
                <a:gd name="T93" fmla="*/ 205 h 231"/>
                <a:gd name="T94" fmla="*/ 17 w 260"/>
                <a:gd name="T95" fmla="*/ 199 h 231"/>
                <a:gd name="T96" fmla="*/ 20 w 260"/>
                <a:gd name="T97" fmla="*/ 193 h 231"/>
                <a:gd name="T98" fmla="*/ 23 w 260"/>
                <a:gd name="T99" fmla="*/ 137 h 231"/>
                <a:gd name="T100" fmla="*/ 29 w 260"/>
                <a:gd name="T101" fmla="*/ 136 h 231"/>
                <a:gd name="T102" fmla="*/ 35 w 260"/>
                <a:gd name="T103" fmla="*/ 135 h 231"/>
                <a:gd name="T104" fmla="*/ 38 w 260"/>
                <a:gd name="T105" fmla="*/ 139 h 231"/>
                <a:gd name="T106" fmla="*/ 42 w 260"/>
                <a:gd name="T107" fmla="*/ 144 h 231"/>
                <a:gd name="T108" fmla="*/ 40 w 260"/>
                <a:gd name="T109" fmla="*/ 149 h 231"/>
                <a:gd name="T110" fmla="*/ 38 w 260"/>
                <a:gd name="T111" fmla="*/ 155 h 231"/>
                <a:gd name="T112" fmla="*/ 32 w 260"/>
                <a:gd name="T113" fmla="*/ 156 h 231"/>
                <a:gd name="T114" fmla="*/ 26 w 260"/>
                <a:gd name="T115" fmla="*/ 157 h 231"/>
                <a:gd name="T116" fmla="*/ 23 w 260"/>
                <a:gd name="T117" fmla="*/ 152 h 231"/>
                <a:gd name="T118" fmla="*/ 19 w 260"/>
                <a:gd name="T119" fmla="*/ 147 h 231"/>
                <a:gd name="T120" fmla="*/ 21 w 260"/>
                <a:gd name="T121" fmla="*/ 142 h 231"/>
                <a:gd name="T122" fmla="*/ 23 w 260"/>
                <a:gd name="T123" fmla="*/ 137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0" h="231">
                  <a:moveTo>
                    <a:pt x="18" y="130"/>
                  </a:moveTo>
                  <a:cubicBezTo>
                    <a:pt x="25" y="124"/>
                    <a:pt x="31" y="124"/>
                    <a:pt x="38" y="127"/>
                  </a:cubicBezTo>
                  <a:cubicBezTo>
                    <a:pt x="140" y="46"/>
                    <a:pt x="140" y="46"/>
                    <a:pt x="140" y="46"/>
                  </a:cubicBezTo>
                  <a:cubicBezTo>
                    <a:pt x="148" y="39"/>
                    <a:pt x="151" y="36"/>
                    <a:pt x="154" y="26"/>
                  </a:cubicBezTo>
                  <a:cubicBezTo>
                    <a:pt x="157" y="21"/>
                    <a:pt x="156" y="14"/>
                    <a:pt x="161" y="10"/>
                  </a:cubicBezTo>
                  <a:cubicBezTo>
                    <a:pt x="167" y="5"/>
                    <a:pt x="172" y="1"/>
                    <a:pt x="179" y="0"/>
                  </a:cubicBezTo>
                  <a:cubicBezTo>
                    <a:pt x="181" y="0"/>
                    <a:pt x="185" y="1"/>
                    <a:pt x="184" y="2"/>
                  </a:cubicBezTo>
                  <a:cubicBezTo>
                    <a:pt x="180" y="8"/>
                    <a:pt x="174" y="15"/>
                    <a:pt x="174" y="18"/>
                  </a:cubicBezTo>
                  <a:cubicBezTo>
                    <a:pt x="174" y="24"/>
                    <a:pt x="186" y="32"/>
                    <a:pt x="191" y="29"/>
                  </a:cubicBezTo>
                  <a:cubicBezTo>
                    <a:pt x="200" y="23"/>
                    <a:pt x="200" y="20"/>
                    <a:pt x="204" y="15"/>
                  </a:cubicBezTo>
                  <a:cubicBezTo>
                    <a:pt x="206" y="12"/>
                    <a:pt x="207" y="21"/>
                    <a:pt x="207" y="26"/>
                  </a:cubicBezTo>
                  <a:cubicBezTo>
                    <a:pt x="206" y="32"/>
                    <a:pt x="205" y="38"/>
                    <a:pt x="201" y="42"/>
                  </a:cubicBezTo>
                  <a:cubicBezTo>
                    <a:pt x="195" y="49"/>
                    <a:pt x="190" y="50"/>
                    <a:pt x="180" y="50"/>
                  </a:cubicBezTo>
                  <a:cubicBezTo>
                    <a:pt x="169" y="50"/>
                    <a:pt x="163" y="54"/>
                    <a:pt x="155" y="61"/>
                  </a:cubicBezTo>
                  <a:cubicBezTo>
                    <a:pt x="51" y="143"/>
                    <a:pt x="51" y="143"/>
                    <a:pt x="51" y="143"/>
                  </a:cubicBezTo>
                  <a:cubicBezTo>
                    <a:pt x="51" y="150"/>
                    <a:pt x="50" y="156"/>
                    <a:pt x="43" y="162"/>
                  </a:cubicBezTo>
                  <a:cubicBezTo>
                    <a:pt x="36" y="167"/>
                    <a:pt x="22" y="167"/>
                    <a:pt x="15" y="158"/>
                  </a:cubicBezTo>
                  <a:cubicBezTo>
                    <a:pt x="8" y="150"/>
                    <a:pt x="11" y="136"/>
                    <a:pt x="18" y="130"/>
                  </a:cubicBezTo>
                  <a:close/>
                  <a:moveTo>
                    <a:pt x="15" y="184"/>
                  </a:moveTo>
                  <a:cubicBezTo>
                    <a:pt x="25" y="178"/>
                    <a:pt x="32" y="179"/>
                    <a:pt x="39" y="183"/>
                  </a:cubicBezTo>
                  <a:cubicBezTo>
                    <a:pt x="175" y="101"/>
                    <a:pt x="175" y="101"/>
                    <a:pt x="175" y="101"/>
                  </a:cubicBezTo>
                  <a:cubicBezTo>
                    <a:pt x="185" y="94"/>
                    <a:pt x="189" y="91"/>
                    <a:pt x="196" y="80"/>
                  </a:cubicBezTo>
                  <a:cubicBezTo>
                    <a:pt x="199" y="74"/>
                    <a:pt x="200" y="65"/>
                    <a:pt x="206" y="61"/>
                  </a:cubicBezTo>
                  <a:cubicBezTo>
                    <a:pt x="213" y="55"/>
                    <a:pt x="220" y="52"/>
                    <a:pt x="229" y="52"/>
                  </a:cubicBezTo>
                  <a:cubicBezTo>
                    <a:pt x="232" y="52"/>
                    <a:pt x="237" y="54"/>
                    <a:pt x="235" y="55"/>
                  </a:cubicBezTo>
                  <a:cubicBezTo>
                    <a:pt x="229" y="62"/>
                    <a:pt x="221" y="68"/>
                    <a:pt x="221" y="73"/>
                  </a:cubicBezTo>
                  <a:cubicBezTo>
                    <a:pt x="219" y="80"/>
                    <a:pt x="233" y="91"/>
                    <a:pt x="239" y="88"/>
                  </a:cubicBezTo>
                  <a:cubicBezTo>
                    <a:pt x="251" y="82"/>
                    <a:pt x="251" y="79"/>
                    <a:pt x="257" y="73"/>
                  </a:cubicBezTo>
                  <a:cubicBezTo>
                    <a:pt x="260" y="70"/>
                    <a:pt x="260" y="81"/>
                    <a:pt x="259" y="87"/>
                  </a:cubicBezTo>
                  <a:cubicBezTo>
                    <a:pt x="257" y="94"/>
                    <a:pt x="254" y="102"/>
                    <a:pt x="250" y="105"/>
                  </a:cubicBezTo>
                  <a:cubicBezTo>
                    <a:pt x="240" y="113"/>
                    <a:pt x="234" y="114"/>
                    <a:pt x="223" y="112"/>
                  </a:cubicBezTo>
                  <a:cubicBezTo>
                    <a:pt x="210" y="110"/>
                    <a:pt x="202" y="115"/>
                    <a:pt x="191" y="121"/>
                  </a:cubicBezTo>
                  <a:cubicBezTo>
                    <a:pt x="52" y="204"/>
                    <a:pt x="52" y="204"/>
                    <a:pt x="52" y="204"/>
                  </a:cubicBezTo>
                  <a:cubicBezTo>
                    <a:pt x="53" y="213"/>
                    <a:pt x="50" y="220"/>
                    <a:pt x="41" y="226"/>
                  </a:cubicBezTo>
                  <a:cubicBezTo>
                    <a:pt x="31" y="231"/>
                    <a:pt x="14" y="229"/>
                    <a:pt x="7" y="217"/>
                  </a:cubicBezTo>
                  <a:cubicBezTo>
                    <a:pt x="0" y="206"/>
                    <a:pt x="5" y="190"/>
                    <a:pt x="15" y="184"/>
                  </a:cubicBezTo>
                  <a:close/>
                  <a:moveTo>
                    <a:pt x="20" y="193"/>
                  </a:moveTo>
                  <a:cubicBezTo>
                    <a:pt x="28" y="192"/>
                    <a:pt x="28" y="192"/>
                    <a:pt x="28" y="192"/>
                  </a:cubicBezTo>
                  <a:cubicBezTo>
                    <a:pt x="35" y="192"/>
                    <a:pt x="35" y="192"/>
                    <a:pt x="35" y="192"/>
                  </a:cubicBezTo>
                  <a:cubicBezTo>
                    <a:pt x="38" y="198"/>
                    <a:pt x="38" y="198"/>
                    <a:pt x="38" y="198"/>
                  </a:cubicBezTo>
                  <a:cubicBezTo>
                    <a:pt x="42" y="204"/>
                    <a:pt x="42" y="204"/>
                    <a:pt x="42" y="204"/>
                  </a:cubicBezTo>
                  <a:cubicBezTo>
                    <a:pt x="39" y="210"/>
                    <a:pt x="39" y="210"/>
                    <a:pt x="39" y="210"/>
                  </a:cubicBezTo>
                  <a:cubicBezTo>
                    <a:pt x="35" y="217"/>
                    <a:pt x="35" y="217"/>
                    <a:pt x="35" y="217"/>
                  </a:cubicBezTo>
                  <a:cubicBezTo>
                    <a:pt x="28" y="217"/>
                    <a:pt x="28" y="217"/>
                    <a:pt x="28" y="217"/>
                  </a:cubicBezTo>
                  <a:cubicBezTo>
                    <a:pt x="21" y="217"/>
                    <a:pt x="21" y="217"/>
                    <a:pt x="21" y="217"/>
                  </a:cubicBezTo>
                  <a:cubicBezTo>
                    <a:pt x="17" y="211"/>
                    <a:pt x="17" y="211"/>
                    <a:pt x="17" y="211"/>
                  </a:cubicBezTo>
                  <a:cubicBezTo>
                    <a:pt x="14" y="205"/>
                    <a:pt x="14" y="205"/>
                    <a:pt x="14" y="205"/>
                  </a:cubicBezTo>
                  <a:cubicBezTo>
                    <a:pt x="17" y="199"/>
                    <a:pt x="17" y="199"/>
                    <a:pt x="17" y="199"/>
                  </a:cubicBezTo>
                  <a:cubicBezTo>
                    <a:pt x="20" y="193"/>
                    <a:pt x="20" y="193"/>
                    <a:pt x="20" y="193"/>
                  </a:cubicBezTo>
                  <a:close/>
                  <a:moveTo>
                    <a:pt x="23" y="137"/>
                  </a:moveTo>
                  <a:cubicBezTo>
                    <a:pt x="29" y="136"/>
                    <a:pt x="29" y="136"/>
                    <a:pt x="29" y="136"/>
                  </a:cubicBezTo>
                  <a:cubicBezTo>
                    <a:pt x="35" y="135"/>
                    <a:pt x="35" y="135"/>
                    <a:pt x="35" y="135"/>
                  </a:cubicBezTo>
                  <a:cubicBezTo>
                    <a:pt x="38" y="139"/>
                    <a:pt x="38" y="139"/>
                    <a:pt x="38" y="139"/>
                  </a:cubicBezTo>
                  <a:cubicBezTo>
                    <a:pt x="42" y="144"/>
                    <a:pt x="42" y="144"/>
                    <a:pt x="42" y="144"/>
                  </a:cubicBezTo>
                  <a:cubicBezTo>
                    <a:pt x="40" y="149"/>
                    <a:pt x="40" y="149"/>
                    <a:pt x="40" y="149"/>
                  </a:cubicBezTo>
                  <a:cubicBezTo>
                    <a:pt x="38" y="155"/>
                    <a:pt x="38" y="155"/>
                    <a:pt x="38" y="155"/>
                  </a:cubicBezTo>
                  <a:cubicBezTo>
                    <a:pt x="32" y="156"/>
                    <a:pt x="32" y="156"/>
                    <a:pt x="32" y="156"/>
                  </a:cubicBezTo>
                  <a:cubicBezTo>
                    <a:pt x="26" y="157"/>
                    <a:pt x="26" y="157"/>
                    <a:pt x="26" y="157"/>
                  </a:cubicBezTo>
                  <a:cubicBezTo>
                    <a:pt x="23" y="152"/>
                    <a:pt x="23" y="152"/>
                    <a:pt x="23" y="152"/>
                  </a:cubicBezTo>
                  <a:cubicBezTo>
                    <a:pt x="19" y="147"/>
                    <a:pt x="19" y="147"/>
                    <a:pt x="19" y="147"/>
                  </a:cubicBezTo>
                  <a:cubicBezTo>
                    <a:pt x="21" y="142"/>
                    <a:pt x="21" y="142"/>
                    <a:pt x="21" y="142"/>
                  </a:cubicBezTo>
                  <a:cubicBezTo>
                    <a:pt x="23" y="137"/>
                    <a:pt x="23" y="137"/>
                    <a:pt x="23" y="13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90" name="组合 189"/>
          <p:cNvGrpSpPr>
            <a:grpSpLocks noChangeAspect="1"/>
          </p:cNvGrpSpPr>
          <p:nvPr/>
        </p:nvGrpSpPr>
        <p:grpSpPr>
          <a:xfrm>
            <a:off x="2823701" y="44575"/>
            <a:ext cx="825901" cy="825901"/>
            <a:chOff x="-2462213" y="695325"/>
            <a:chExt cx="1368425" cy="1368425"/>
          </a:xfrm>
        </p:grpSpPr>
        <p:sp>
          <p:nvSpPr>
            <p:cNvPr id="191" name="Freeform 7"/>
            <p:cNvSpPr/>
            <p:nvPr/>
          </p:nvSpPr>
          <p:spPr bwMode="auto">
            <a:xfrm flipH="1">
              <a:off x="-2462213" y="695325"/>
              <a:ext cx="1368425" cy="1368425"/>
            </a:xfrm>
            <a:custGeom>
              <a:avLst/>
              <a:gdLst>
                <a:gd name="T0" fmla="*/ 528 w 528"/>
                <a:gd name="T1" fmla="*/ 488 h 528"/>
                <a:gd name="T2" fmla="*/ 488 w 528"/>
                <a:gd name="T3" fmla="*/ 528 h 528"/>
                <a:gd name="T4" fmla="*/ 40 w 528"/>
                <a:gd name="T5" fmla="*/ 528 h 528"/>
                <a:gd name="T6" fmla="*/ 0 w 528"/>
                <a:gd name="T7" fmla="*/ 488 h 528"/>
                <a:gd name="T8" fmla="*/ 0 w 528"/>
                <a:gd name="T9" fmla="*/ 40 h 528"/>
                <a:gd name="T10" fmla="*/ 40 w 528"/>
                <a:gd name="T11" fmla="*/ 0 h 528"/>
                <a:gd name="T12" fmla="*/ 488 w 528"/>
                <a:gd name="T13" fmla="*/ 0 h 528"/>
                <a:gd name="T14" fmla="*/ 528 w 528"/>
                <a:gd name="T15" fmla="*/ 40 h 528"/>
                <a:gd name="T16" fmla="*/ 528 w 528"/>
                <a:gd name="T17" fmla="*/ 488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8" h="528">
                  <a:moveTo>
                    <a:pt x="528" y="488"/>
                  </a:moveTo>
                  <a:cubicBezTo>
                    <a:pt x="528" y="510"/>
                    <a:pt x="510" y="528"/>
                    <a:pt x="488" y="528"/>
                  </a:cubicBezTo>
                  <a:cubicBezTo>
                    <a:pt x="40" y="528"/>
                    <a:pt x="40" y="528"/>
                    <a:pt x="40" y="528"/>
                  </a:cubicBezTo>
                  <a:cubicBezTo>
                    <a:pt x="18" y="528"/>
                    <a:pt x="0" y="510"/>
                    <a:pt x="0" y="488"/>
                  </a:cubicBezTo>
                  <a:cubicBezTo>
                    <a:pt x="0" y="40"/>
                    <a:pt x="0" y="40"/>
                    <a:pt x="0" y="40"/>
                  </a:cubicBezTo>
                  <a:cubicBezTo>
                    <a:pt x="0" y="18"/>
                    <a:pt x="18" y="0"/>
                    <a:pt x="40" y="0"/>
                  </a:cubicBezTo>
                  <a:cubicBezTo>
                    <a:pt x="488" y="0"/>
                    <a:pt x="488" y="0"/>
                    <a:pt x="488" y="0"/>
                  </a:cubicBezTo>
                  <a:cubicBezTo>
                    <a:pt x="510" y="0"/>
                    <a:pt x="528" y="18"/>
                    <a:pt x="528" y="40"/>
                  </a:cubicBezTo>
                  <a:cubicBezTo>
                    <a:pt x="528" y="488"/>
                    <a:pt x="528" y="488"/>
                    <a:pt x="528" y="488"/>
                  </a:cubicBezTo>
                </a:path>
              </a:pathLst>
            </a:custGeom>
            <a:solidFill>
              <a:srgbClr val="3A73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192" name="Freeform 8"/>
            <p:cNvSpPr/>
            <p:nvPr/>
          </p:nvSpPr>
          <p:spPr bwMode="auto">
            <a:xfrm flipH="1">
              <a:off x="-2122487" y="1203324"/>
              <a:ext cx="1028699" cy="860426"/>
            </a:xfrm>
            <a:custGeom>
              <a:avLst/>
              <a:gdLst>
                <a:gd name="T0" fmla="*/ 189 w 397"/>
                <a:gd name="T1" fmla="*/ 0 h 332"/>
                <a:gd name="T2" fmla="*/ 0 w 397"/>
                <a:gd name="T3" fmla="*/ 189 h 332"/>
                <a:gd name="T4" fmla="*/ 0 w 397"/>
                <a:gd name="T5" fmla="*/ 292 h 332"/>
                <a:gd name="T6" fmla="*/ 40 w 397"/>
                <a:gd name="T7" fmla="*/ 332 h 332"/>
                <a:gd name="T8" fmla="*/ 215 w 397"/>
                <a:gd name="T9" fmla="*/ 332 h 332"/>
                <a:gd name="T10" fmla="*/ 397 w 397"/>
                <a:gd name="T11" fmla="*/ 151 h 332"/>
                <a:gd name="T12" fmla="*/ 189 w 397"/>
                <a:gd name="T13" fmla="*/ 0 h 332"/>
              </a:gdLst>
              <a:ahLst/>
              <a:cxnLst>
                <a:cxn ang="0">
                  <a:pos x="T0" y="T1"/>
                </a:cxn>
                <a:cxn ang="0">
                  <a:pos x="T2" y="T3"/>
                </a:cxn>
                <a:cxn ang="0">
                  <a:pos x="T4" y="T5"/>
                </a:cxn>
                <a:cxn ang="0">
                  <a:pos x="T6" y="T7"/>
                </a:cxn>
                <a:cxn ang="0">
                  <a:pos x="T8" y="T9"/>
                </a:cxn>
                <a:cxn ang="0">
                  <a:pos x="T10" y="T11"/>
                </a:cxn>
                <a:cxn ang="0">
                  <a:pos x="T12" y="T13"/>
                </a:cxn>
              </a:cxnLst>
              <a:rect l="0" t="0" r="r" b="b"/>
              <a:pathLst>
                <a:path w="397" h="332">
                  <a:moveTo>
                    <a:pt x="189" y="0"/>
                  </a:moveTo>
                  <a:cubicBezTo>
                    <a:pt x="0" y="189"/>
                    <a:pt x="0" y="189"/>
                    <a:pt x="0" y="189"/>
                  </a:cubicBezTo>
                  <a:cubicBezTo>
                    <a:pt x="0" y="292"/>
                    <a:pt x="0" y="292"/>
                    <a:pt x="0" y="292"/>
                  </a:cubicBezTo>
                  <a:cubicBezTo>
                    <a:pt x="0" y="314"/>
                    <a:pt x="18" y="332"/>
                    <a:pt x="40" y="332"/>
                  </a:cubicBezTo>
                  <a:cubicBezTo>
                    <a:pt x="215" y="332"/>
                    <a:pt x="215" y="332"/>
                    <a:pt x="215" y="332"/>
                  </a:cubicBezTo>
                  <a:cubicBezTo>
                    <a:pt x="397" y="151"/>
                    <a:pt x="397" y="151"/>
                    <a:pt x="397" y="151"/>
                  </a:cubicBezTo>
                  <a:cubicBezTo>
                    <a:pt x="189" y="0"/>
                    <a:pt x="189" y="0"/>
                    <a:pt x="189" y="0"/>
                  </a:cubicBezTo>
                </a:path>
              </a:pathLst>
            </a:custGeom>
            <a:solidFill>
              <a:srgbClr val="2E5C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sp>
          <p:nvSpPr>
            <p:cNvPr id="193" name="Freeform 9"/>
            <p:cNvSpPr/>
            <p:nvPr/>
          </p:nvSpPr>
          <p:spPr bwMode="auto">
            <a:xfrm flipH="1">
              <a:off x="-2171701" y="1130300"/>
              <a:ext cx="828675" cy="519113"/>
            </a:xfrm>
            <a:custGeom>
              <a:avLst/>
              <a:gdLst>
                <a:gd name="T0" fmla="*/ 262 w 320"/>
                <a:gd name="T1" fmla="*/ 70 h 200"/>
                <a:gd name="T2" fmla="*/ 163 w 320"/>
                <a:gd name="T3" fmla="*/ 0 h 200"/>
                <a:gd name="T4" fmla="*/ 63 w 320"/>
                <a:gd name="T5" fmla="*/ 94 h 200"/>
                <a:gd name="T6" fmla="*/ 54 w 320"/>
                <a:gd name="T7" fmla="*/ 93 h 200"/>
                <a:gd name="T8" fmla="*/ 0 w 320"/>
                <a:gd name="T9" fmla="*/ 146 h 200"/>
                <a:gd name="T10" fmla="*/ 43 w 320"/>
                <a:gd name="T11" fmla="*/ 200 h 200"/>
                <a:gd name="T12" fmla="*/ 251 w 320"/>
                <a:gd name="T13" fmla="*/ 200 h 200"/>
                <a:gd name="T14" fmla="*/ 320 w 320"/>
                <a:gd name="T15" fmla="*/ 134 h 200"/>
                <a:gd name="T16" fmla="*/ 262 w 320"/>
                <a:gd name="T17" fmla="*/ 7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200">
                  <a:moveTo>
                    <a:pt x="262" y="70"/>
                  </a:moveTo>
                  <a:cubicBezTo>
                    <a:pt x="249" y="29"/>
                    <a:pt x="209" y="0"/>
                    <a:pt x="163" y="0"/>
                  </a:cubicBezTo>
                  <a:cubicBezTo>
                    <a:pt x="108" y="0"/>
                    <a:pt x="66" y="41"/>
                    <a:pt x="63" y="94"/>
                  </a:cubicBezTo>
                  <a:cubicBezTo>
                    <a:pt x="60" y="94"/>
                    <a:pt x="57" y="93"/>
                    <a:pt x="54" y="93"/>
                  </a:cubicBezTo>
                  <a:cubicBezTo>
                    <a:pt x="24" y="93"/>
                    <a:pt x="0" y="117"/>
                    <a:pt x="0" y="146"/>
                  </a:cubicBezTo>
                  <a:cubicBezTo>
                    <a:pt x="0" y="171"/>
                    <a:pt x="19" y="195"/>
                    <a:pt x="43" y="200"/>
                  </a:cubicBezTo>
                  <a:cubicBezTo>
                    <a:pt x="251" y="200"/>
                    <a:pt x="251" y="200"/>
                    <a:pt x="251" y="200"/>
                  </a:cubicBezTo>
                  <a:cubicBezTo>
                    <a:pt x="287" y="200"/>
                    <a:pt x="320" y="170"/>
                    <a:pt x="320" y="134"/>
                  </a:cubicBezTo>
                  <a:cubicBezTo>
                    <a:pt x="320" y="101"/>
                    <a:pt x="295" y="74"/>
                    <a:pt x="262" y="7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endParaRPr>
            </a:p>
          </p:txBody>
        </p:sp>
      </p:grpSp>
      <p:grpSp>
        <p:nvGrpSpPr>
          <p:cNvPr id="204" name="组合 203"/>
          <p:cNvGrpSpPr/>
          <p:nvPr/>
        </p:nvGrpSpPr>
        <p:grpSpPr>
          <a:xfrm>
            <a:off x="184672" y="44575"/>
            <a:ext cx="882651" cy="865721"/>
            <a:chOff x="8380413" y="0"/>
            <a:chExt cx="1355725" cy="1354138"/>
          </a:xfrm>
        </p:grpSpPr>
        <p:sp>
          <p:nvSpPr>
            <p:cNvPr id="205" name="Oval 15"/>
            <p:cNvSpPr>
              <a:spLocks noChangeArrowheads="1"/>
            </p:cNvSpPr>
            <p:nvPr/>
          </p:nvSpPr>
          <p:spPr bwMode="auto">
            <a:xfrm>
              <a:off x="8380413" y="0"/>
              <a:ext cx="1355725" cy="1354138"/>
            </a:xfrm>
            <a:prstGeom prst="ellipse">
              <a:avLst/>
            </a:prstGeom>
            <a:solidFill>
              <a:srgbClr val="3A73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6" name="Freeform 16"/>
            <p:cNvSpPr/>
            <p:nvPr/>
          </p:nvSpPr>
          <p:spPr bwMode="auto">
            <a:xfrm>
              <a:off x="8759826" y="325438"/>
              <a:ext cx="971550" cy="1023938"/>
            </a:xfrm>
            <a:custGeom>
              <a:avLst/>
              <a:gdLst>
                <a:gd name="T0" fmla="*/ 54 w 454"/>
                <a:gd name="T1" fmla="*/ 0 h 478"/>
                <a:gd name="T2" fmla="*/ 3 w 454"/>
                <a:gd name="T3" fmla="*/ 20 h 478"/>
                <a:gd name="T4" fmla="*/ 2 w 454"/>
                <a:gd name="T5" fmla="*/ 46 h 478"/>
                <a:gd name="T6" fmla="*/ 2 w 454"/>
                <a:gd name="T7" fmla="*/ 282 h 478"/>
                <a:gd name="T8" fmla="*/ 19 w 454"/>
                <a:gd name="T9" fmla="*/ 321 h 478"/>
                <a:gd name="T10" fmla="*/ 174 w 454"/>
                <a:gd name="T11" fmla="*/ 478 h 478"/>
                <a:gd name="T12" fmla="*/ 454 w 454"/>
                <a:gd name="T13" fmla="*/ 198 h 478"/>
                <a:gd name="T14" fmla="*/ 307 w 454"/>
                <a:gd name="T15" fmla="*/ 54 h 478"/>
                <a:gd name="T16" fmla="*/ 276 w 454"/>
                <a:gd name="T17" fmla="*/ 23 h 478"/>
                <a:gd name="T18" fmla="*/ 271 w 454"/>
                <a:gd name="T19" fmla="*/ 21 h 478"/>
                <a:gd name="T20" fmla="*/ 236 w 454"/>
                <a:gd name="T21" fmla="*/ 30 h 478"/>
                <a:gd name="T22" fmla="*/ 219 w 454"/>
                <a:gd name="T23" fmla="*/ 31 h 478"/>
                <a:gd name="T24" fmla="*/ 190 w 454"/>
                <a:gd name="T25" fmla="*/ 29 h 478"/>
                <a:gd name="T26" fmla="*/ 89 w 454"/>
                <a:gd name="T27" fmla="*/ 3 h 478"/>
                <a:gd name="T28" fmla="*/ 54 w 454"/>
                <a:gd name="T29"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78">
                  <a:moveTo>
                    <a:pt x="54" y="0"/>
                  </a:moveTo>
                  <a:cubicBezTo>
                    <a:pt x="33" y="0"/>
                    <a:pt x="10" y="5"/>
                    <a:pt x="3" y="20"/>
                  </a:cubicBezTo>
                  <a:cubicBezTo>
                    <a:pt x="0" y="28"/>
                    <a:pt x="2" y="38"/>
                    <a:pt x="2" y="46"/>
                  </a:cubicBezTo>
                  <a:cubicBezTo>
                    <a:pt x="2" y="125"/>
                    <a:pt x="2" y="203"/>
                    <a:pt x="2" y="282"/>
                  </a:cubicBezTo>
                  <a:cubicBezTo>
                    <a:pt x="2" y="299"/>
                    <a:pt x="3" y="311"/>
                    <a:pt x="19" y="321"/>
                  </a:cubicBezTo>
                  <a:cubicBezTo>
                    <a:pt x="23" y="328"/>
                    <a:pt x="111" y="416"/>
                    <a:pt x="174" y="478"/>
                  </a:cubicBezTo>
                  <a:cubicBezTo>
                    <a:pt x="321" y="462"/>
                    <a:pt x="438" y="345"/>
                    <a:pt x="454" y="198"/>
                  </a:cubicBezTo>
                  <a:cubicBezTo>
                    <a:pt x="393" y="136"/>
                    <a:pt x="313" y="58"/>
                    <a:pt x="307" y="54"/>
                  </a:cubicBezTo>
                  <a:cubicBezTo>
                    <a:pt x="300" y="44"/>
                    <a:pt x="286" y="29"/>
                    <a:pt x="276" y="23"/>
                  </a:cubicBezTo>
                  <a:cubicBezTo>
                    <a:pt x="275" y="21"/>
                    <a:pt x="274" y="21"/>
                    <a:pt x="271" y="21"/>
                  </a:cubicBezTo>
                  <a:cubicBezTo>
                    <a:pt x="261" y="21"/>
                    <a:pt x="242" y="30"/>
                    <a:pt x="236" y="30"/>
                  </a:cubicBezTo>
                  <a:cubicBezTo>
                    <a:pt x="230" y="31"/>
                    <a:pt x="225" y="31"/>
                    <a:pt x="219" y="31"/>
                  </a:cubicBezTo>
                  <a:cubicBezTo>
                    <a:pt x="209" y="31"/>
                    <a:pt x="199" y="30"/>
                    <a:pt x="190" y="29"/>
                  </a:cubicBezTo>
                  <a:cubicBezTo>
                    <a:pt x="156" y="23"/>
                    <a:pt x="123" y="9"/>
                    <a:pt x="89" y="3"/>
                  </a:cubicBezTo>
                  <a:cubicBezTo>
                    <a:pt x="81" y="2"/>
                    <a:pt x="68" y="0"/>
                    <a:pt x="54" y="0"/>
                  </a:cubicBezTo>
                </a:path>
              </a:pathLst>
            </a:custGeom>
            <a:solidFill>
              <a:srgbClr val="3A73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7" name="Freeform 17"/>
            <p:cNvSpPr/>
            <p:nvPr/>
          </p:nvSpPr>
          <p:spPr bwMode="auto">
            <a:xfrm>
              <a:off x="8890001" y="528638"/>
              <a:ext cx="336550" cy="176213"/>
            </a:xfrm>
            <a:custGeom>
              <a:avLst/>
              <a:gdLst>
                <a:gd name="T0" fmla="*/ 8 w 157"/>
                <a:gd name="T1" fmla="*/ 52 h 82"/>
                <a:gd name="T2" fmla="*/ 78 w 157"/>
                <a:gd name="T3" fmla="*/ 18 h 82"/>
                <a:gd name="T4" fmla="*/ 148 w 157"/>
                <a:gd name="T5" fmla="*/ 82 h 82"/>
                <a:gd name="T6" fmla="*/ 157 w 157"/>
                <a:gd name="T7" fmla="*/ 70 h 82"/>
                <a:gd name="T8" fmla="*/ 79 w 157"/>
                <a:gd name="T9" fmla="*/ 0 h 82"/>
                <a:gd name="T10" fmla="*/ 78 w 157"/>
                <a:gd name="T11" fmla="*/ 0 h 82"/>
                <a:gd name="T12" fmla="*/ 78 w 157"/>
                <a:gd name="T13" fmla="*/ 0 h 82"/>
                <a:gd name="T14" fmla="*/ 78 w 157"/>
                <a:gd name="T15" fmla="*/ 0 h 82"/>
                <a:gd name="T16" fmla="*/ 78 w 157"/>
                <a:gd name="T17" fmla="*/ 0 h 82"/>
                <a:gd name="T18" fmla="*/ 0 w 157"/>
                <a:gd name="T19" fmla="*/ 39 h 82"/>
                <a:gd name="T20" fmla="*/ 8 w 157"/>
                <a:gd name="T21" fmla="*/ 5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82">
                  <a:moveTo>
                    <a:pt x="8" y="52"/>
                  </a:moveTo>
                  <a:cubicBezTo>
                    <a:pt x="32" y="37"/>
                    <a:pt x="55" y="28"/>
                    <a:pt x="78" y="18"/>
                  </a:cubicBezTo>
                  <a:cubicBezTo>
                    <a:pt x="102" y="41"/>
                    <a:pt x="125" y="64"/>
                    <a:pt x="148" y="82"/>
                  </a:cubicBezTo>
                  <a:cubicBezTo>
                    <a:pt x="151" y="78"/>
                    <a:pt x="154" y="74"/>
                    <a:pt x="157" y="70"/>
                  </a:cubicBezTo>
                  <a:cubicBezTo>
                    <a:pt x="131" y="51"/>
                    <a:pt x="105" y="26"/>
                    <a:pt x="79" y="0"/>
                  </a:cubicBezTo>
                  <a:cubicBezTo>
                    <a:pt x="78" y="0"/>
                    <a:pt x="78" y="0"/>
                    <a:pt x="78" y="0"/>
                  </a:cubicBezTo>
                  <a:cubicBezTo>
                    <a:pt x="78" y="0"/>
                    <a:pt x="78" y="0"/>
                    <a:pt x="78" y="0"/>
                  </a:cubicBezTo>
                  <a:cubicBezTo>
                    <a:pt x="78" y="0"/>
                    <a:pt x="78" y="0"/>
                    <a:pt x="78" y="0"/>
                  </a:cubicBezTo>
                  <a:cubicBezTo>
                    <a:pt x="78" y="0"/>
                    <a:pt x="78" y="0"/>
                    <a:pt x="78" y="0"/>
                  </a:cubicBezTo>
                  <a:cubicBezTo>
                    <a:pt x="52" y="10"/>
                    <a:pt x="26" y="21"/>
                    <a:pt x="0" y="39"/>
                  </a:cubicBezTo>
                  <a:cubicBezTo>
                    <a:pt x="3" y="43"/>
                    <a:pt x="6" y="47"/>
                    <a:pt x="8" y="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8" name="Freeform 18"/>
            <p:cNvSpPr>
              <a:spLocks noEditPoints="1"/>
            </p:cNvSpPr>
            <p:nvPr/>
          </p:nvSpPr>
          <p:spPr bwMode="auto">
            <a:xfrm>
              <a:off x="8945563" y="582613"/>
              <a:ext cx="223838" cy="271463"/>
            </a:xfrm>
            <a:custGeom>
              <a:avLst/>
              <a:gdLst>
                <a:gd name="T0" fmla="*/ 99 w 104"/>
                <a:gd name="T1" fmla="*/ 126 h 127"/>
                <a:gd name="T2" fmla="*/ 104 w 104"/>
                <a:gd name="T3" fmla="*/ 120 h 127"/>
                <a:gd name="T4" fmla="*/ 104 w 104"/>
                <a:gd name="T5" fmla="*/ 48 h 127"/>
                <a:gd name="T6" fmla="*/ 53 w 104"/>
                <a:gd name="T7" fmla="*/ 0 h 127"/>
                <a:gd name="T8" fmla="*/ 52 w 104"/>
                <a:gd name="T9" fmla="*/ 0 h 127"/>
                <a:gd name="T10" fmla="*/ 0 w 104"/>
                <a:gd name="T11" fmla="*/ 23 h 127"/>
                <a:gd name="T12" fmla="*/ 0 w 104"/>
                <a:gd name="T13" fmla="*/ 94 h 127"/>
                <a:gd name="T14" fmla="*/ 5 w 104"/>
                <a:gd name="T15" fmla="*/ 102 h 127"/>
                <a:gd name="T16" fmla="*/ 37 w 104"/>
                <a:gd name="T17" fmla="*/ 110 h 127"/>
                <a:gd name="T18" fmla="*/ 37 w 104"/>
                <a:gd name="T19" fmla="*/ 78 h 127"/>
                <a:gd name="T20" fmla="*/ 52 w 104"/>
                <a:gd name="T21" fmla="*/ 67 h 127"/>
                <a:gd name="T22" fmla="*/ 66 w 104"/>
                <a:gd name="T23" fmla="*/ 87 h 127"/>
                <a:gd name="T24" fmla="*/ 66 w 104"/>
                <a:gd name="T25" fmla="*/ 118 h 127"/>
                <a:gd name="T26" fmla="*/ 99 w 104"/>
                <a:gd name="T27" fmla="*/ 126 h 127"/>
                <a:gd name="T28" fmla="*/ 52 w 104"/>
                <a:gd name="T29" fmla="*/ 55 h 127"/>
                <a:gd name="T30" fmla="*/ 32 w 104"/>
                <a:gd name="T31" fmla="*/ 57 h 127"/>
                <a:gd name="T32" fmla="*/ 24 w 104"/>
                <a:gd name="T33" fmla="*/ 75 h 127"/>
                <a:gd name="T34" fmla="*/ 24 w 104"/>
                <a:gd name="T35" fmla="*/ 93 h 127"/>
                <a:gd name="T36" fmla="*/ 13 w 104"/>
                <a:gd name="T37" fmla="*/ 91 h 127"/>
                <a:gd name="T38" fmla="*/ 13 w 104"/>
                <a:gd name="T39" fmla="*/ 32 h 127"/>
                <a:gd name="T40" fmla="*/ 52 w 104"/>
                <a:gd name="T41" fmla="*/ 15 h 127"/>
                <a:gd name="T42" fmla="*/ 91 w 104"/>
                <a:gd name="T43" fmla="*/ 53 h 127"/>
                <a:gd name="T44" fmla="*/ 91 w 104"/>
                <a:gd name="T45" fmla="*/ 111 h 127"/>
                <a:gd name="T46" fmla="*/ 79 w 104"/>
                <a:gd name="T47" fmla="*/ 109 h 127"/>
                <a:gd name="T48" fmla="*/ 79 w 104"/>
                <a:gd name="T49" fmla="*/ 90 h 127"/>
                <a:gd name="T50" fmla="*/ 71 w 104"/>
                <a:gd name="T51" fmla="*/ 68 h 127"/>
                <a:gd name="T52" fmla="*/ 52 w 104"/>
                <a:gd name="T53" fmla="*/ 55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4" h="127">
                  <a:moveTo>
                    <a:pt x="99" y="126"/>
                  </a:moveTo>
                  <a:cubicBezTo>
                    <a:pt x="102" y="127"/>
                    <a:pt x="104" y="123"/>
                    <a:pt x="104" y="120"/>
                  </a:cubicBezTo>
                  <a:cubicBezTo>
                    <a:pt x="104" y="96"/>
                    <a:pt x="104" y="72"/>
                    <a:pt x="104" y="48"/>
                  </a:cubicBezTo>
                  <a:cubicBezTo>
                    <a:pt x="87" y="34"/>
                    <a:pt x="70" y="17"/>
                    <a:pt x="53" y="0"/>
                  </a:cubicBezTo>
                  <a:cubicBezTo>
                    <a:pt x="52" y="0"/>
                    <a:pt x="52" y="0"/>
                    <a:pt x="52" y="0"/>
                  </a:cubicBezTo>
                  <a:cubicBezTo>
                    <a:pt x="35" y="7"/>
                    <a:pt x="17" y="14"/>
                    <a:pt x="0" y="23"/>
                  </a:cubicBezTo>
                  <a:cubicBezTo>
                    <a:pt x="0" y="46"/>
                    <a:pt x="0" y="70"/>
                    <a:pt x="0" y="94"/>
                  </a:cubicBezTo>
                  <a:cubicBezTo>
                    <a:pt x="0" y="98"/>
                    <a:pt x="3" y="101"/>
                    <a:pt x="5" y="102"/>
                  </a:cubicBezTo>
                  <a:cubicBezTo>
                    <a:pt x="16" y="104"/>
                    <a:pt x="26" y="107"/>
                    <a:pt x="37" y="110"/>
                  </a:cubicBezTo>
                  <a:cubicBezTo>
                    <a:pt x="37" y="99"/>
                    <a:pt x="37" y="89"/>
                    <a:pt x="37" y="78"/>
                  </a:cubicBezTo>
                  <a:cubicBezTo>
                    <a:pt x="37" y="70"/>
                    <a:pt x="43" y="65"/>
                    <a:pt x="52" y="67"/>
                  </a:cubicBezTo>
                  <a:cubicBezTo>
                    <a:pt x="60" y="70"/>
                    <a:pt x="66" y="78"/>
                    <a:pt x="66" y="87"/>
                  </a:cubicBezTo>
                  <a:cubicBezTo>
                    <a:pt x="66" y="97"/>
                    <a:pt x="66" y="108"/>
                    <a:pt x="66" y="118"/>
                  </a:cubicBezTo>
                  <a:cubicBezTo>
                    <a:pt x="77" y="121"/>
                    <a:pt x="88" y="124"/>
                    <a:pt x="99" y="126"/>
                  </a:cubicBezTo>
                  <a:close/>
                  <a:moveTo>
                    <a:pt x="52" y="55"/>
                  </a:moveTo>
                  <a:cubicBezTo>
                    <a:pt x="44" y="52"/>
                    <a:pt x="37" y="53"/>
                    <a:pt x="32" y="57"/>
                  </a:cubicBezTo>
                  <a:cubicBezTo>
                    <a:pt x="27" y="61"/>
                    <a:pt x="24" y="67"/>
                    <a:pt x="24" y="75"/>
                  </a:cubicBezTo>
                  <a:cubicBezTo>
                    <a:pt x="24" y="81"/>
                    <a:pt x="24" y="87"/>
                    <a:pt x="24" y="93"/>
                  </a:cubicBezTo>
                  <a:cubicBezTo>
                    <a:pt x="20" y="92"/>
                    <a:pt x="16" y="91"/>
                    <a:pt x="13" y="91"/>
                  </a:cubicBezTo>
                  <a:cubicBezTo>
                    <a:pt x="13" y="71"/>
                    <a:pt x="13" y="51"/>
                    <a:pt x="13" y="32"/>
                  </a:cubicBezTo>
                  <a:cubicBezTo>
                    <a:pt x="26" y="26"/>
                    <a:pt x="39" y="20"/>
                    <a:pt x="52" y="15"/>
                  </a:cubicBezTo>
                  <a:cubicBezTo>
                    <a:pt x="65" y="28"/>
                    <a:pt x="78" y="41"/>
                    <a:pt x="91" y="53"/>
                  </a:cubicBezTo>
                  <a:cubicBezTo>
                    <a:pt x="91" y="72"/>
                    <a:pt x="91" y="92"/>
                    <a:pt x="91" y="111"/>
                  </a:cubicBezTo>
                  <a:cubicBezTo>
                    <a:pt x="87" y="110"/>
                    <a:pt x="83" y="110"/>
                    <a:pt x="79" y="109"/>
                  </a:cubicBezTo>
                  <a:cubicBezTo>
                    <a:pt x="79" y="102"/>
                    <a:pt x="79" y="96"/>
                    <a:pt x="79" y="90"/>
                  </a:cubicBezTo>
                  <a:cubicBezTo>
                    <a:pt x="79" y="83"/>
                    <a:pt x="77" y="75"/>
                    <a:pt x="71" y="68"/>
                  </a:cubicBezTo>
                  <a:cubicBezTo>
                    <a:pt x="66" y="62"/>
                    <a:pt x="59" y="57"/>
                    <a:pt x="52"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Freeform 19"/>
            <p:cNvSpPr>
              <a:spLocks noEditPoints="1"/>
            </p:cNvSpPr>
            <p:nvPr/>
          </p:nvSpPr>
          <p:spPr bwMode="auto">
            <a:xfrm>
              <a:off x="8764588" y="265113"/>
              <a:ext cx="588963" cy="823913"/>
            </a:xfrm>
            <a:custGeom>
              <a:avLst/>
              <a:gdLst>
                <a:gd name="T0" fmla="*/ 265 w 275"/>
                <a:gd name="T1" fmla="*/ 49 h 384"/>
                <a:gd name="T2" fmla="*/ 10 w 275"/>
                <a:gd name="T3" fmla="*/ 39 h 384"/>
                <a:gd name="T4" fmla="*/ 0 w 275"/>
                <a:gd name="T5" fmla="*/ 54 h 384"/>
                <a:gd name="T6" fmla="*/ 0 w 275"/>
                <a:gd name="T7" fmla="*/ 329 h 384"/>
                <a:gd name="T8" fmla="*/ 10 w 275"/>
                <a:gd name="T9" fmla="*/ 334 h 384"/>
                <a:gd name="T10" fmla="*/ 265 w 275"/>
                <a:gd name="T11" fmla="*/ 345 h 384"/>
                <a:gd name="T12" fmla="*/ 275 w 275"/>
                <a:gd name="T13" fmla="*/ 329 h 384"/>
                <a:gd name="T14" fmla="*/ 275 w 275"/>
                <a:gd name="T15" fmla="*/ 54 h 384"/>
                <a:gd name="T16" fmla="*/ 265 w 275"/>
                <a:gd name="T17" fmla="*/ 49 h 384"/>
                <a:gd name="T18" fmla="*/ 254 w 275"/>
                <a:gd name="T19" fmla="*/ 328 h 384"/>
                <a:gd name="T20" fmla="*/ 20 w 275"/>
                <a:gd name="T21" fmla="*/ 310 h 384"/>
                <a:gd name="T22" fmla="*/ 20 w 275"/>
                <a:gd name="T23" fmla="*/ 55 h 384"/>
                <a:gd name="T24" fmla="*/ 254 w 275"/>
                <a:gd name="T25" fmla="*/ 74 h 384"/>
                <a:gd name="T26" fmla="*/ 254 w 275"/>
                <a:gd name="T27" fmla="*/ 328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5" h="384">
                  <a:moveTo>
                    <a:pt x="265" y="49"/>
                  </a:moveTo>
                  <a:cubicBezTo>
                    <a:pt x="180" y="88"/>
                    <a:pt x="95" y="0"/>
                    <a:pt x="10" y="39"/>
                  </a:cubicBezTo>
                  <a:cubicBezTo>
                    <a:pt x="4" y="41"/>
                    <a:pt x="0" y="49"/>
                    <a:pt x="0" y="54"/>
                  </a:cubicBezTo>
                  <a:cubicBezTo>
                    <a:pt x="0" y="146"/>
                    <a:pt x="0" y="238"/>
                    <a:pt x="0" y="329"/>
                  </a:cubicBezTo>
                  <a:cubicBezTo>
                    <a:pt x="0" y="335"/>
                    <a:pt x="4" y="337"/>
                    <a:pt x="10" y="334"/>
                  </a:cubicBezTo>
                  <a:cubicBezTo>
                    <a:pt x="95" y="296"/>
                    <a:pt x="180" y="384"/>
                    <a:pt x="265" y="345"/>
                  </a:cubicBezTo>
                  <a:cubicBezTo>
                    <a:pt x="271" y="342"/>
                    <a:pt x="275" y="335"/>
                    <a:pt x="275" y="329"/>
                  </a:cubicBezTo>
                  <a:cubicBezTo>
                    <a:pt x="275" y="238"/>
                    <a:pt x="275" y="146"/>
                    <a:pt x="275" y="54"/>
                  </a:cubicBezTo>
                  <a:cubicBezTo>
                    <a:pt x="275" y="49"/>
                    <a:pt x="271" y="47"/>
                    <a:pt x="265" y="49"/>
                  </a:cubicBezTo>
                  <a:close/>
                  <a:moveTo>
                    <a:pt x="254" y="328"/>
                  </a:moveTo>
                  <a:cubicBezTo>
                    <a:pt x="176" y="355"/>
                    <a:pt x="98" y="283"/>
                    <a:pt x="20" y="310"/>
                  </a:cubicBezTo>
                  <a:cubicBezTo>
                    <a:pt x="20" y="225"/>
                    <a:pt x="20" y="140"/>
                    <a:pt x="20" y="55"/>
                  </a:cubicBezTo>
                  <a:cubicBezTo>
                    <a:pt x="98" y="29"/>
                    <a:pt x="176" y="101"/>
                    <a:pt x="254" y="74"/>
                  </a:cubicBezTo>
                  <a:cubicBezTo>
                    <a:pt x="254" y="159"/>
                    <a:pt x="254" y="244"/>
                    <a:pt x="254" y="32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0" name="Freeform 20"/>
            <p:cNvSpPr/>
            <p:nvPr/>
          </p:nvSpPr>
          <p:spPr bwMode="auto">
            <a:xfrm>
              <a:off x="8848726" y="411163"/>
              <a:ext cx="144463" cy="136525"/>
            </a:xfrm>
            <a:custGeom>
              <a:avLst/>
              <a:gdLst>
                <a:gd name="T0" fmla="*/ 2 w 67"/>
                <a:gd name="T1" fmla="*/ 25 h 64"/>
                <a:gd name="T2" fmla="*/ 31 w 67"/>
                <a:gd name="T3" fmla="*/ 24 h 64"/>
                <a:gd name="T4" fmla="*/ 31 w 67"/>
                <a:gd name="T5" fmla="*/ 40 h 64"/>
                <a:gd name="T6" fmla="*/ 32 w 67"/>
                <a:gd name="T7" fmla="*/ 42 h 64"/>
                <a:gd name="T8" fmla="*/ 53 w 67"/>
                <a:gd name="T9" fmla="*/ 63 h 64"/>
                <a:gd name="T10" fmla="*/ 54 w 67"/>
                <a:gd name="T11" fmla="*/ 64 h 64"/>
                <a:gd name="T12" fmla="*/ 56 w 67"/>
                <a:gd name="T13" fmla="*/ 63 h 64"/>
                <a:gd name="T14" fmla="*/ 56 w 67"/>
                <a:gd name="T15" fmla="*/ 59 h 64"/>
                <a:gd name="T16" fmla="*/ 36 w 67"/>
                <a:gd name="T17" fmla="*/ 39 h 64"/>
                <a:gd name="T18" fmla="*/ 36 w 67"/>
                <a:gd name="T19" fmla="*/ 25 h 64"/>
                <a:gd name="T20" fmla="*/ 65 w 67"/>
                <a:gd name="T21" fmla="*/ 30 h 64"/>
                <a:gd name="T22" fmla="*/ 67 w 67"/>
                <a:gd name="T23" fmla="*/ 29 h 64"/>
                <a:gd name="T24" fmla="*/ 67 w 67"/>
                <a:gd name="T25" fmla="*/ 11 h 64"/>
                <a:gd name="T26" fmla="*/ 65 w 67"/>
                <a:gd name="T27" fmla="*/ 9 h 64"/>
                <a:gd name="T28" fmla="*/ 2 w 67"/>
                <a:gd name="T29" fmla="*/ 3 h 64"/>
                <a:gd name="T30" fmla="*/ 0 w 67"/>
                <a:gd name="T31" fmla="*/ 5 h 64"/>
                <a:gd name="T32" fmla="*/ 0 w 67"/>
                <a:gd name="T33" fmla="*/ 24 h 64"/>
                <a:gd name="T34" fmla="*/ 2 w 67"/>
                <a:gd name="T35" fmla="*/ 2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64">
                  <a:moveTo>
                    <a:pt x="2" y="25"/>
                  </a:moveTo>
                  <a:cubicBezTo>
                    <a:pt x="11" y="24"/>
                    <a:pt x="21" y="24"/>
                    <a:pt x="31" y="24"/>
                  </a:cubicBezTo>
                  <a:cubicBezTo>
                    <a:pt x="31" y="30"/>
                    <a:pt x="31" y="35"/>
                    <a:pt x="31" y="40"/>
                  </a:cubicBezTo>
                  <a:cubicBezTo>
                    <a:pt x="31" y="41"/>
                    <a:pt x="31" y="42"/>
                    <a:pt x="32" y="42"/>
                  </a:cubicBezTo>
                  <a:cubicBezTo>
                    <a:pt x="39" y="49"/>
                    <a:pt x="46" y="56"/>
                    <a:pt x="53" y="63"/>
                  </a:cubicBezTo>
                  <a:cubicBezTo>
                    <a:pt x="53" y="63"/>
                    <a:pt x="54" y="64"/>
                    <a:pt x="54" y="64"/>
                  </a:cubicBezTo>
                  <a:cubicBezTo>
                    <a:pt x="55" y="64"/>
                    <a:pt x="56" y="64"/>
                    <a:pt x="56" y="63"/>
                  </a:cubicBezTo>
                  <a:cubicBezTo>
                    <a:pt x="57" y="62"/>
                    <a:pt x="57" y="61"/>
                    <a:pt x="56" y="59"/>
                  </a:cubicBezTo>
                  <a:cubicBezTo>
                    <a:pt x="49" y="52"/>
                    <a:pt x="43" y="46"/>
                    <a:pt x="36" y="39"/>
                  </a:cubicBezTo>
                  <a:cubicBezTo>
                    <a:pt x="36" y="35"/>
                    <a:pt x="36" y="30"/>
                    <a:pt x="36" y="25"/>
                  </a:cubicBezTo>
                  <a:cubicBezTo>
                    <a:pt x="46" y="26"/>
                    <a:pt x="56" y="28"/>
                    <a:pt x="65" y="30"/>
                  </a:cubicBezTo>
                  <a:cubicBezTo>
                    <a:pt x="66" y="31"/>
                    <a:pt x="67" y="30"/>
                    <a:pt x="67" y="29"/>
                  </a:cubicBezTo>
                  <a:cubicBezTo>
                    <a:pt x="67" y="23"/>
                    <a:pt x="67" y="17"/>
                    <a:pt x="67" y="11"/>
                  </a:cubicBezTo>
                  <a:cubicBezTo>
                    <a:pt x="67" y="10"/>
                    <a:pt x="66" y="9"/>
                    <a:pt x="65" y="9"/>
                  </a:cubicBezTo>
                  <a:cubicBezTo>
                    <a:pt x="44" y="4"/>
                    <a:pt x="23" y="0"/>
                    <a:pt x="2" y="3"/>
                  </a:cubicBezTo>
                  <a:cubicBezTo>
                    <a:pt x="1" y="3"/>
                    <a:pt x="0" y="4"/>
                    <a:pt x="0" y="5"/>
                  </a:cubicBezTo>
                  <a:cubicBezTo>
                    <a:pt x="0" y="11"/>
                    <a:pt x="0" y="17"/>
                    <a:pt x="0" y="24"/>
                  </a:cubicBezTo>
                  <a:cubicBezTo>
                    <a:pt x="0" y="24"/>
                    <a:pt x="1" y="25"/>
                    <a:pt x="2"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1" name="Freeform 21"/>
            <p:cNvSpPr/>
            <p:nvPr/>
          </p:nvSpPr>
          <p:spPr bwMode="auto">
            <a:xfrm>
              <a:off x="9105901" y="860425"/>
              <a:ext cx="168275" cy="93663"/>
            </a:xfrm>
            <a:custGeom>
              <a:avLst/>
              <a:gdLst>
                <a:gd name="T0" fmla="*/ 29 w 78"/>
                <a:gd name="T1" fmla="*/ 20 h 43"/>
                <a:gd name="T2" fmla="*/ 29 w 78"/>
                <a:gd name="T3" fmla="*/ 26 h 43"/>
                <a:gd name="T4" fmla="*/ 11 w 78"/>
                <a:gd name="T5" fmla="*/ 23 h 43"/>
                <a:gd name="T6" fmla="*/ 5 w 78"/>
                <a:gd name="T7" fmla="*/ 2 h 43"/>
                <a:gd name="T8" fmla="*/ 2 w 78"/>
                <a:gd name="T9" fmla="*/ 0 h 43"/>
                <a:gd name="T10" fmla="*/ 0 w 78"/>
                <a:gd name="T11" fmla="*/ 3 h 43"/>
                <a:gd name="T12" fmla="*/ 7 w 78"/>
                <a:gd name="T13" fmla="*/ 25 h 43"/>
                <a:gd name="T14" fmla="*/ 9 w 78"/>
                <a:gd name="T15" fmla="*/ 27 h 43"/>
                <a:gd name="T16" fmla="*/ 29 w 78"/>
                <a:gd name="T17" fmla="*/ 32 h 43"/>
                <a:gd name="T18" fmla="*/ 29 w 78"/>
                <a:gd name="T19" fmla="*/ 38 h 43"/>
                <a:gd name="T20" fmla="*/ 30 w 78"/>
                <a:gd name="T21" fmla="*/ 40 h 43"/>
                <a:gd name="T22" fmla="*/ 77 w 78"/>
                <a:gd name="T23" fmla="*/ 41 h 43"/>
                <a:gd name="T24" fmla="*/ 78 w 78"/>
                <a:gd name="T25" fmla="*/ 39 h 43"/>
                <a:gd name="T26" fmla="*/ 78 w 78"/>
                <a:gd name="T27" fmla="*/ 20 h 43"/>
                <a:gd name="T28" fmla="*/ 77 w 78"/>
                <a:gd name="T29" fmla="*/ 19 h 43"/>
                <a:gd name="T30" fmla="*/ 30 w 78"/>
                <a:gd name="T31" fmla="*/ 18 h 43"/>
                <a:gd name="T32" fmla="*/ 29 w 78"/>
                <a:gd name="T33"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 h="43">
                  <a:moveTo>
                    <a:pt x="29" y="20"/>
                  </a:moveTo>
                  <a:cubicBezTo>
                    <a:pt x="29" y="22"/>
                    <a:pt x="29" y="24"/>
                    <a:pt x="29" y="26"/>
                  </a:cubicBezTo>
                  <a:cubicBezTo>
                    <a:pt x="23" y="25"/>
                    <a:pt x="17" y="24"/>
                    <a:pt x="11" y="23"/>
                  </a:cubicBezTo>
                  <a:cubicBezTo>
                    <a:pt x="9" y="16"/>
                    <a:pt x="7" y="9"/>
                    <a:pt x="5" y="2"/>
                  </a:cubicBezTo>
                  <a:cubicBezTo>
                    <a:pt x="5" y="1"/>
                    <a:pt x="3" y="0"/>
                    <a:pt x="2" y="0"/>
                  </a:cubicBezTo>
                  <a:cubicBezTo>
                    <a:pt x="1" y="0"/>
                    <a:pt x="0" y="1"/>
                    <a:pt x="0" y="3"/>
                  </a:cubicBezTo>
                  <a:cubicBezTo>
                    <a:pt x="2" y="10"/>
                    <a:pt x="4" y="18"/>
                    <a:pt x="7" y="25"/>
                  </a:cubicBezTo>
                  <a:cubicBezTo>
                    <a:pt x="7" y="26"/>
                    <a:pt x="8" y="27"/>
                    <a:pt x="9" y="27"/>
                  </a:cubicBezTo>
                  <a:cubicBezTo>
                    <a:pt x="16" y="29"/>
                    <a:pt x="22" y="30"/>
                    <a:pt x="29" y="32"/>
                  </a:cubicBezTo>
                  <a:cubicBezTo>
                    <a:pt x="29" y="34"/>
                    <a:pt x="29" y="36"/>
                    <a:pt x="29" y="38"/>
                  </a:cubicBezTo>
                  <a:cubicBezTo>
                    <a:pt x="29" y="39"/>
                    <a:pt x="29" y="40"/>
                    <a:pt x="30" y="40"/>
                  </a:cubicBezTo>
                  <a:cubicBezTo>
                    <a:pt x="46" y="43"/>
                    <a:pt x="61" y="43"/>
                    <a:pt x="77" y="41"/>
                  </a:cubicBezTo>
                  <a:cubicBezTo>
                    <a:pt x="78" y="41"/>
                    <a:pt x="78" y="40"/>
                    <a:pt x="78" y="39"/>
                  </a:cubicBezTo>
                  <a:cubicBezTo>
                    <a:pt x="78" y="33"/>
                    <a:pt x="78" y="27"/>
                    <a:pt x="78" y="20"/>
                  </a:cubicBezTo>
                  <a:cubicBezTo>
                    <a:pt x="78" y="19"/>
                    <a:pt x="78" y="19"/>
                    <a:pt x="77" y="19"/>
                  </a:cubicBezTo>
                  <a:cubicBezTo>
                    <a:pt x="61" y="22"/>
                    <a:pt x="46" y="21"/>
                    <a:pt x="30" y="18"/>
                  </a:cubicBezTo>
                  <a:cubicBezTo>
                    <a:pt x="29" y="18"/>
                    <a:pt x="29" y="19"/>
                    <a:pt x="29"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59" name="组合 258"/>
          <p:cNvGrpSpPr/>
          <p:nvPr/>
        </p:nvGrpSpPr>
        <p:grpSpPr>
          <a:xfrm>
            <a:off x="6159268" y="33915"/>
            <a:ext cx="877273" cy="877274"/>
            <a:chOff x="9482138" y="185738"/>
            <a:chExt cx="982662" cy="982663"/>
          </a:xfrm>
        </p:grpSpPr>
        <p:sp>
          <p:nvSpPr>
            <p:cNvPr id="260" name="Oval 4381"/>
            <p:cNvSpPr>
              <a:spLocks noChangeArrowheads="1"/>
            </p:cNvSpPr>
            <p:nvPr/>
          </p:nvSpPr>
          <p:spPr bwMode="auto">
            <a:xfrm>
              <a:off x="9482138" y="185738"/>
              <a:ext cx="982662" cy="982663"/>
            </a:xfrm>
            <a:prstGeom prst="ellipse">
              <a:avLst/>
            </a:prstGeom>
            <a:solidFill>
              <a:srgbClr val="3A73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1" name="Freeform 4382"/>
            <p:cNvSpPr/>
            <p:nvPr/>
          </p:nvSpPr>
          <p:spPr bwMode="auto">
            <a:xfrm>
              <a:off x="9555163" y="407988"/>
              <a:ext cx="736600" cy="342900"/>
            </a:xfrm>
            <a:custGeom>
              <a:avLst/>
              <a:gdLst>
                <a:gd name="T0" fmla="*/ 0 w 464"/>
                <a:gd name="T1" fmla="*/ 171 h 216"/>
                <a:gd name="T2" fmla="*/ 464 w 464"/>
                <a:gd name="T3" fmla="*/ 0 h 216"/>
                <a:gd name="T4" fmla="*/ 120 w 464"/>
                <a:gd name="T5" fmla="*/ 216 h 216"/>
                <a:gd name="T6" fmla="*/ 0 w 464"/>
                <a:gd name="T7" fmla="*/ 171 h 216"/>
              </a:gdLst>
              <a:ahLst/>
              <a:cxnLst>
                <a:cxn ang="0">
                  <a:pos x="T0" y="T1"/>
                </a:cxn>
                <a:cxn ang="0">
                  <a:pos x="T2" y="T3"/>
                </a:cxn>
                <a:cxn ang="0">
                  <a:pos x="T4" y="T5"/>
                </a:cxn>
                <a:cxn ang="0">
                  <a:pos x="T6" y="T7"/>
                </a:cxn>
              </a:cxnLst>
              <a:rect l="0" t="0" r="r" b="b"/>
              <a:pathLst>
                <a:path w="464" h="216">
                  <a:moveTo>
                    <a:pt x="0" y="171"/>
                  </a:moveTo>
                  <a:lnTo>
                    <a:pt x="464" y="0"/>
                  </a:lnTo>
                  <a:lnTo>
                    <a:pt x="120" y="216"/>
                  </a:lnTo>
                  <a:lnTo>
                    <a:pt x="0" y="17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2" name="Freeform 4383"/>
            <p:cNvSpPr/>
            <p:nvPr/>
          </p:nvSpPr>
          <p:spPr bwMode="auto">
            <a:xfrm>
              <a:off x="9745663" y="407988"/>
              <a:ext cx="546100" cy="542925"/>
            </a:xfrm>
            <a:custGeom>
              <a:avLst/>
              <a:gdLst>
                <a:gd name="T0" fmla="*/ 0 w 344"/>
                <a:gd name="T1" fmla="*/ 216 h 342"/>
                <a:gd name="T2" fmla="*/ 20 w 344"/>
                <a:gd name="T3" fmla="*/ 342 h 342"/>
                <a:gd name="T4" fmla="*/ 344 w 344"/>
                <a:gd name="T5" fmla="*/ 0 h 342"/>
                <a:gd name="T6" fmla="*/ 0 w 344"/>
                <a:gd name="T7" fmla="*/ 216 h 342"/>
              </a:gdLst>
              <a:ahLst/>
              <a:cxnLst>
                <a:cxn ang="0">
                  <a:pos x="T0" y="T1"/>
                </a:cxn>
                <a:cxn ang="0">
                  <a:pos x="T2" y="T3"/>
                </a:cxn>
                <a:cxn ang="0">
                  <a:pos x="T4" y="T5"/>
                </a:cxn>
                <a:cxn ang="0">
                  <a:pos x="T6" y="T7"/>
                </a:cxn>
              </a:cxnLst>
              <a:rect l="0" t="0" r="r" b="b"/>
              <a:pathLst>
                <a:path w="344" h="342">
                  <a:moveTo>
                    <a:pt x="0" y="216"/>
                  </a:moveTo>
                  <a:lnTo>
                    <a:pt x="20" y="342"/>
                  </a:lnTo>
                  <a:lnTo>
                    <a:pt x="344" y="0"/>
                  </a:lnTo>
                  <a:lnTo>
                    <a:pt x="0" y="216"/>
                  </a:lnTo>
                  <a:close/>
                </a:path>
              </a:pathLst>
            </a:custGeom>
            <a:solidFill>
              <a:srgbClr val="D3D2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3" name="Freeform 4384"/>
            <p:cNvSpPr/>
            <p:nvPr/>
          </p:nvSpPr>
          <p:spPr bwMode="auto">
            <a:xfrm>
              <a:off x="9777413" y="790576"/>
              <a:ext cx="147637" cy="160338"/>
            </a:xfrm>
            <a:custGeom>
              <a:avLst/>
              <a:gdLst>
                <a:gd name="T0" fmla="*/ 47 w 93"/>
                <a:gd name="T1" fmla="*/ 0 h 101"/>
                <a:gd name="T2" fmla="*/ 0 w 93"/>
                <a:gd name="T3" fmla="*/ 101 h 101"/>
                <a:gd name="T4" fmla="*/ 93 w 93"/>
                <a:gd name="T5" fmla="*/ 6 h 101"/>
                <a:gd name="T6" fmla="*/ 47 w 93"/>
                <a:gd name="T7" fmla="*/ 0 h 101"/>
              </a:gdLst>
              <a:ahLst/>
              <a:cxnLst>
                <a:cxn ang="0">
                  <a:pos x="T0" y="T1"/>
                </a:cxn>
                <a:cxn ang="0">
                  <a:pos x="T2" y="T3"/>
                </a:cxn>
                <a:cxn ang="0">
                  <a:pos x="T4" y="T5"/>
                </a:cxn>
                <a:cxn ang="0">
                  <a:pos x="T6" y="T7"/>
                </a:cxn>
              </a:cxnLst>
              <a:rect l="0" t="0" r="r" b="b"/>
              <a:pathLst>
                <a:path w="93" h="101">
                  <a:moveTo>
                    <a:pt x="47" y="0"/>
                  </a:moveTo>
                  <a:lnTo>
                    <a:pt x="0" y="101"/>
                  </a:lnTo>
                  <a:lnTo>
                    <a:pt x="93" y="6"/>
                  </a:lnTo>
                  <a:lnTo>
                    <a:pt x="47" y="0"/>
                  </a:lnTo>
                  <a:close/>
                </a:path>
              </a:pathLst>
            </a:custGeom>
            <a:solidFill>
              <a:srgbClr val="B5B5B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4" name="Freeform 4385"/>
            <p:cNvSpPr/>
            <p:nvPr/>
          </p:nvSpPr>
          <p:spPr bwMode="auto">
            <a:xfrm>
              <a:off x="9852025" y="407988"/>
              <a:ext cx="439737" cy="458788"/>
            </a:xfrm>
            <a:custGeom>
              <a:avLst/>
              <a:gdLst>
                <a:gd name="T0" fmla="*/ 277 w 277"/>
                <a:gd name="T1" fmla="*/ 0 h 289"/>
                <a:gd name="T2" fmla="*/ 0 w 277"/>
                <a:gd name="T3" fmla="*/ 241 h 289"/>
                <a:gd name="T4" fmla="*/ 128 w 277"/>
                <a:gd name="T5" fmla="*/ 289 h 289"/>
                <a:gd name="T6" fmla="*/ 277 w 277"/>
                <a:gd name="T7" fmla="*/ 0 h 289"/>
              </a:gdLst>
              <a:ahLst/>
              <a:cxnLst>
                <a:cxn ang="0">
                  <a:pos x="T0" y="T1"/>
                </a:cxn>
                <a:cxn ang="0">
                  <a:pos x="T2" y="T3"/>
                </a:cxn>
                <a:cxn ang="0">
                  <a:pos x="T4" y="T5"/>
                </a:cxn>
                <a:cxn ang="0">
                  <a:pos x="T6" y="T7"/>
                </a:cxn>
              </a:cxnLst>
              <a:rect l="0" t="0" r="r" b="b"/>
              <a:pathLst>
                <a:path w="277" h="289">
                  <a:moveTo>
                    <a:pt x="277" y="0"/>
                  </a:moveTo>
                  <a:lnTo>
                    <a:pt x="0" y="241"/>
                  </a:lnTo>
                  <a:lnTo>
                    <a:pt x="128" y="289"/>
                  </a:lnTo>
                  <a:lnTo>
                    <a:pt x="27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 name="矩形 7"/>
          <p:cNvSpPr/>
          <p:nvPr/>
        </p:nvSpPr>
        <p:spPr>
          <a:xfrm>
            <a:off x="5381432" y="2960548"/>
            <a:ext cx="1107996" cy="369332"/>
          </a:xfrm>
          <a:prstGeom prst="rect">
            <a:avLst/>
          </a:prstGeom>
        </p:spPr>
        <p:txBody>
          <a:bodyPr wrap="none">
            <a:spAutoFit/>
          </a:bodyPr>
          <a:lstStyle/>
          <a:p>
            <a:r>
              <a:rPr lang="zh-CN" altLang="en-US" dirty="0">
                <a:solidFill>
                  <a:srgbClr val="1F487C"/>
                </a:solidFill>
                <a:latin typeface="微软雅黑" panose="020B0503020204020204" pitchFamily="34" charset="-122"/>
                <a:ea typeface="微软雅黑" panose="020B0503020204020204" pitchFamily="34" charset="-122"/>
              </a:rPr>
              <a:t>产品定位</a:t>
            </a:r>
            <a:endParaRPr lang="en-US" altLang="zh-CN" dirty="0">
              <a:solidFill>
                <a:srgbClr val="1F487C"/>
              </a:solidFill>
              <a:latin typeface="微软雅黑" panose="020B0503020204020204" pitchFamily="34" charset="-122"/>
              <a:ea typeface="微软雅黑" panose="020B0503020204020204" pitchFamily="34" charset="-122"/>
            </a:endParaRPr>
          </a:p>
        </p:txBody>
      </p:sp>
      <p:sp>
        <p:nvSpPr>
          <p:cNvPr id="9" name="矩形 8"/>
          <p:cNvSpPr/>
          <p:nvPr/>
        </p:nvSpPr>
        <p:spPr>
          <a:xfrm>
            <a:off x="5378261" y="3327703"/>
            <a:ext cx="1601343" cy="369332"/>
          </a:xfrm>
          <a:prstGeom prst="rect">
            <a:avLst/>
          </a:prstGeom>
        </p:spPr>
        <p:txBody>
          <a:bodyPr wrap="square">
            <a:spAutoFit/>
          </a:bodyPr>
          <a:lstStyle/>
          <a:p>
            <a:r>
              <a:rPr lang="zh-CN" altLang="en-US" dirty="0">
                <a:solidFill>
                  <a:srgbClr val="1F487C"/>
                </a:solidFill>
                <a:latin typeface="微软雅黑" panose="020B0503020204020204" pitchFamily="34" charset="-122"/>
                <a:ea typeface="微软雅黑" panose="020B0503020204020204" pitchFamily="34" charset="-122"/>
              </a:rPr>
              <a:t>技术优势</a:t>
            </a:r>
            <a:endParaRPr lang="en-US" altLang="zh-CN" dirty="0">
              <a:solidFill>
                <a:srgbClr val="1F487C"/>
              </a:solidFill>
              <a:latin typeface="微软雅黑" panose="020B0503020204020204" pitchFamily="34" charset="-122"/>
              <a:ea typeface="微软雅黑" panose="020B0503020204020204" pitchFamily="34" charset="-122"/>
            </a:endParaRPr>
          </a:p>
        </p:txBody>
      </p:sp>
      <p:sp>
        <p:nvSpPr>
          <p:cNvPr id="10" name="矩形 9"/>
          <p:cNvSpPr/>
          <p:nvPr/>
        </p:nvSpPr>
        <p:spPr>
          <a:xfrm>
            <a:off x="2059391" y="2053514"/>
            <a:ext cx="1107996" cy="369332"/>
          </a:xfrm>
          <a:prstGeom prst="rect">
            <a:avLst/>
          </a:prstGeom>
        </p:spPr>
        <p:txBody>
          <a:bodyPr wrap="none">
            <a:spAutoFit/>
          </a:bodyPr>
          <a:lstStyle/>
          <a:p>
            <a:r>
              <a:rPr lang="zh-CN" altLang="en-US" dirty="0">
                <a:solidFill>
                  <a:srgbClr val="1F487C"/>
                </a:solidFill>
                <a:latin typeface="微软雅黑" panose="020B0503020204020204" pitchFamily="34" charset="-122"/>
                <a:ea typeface="微软雅黑" panose="020B0503020204020204" pitchFamily="34" charset="-122"/>
              </a:rPr>
              <a:t>公司简介</a:t>
            </a:r>
            <a:endParaRPr lang="en-US" altLang="zh-CN" dirty="0">
              <a:solidFill>
                <a:srgbClr val="1F487C"/>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9DE3FC7B-802D-FC4D-5311-9ECECA20F54D}"/>
              </a:ext>
            </a:extLst>
          </p:cNvPr>
          <p:cNvSpPr/>
          <p:nvPr/>
        </p:nvSpPr>
        <p:spPr>
          <a:xfrm>
            <a:off x="9248532" y="4497566"/>
            <a:ext cx="1752938" cy="369332"/>
          </a:xfrm>
          <a:prstGeom prst="rect">
            <a:avLst/>
          </a:prstGeom>
          <a:noFill/>
        </p:spPr>
        <p:txBody>
          <a:bodyPr wrap="square">
            <a:spAutoFit/>
          </a:bodyPr>
          <a:lstStyle/>
          <a:p>
            <a:r>
              <a:rPr lang="zh-CN" altLang="en-US" dirty="0">
                <a:solidFill>
                  <a:srgbClr val="1F487C"/>
                </a:solidFill>
                <a:latin typeface="微软雅黑" panose="020B0503020204020204" pitchFamily="34" charset="-122"/>
                <a:ea typeface="微软雅黑" panose="020B0503020204020204" pitchFamily="34" charset="-122"/>
              </a:rPr>
              <a:t>指标分析</a:t>
            </a:r>
          </a:p>
        </p:txBody>
      </p:sp>
      <p:sp>
        <p:nvSpPr>
          <p:cNvPr id="3" name="矩形 2">
            <a:extLst>
              <a:ext uri="{FF2B5EF4-FFF2-40B4-BE49-F238E27FC236}">
                <a16:creationId xmlns:a16="http://schemas.microsoft.com/office/drawing/2014/main" id="{FB28E996-869A-519C-6657-582FA961D4D6}"/>
              </a:ext>
            </a:extLst>
          </p:cNvPr>
          <p:cNvSpPr/>
          <p:nvPr/>
        </p:nvSpPr>
        <p:spPr>
          <a:xfrm>
            <a:off x="2051778" y="2496307"/>
            <a:ext cx="1107996" cy="369332"/>
          </a:xfrm>
          <a:prstGeom prst="rect">
            <a:avLst/>
          </a:prstGeom>
        </p:spPr>
        <p:txBody>
          <a:bodyPr wrap="none">
            <a:spAutoFit/>
          </a:bodyPr>
          <a:lstStyle/>
          <a:p>
            <a:r>
              <a:rPr lang="zh-CN" altLang="en-US" dirty="0">
                <a:solidFill>
                  <a:srgbClr val="1F487C"/>
                </a:solidFill>
                <a:latin typeface="微软雅黑" panose="020B0503020204020204" pitchFamily="34" charset="-122"/>
                <a:ea typeface="微软雅黑" panose="020B0503020204020204" pitchFamily="34" charset="-122"/>
              </a:rPr>
              <a:t>产品演进</a:t>
            </a:r>
            <a:endParaRPr lang="en-US" altLang="zh-CN" dirty="0">
              <a:solidFill>
                <a:srgbClr val="1F487C"/>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FBB3E41F-F775-0380-3929-79E74FFF5F08}"/>
              </a:ext>
            </a:extLst>
          </p:cNvPr>
          <p:cNvSpPr/>
          <p:nvPr/>
        </p:nvSpPr>
        <p:spPr>
          <a:xfrm>
            <a:off x="9248532" y="4923411"/>
            <a:ext cx="1752938" cy="369332"/>
          </a:xfrm>
          <a:prstGeom prst="rect">
            <a:avLst/>
          </a:prstGeom>
          <a:noFill/>
        </p:spPr>
        <p:txBody>
          <a:bodyPr wrap="square">
            <a:spAutoFit/>
          </a:bodyPr>
          <a:lstStyle/>
          <a:p>
            <a:r>
              <a:rPr lang="en-US" altLang="zh-CN" dirty="0" err="1">
                <a:solidFill>
                  <a:srgbClr val="1F487C"/>
                </a:solidFill>
                <a:latin typeface="微软雅黑" panose="020B0503020204020204" pitchFamily="34" charset="-122"/>
                <a:ea typeface="微软雅黑" panose="020B0503020204020204" pitchFamily="34" charset="-122"/>
              </a:rPr>
              <a:t>GraphRAG</a:t>
            </a:r>
            <a:endParaRPr lang="zh-CN" altLang="en-US" dirty="0">
              <a:solidFill>
                <a:srgbClr val="1F487C"/>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C8823143-FD39-2522-0B17-FEA674ECC8DC}"/>
              </a:ext>
            </a:extLst>
          </p:cNvPr>
          <p:cNvSpPr/>
          <p:nvPr/>
        </p:nvSpPr>
        <p:spPr>
          <a:xfrm>
            <a:off x="9248532" y="5349257"/>
            <a:ext cx="1752938" cy="369332"/>
          </a:xfrm>
          <a:prstGeom prst="rect">
            <a:avLst/>
          </a:prstGeom>
          <a:noFill/>
        </p:spPr>
        <p:txBody>
          <a:bodyPr wrap="square">
            <a:spAutoFit/>
          </a:bodyPr>
          <a:lstStyle/>
          <a:p>
            <a:r>
              <a:rPr lang="zh-CN" altLang="en-US" dirty="0">
                <a:solidFill>
                  <a:srgbClr val="1F487C"/>
                </a:solidFill>
                <a:latin typeface="微软雅黑" panose="020B0503020204020204" pitchFamily="34" charset="-122"/>
                <a:ea typeface="微软雅黑" panose="020B0503020204020204" pitchFamily="34" charset="-122"/>
              </a:rPr>
              <a:t>应用案例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p:cTn id="7" dur="500" fill="hold"/>
                                        <p:tgtEl>
                                          <p:spTgt spid="116"/>
                                        </p:tgtEl>
                                        <p:attrNameLst>
                                          <p:attrName>ppt_w</p:attrName>
                                        </p:attrNameLst>
                                      </p:cBhvr>
                                      <p:tavLst>
                                        <p:tav tm="0">
                                          <p:val>
                                            <p:fltVal val="0"/>
                                          </p:val>
                                        </p:tav>
                                        <p:tav tm="100000">
                                          <p:val>
                                            <p:strVal val="#ppt_w"/>
                                          </p:val>
                                        </p:tav>
                                      </p:tavLst>
                                    </p:anim>
                                    <p:anim calcmode="lin" valueType="num">
                                      <p:cBhvr>
                                        <p:cTn id="8" dur="500" fill="hold"/>
                                        <p:tgtEl>
                                          <p:spTgt spid="116"/>
                                        </p:tgtEl>
                                        <p:attrNameLst>
                                          <p:attrName>ppt_h</p:attrName>
                                        </p:attrNameLst>
                                      </p:cBhvr>
                                      <p:tavLst>
                                        <p:tav tm="0">
                                          <p:val>
                                            <p:fltVal val="0"/>
                                          </p:val>
                                        </p:tav>
                                        <p:tav tm="100000">
                                          <p:val>
                                            <p:strVal val="#ppt_h"/>
                                          </p:val>
                                        </p:tav>
                                      </p:tavLst>
                                    </p:anim>
                                    <p:animEffect transition="in" filter="fade">
                                      <p:cBhvr>
                                        <p:cTn id="9" dur="500"/>
                                        <p:tgtEl>
                                          <p:spTgt spid="1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0"/>
                                        </p:tgtEl>
                                        <p:attrNameLst>
                                          <p:attrName>style.visibility</p:attrName>
                                        </p:attrNameLst>
                                      </p:cBhvr>
                                      <p:to>
                                        <p:strVal val="visible"/>
                                      </p:to>
                                    </p:set>
                                    <p:anim calcmode="lin" valueType="num">
                                      <p:cBhvr>
                                        <p:cTn id="12" dur="500" fill="hold"/>
                                        <p:tgtEl>
                                          <p:spTgt spid="130"/>
                                        </p:tgtEl>
                                        <p:attrNameLst>
                                          <p:attrName>ppt_w</p:attrName>
                                        </p:attrNameLst>
                                      </p:cBhvr>
                                      <p:tavLst>
                                        <p:tav tm="0">
                                          <p:val>
                                            <p:fltVal val="0"/>
                                          </p:val>
                                        </p:tav>
                                        <p:tav tm="100000">
                                          <p:val>
                                            <p:strVal val="#ppt_w"/>
                                          </p:val>
                                        </p:tav>
                                      </p:tavLst>
                                    </p:anim>
                                    <p:anim calcmode="lin" valueType="num">
                                      <p:cBhvr>
                                        <p:cTn id="13" dur="500" fill="hold"/>
                                        <p:tgtEl>
                                          <p:spTgt spid="130"/>
                                        </p:tgtEl>
                                        <p:attrNameLst>
                                          <p:attrName>ppt_h</p:attrName>
                                        </p:attrNameLst>
                                      </p:cBhvr>
                                      <p:tavLst>
                                        <p:tav tm="0">
                                          <p:val>
                                            <p:fltVal val="0"/>
                                          </p:val>
                                        </p:tav>
                                        <p:tav tm="100000">
                                          <p:val>
                                            <p:strVal val="#ppt_h"/>
                                          </p:val>
                                        </p:tav>
                                      </p:tavLst>
                                    </p:anim>
                                    <p:animEffect transition="in" filter="fade">
                                      <p:cBhvr>
                                        <p:cTn id="14" dur="500"/>
                                        <p:tgtEl>
                                          <p:spTgt spid="13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31"/>
                                        </p:tgtEl>
                                        <p:attrNameLst>
                                          <p:attrName>style.visibility</p:attrName>
                                        </p:attrNameLst>
                                      </p:cBhvr>
                                      <p:to>
                                        <p:strVal val="visible"/>
                                      </p:to>
                                    </p:set>
                                    <p:anim calcmode="lin" valueType="num">
                                      <p:cBhvr>
                                        <p:cTn id="17" dur="500" fill="hold"/>
                                        <p:tgtEl>
                                          <p:spTgt spid="131"/>
                                        </p:tgtEl>
                                        <p:attrNameLst>
                                          <p:attrName>ppt_w</p:attrName>
                                        </p:attrNameLst>
                                      </p:cBhvr>
                                      <p:tavLst>
                                        <p:tav tm="0">
                                          <p:val>
                                            <p:fltVal val="0"/>
                                          </p:val>
                                        </p:tav>
                                        <p:tav tm="100000">
                                          <p:val>
                                            <p:strVal val="#ppt_w"/>
                                          </p:val>
                                        </p:tav>
                                      </p:tavLst>
                                    </p:anim>
                                    <p:anim calcmode="lin" valueType="num">
                                      <p:cBhvr>
                                        <p:cTn id="18" dur="500" fill="hold"/>
                                        <p:tgtEl>
                                          <p:spTgt spid="131"/>
                                        </p:tgtEl>
                                        <p:attrNameLst>
                                          <p:attrName>ppt_h</p:attrName>
                                        </p:attrNameLst>
                                      </p:cBhvr>
                                      <p:tavLst>
                                        <p:tav tm="0">
                                          <p:val>
                                            <p:fltVal val="0"/>
                                          </p:val>
                                        </p:tav>
                                        <p:tav tm="100000">
                                          <p:val>
                                            <p:strVal val="#ppt_h"/>
                                          </p:val>
                                        </p:tav>
                                      </p:tavLst>
                                    </p:anim>
                                    <p:animEffect transition="in" filter="fade">
                                      <p:cBhvr>
                                        <p:cTn id="19" dur="500"/>
                                        <p:tgtEl>
                                          <p:spTgt spid="13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2"/>
                                        </p:tgtEl>
                                        <p:attrNameLst>
                                          <p:attrName>style.visibility</p:attrName>
                                        </p:attrNameLst>
                                      </p:cBhvr>
                                      <p:to>
                                        <p:strVal val="visible"/>
                                      </p:to>
                                    </p:set>
                                    <p:anim calcmode="lin" valueType="num">
                                      <p:cBhvr>
                                        <p:cTn id="22" dur="500" fill="hold"/>
                                        <p:tgtEl>
                                          <p:spTgt spid="132"/>
                                        </p:tgtEl>
                                        <p:attrNameLst>
                                          <p:attrName>ppt_w</p:attrName>
                                        </p:attrNameLst>
                                      </p:cBhvr>
                                      <p:tavLst>
                                        <p:tav tm="0">
                                          <p:val>
                                            <p:fltVal val="0"/>
                                          </p:val>
                                        </p:tav>
                                        <p:tav tm="100000">
                                          <p:val>
                                            <p:strVal val="#ppt_w"/>
                                          </p:val>
                                        </p:tav>
                                      </p:tavLst>
                                    </p:anim>
                                    <p:anim calcmode="lin" valueType="num">
                                      <p:cBhvr>
                                        <p:cTn id="23" dur="500" fill="hold"/>
                                        <p:tgtEl>
                                          <p:spTgt spid="132"/>
                                        </p:tgtEl>
                                        <p:attrNameLst>
                                          <p:attrName>ppt_h</p:attrName>
                                        </p:attrNameLst>
                                      </p:cBhvr>
                                      <p:tavLst>
                                        <p:tav tm="0">
                                          <p:val>
                                            <p:fltVal val="0"/>
                                          </p:val>
                                        </p:tav>
                                        <p:tav tm="100000">
                                          <p:val>
                                            <p:strVal val="#ppt_h"/>
                                          </p:val>
                                        </p:tav>
                                      </p:tavLst>
                                    </p:anim>
                                    <p:animEffect transition="in" filter="fade">
                                      <p:cBhvr>
                                        <p:cTn id="24" dur="500"/>
                                        <p:tgtEl>
                                          <p:spTgt spid="132"/>
                                        </p:tgtEl>
                                      </p:cBhvr>
                                    </p:animEffect>
                                  </p:childTnLst>
                                </p:cTn>
                              </p:par>
                              <p:par>
                                <p:cTn id="25" presetID="53" presetClass="entr" presetSubtype="16" fill="hold" nodeType="withEffect">
                                  <p:stCondLst>
                                    <p:cond delay="0"/>
                                  </p:stCondLst>
                                  <p:childTnLst>
                                    <p:set>
                                      <p:cBhvr>
                                        <p:cTn id="26" dur="1" fill="hold">
                                          <p:stCondLst>
                                            <p:cond delay="0"/>
                                          </p:stCondLst>
                                        </p:cTn>
                                        <p:tgtEl>
                                          <p:spTgt spid="133"/>
                                        </p:tgtEl>
                                        <p:attrNameLst>
                                          <p:attrName>style.visibility</p:attrName>
                                        </p:attrNameLst>
                                      </p:cBhvr>
                                      <p:to>
                                        <p:strVal val="visible"/>
                                      </p:to>
                                    </p:set>
                                    <p:anim calcmode="lin" valueType="num">
                                      <p:cBhvr>
                                        <p:cTn id="27" dur="500" fill="hold"/>
                                        <p:tgtEl>
                                          <p:spTgt spid="133"/>
                                        </p:tgtEl>
                                        <p:attrNameLst>
                                          <p:attrName>ppt_w</p:attrName>
                                        </p:attrNameLst>
                                      </p:cBhvr>
                                      <p:tavLst>
                                        <p:tav tm="0">
                                          <p:val>
                                            <p:fltVal val="0"/>
                                          </p:val>
                                        </p:tav>
                                        <p:tav tm="100000">
                                          <p:val>
                                            <p:strVal val="#ppt_w"/>
                                          </p:val>
                                        </p:tav>
                                      </p:tavLst>
                                    </p:anim>
                                    <p:anim calcmode="lin" valueType="num">
                                      <p:cBhvr>
                                        <p:cTn id="28" dur="500" fill="hold"/>
                                        <p:tgtEl>
                                          <p:spTgt spid="133"/>
                                        </p:tgtEl>
                                        <p:attrNameLst>
                                          <p:attrName>ppt_h</p:attrName>
                                        </p:attrNameLst>
                                      </p:cBhvr>
                                      <p:tavLst>
                                        <p:tav tm="0">
                                          <p:val>
                                            <p:fltVal val="0"/>
                                          </p:val>
                                        </p:tav>
                                        <p:tav tm="100000">
                                          <p:val>
                                            <p:strVal val="#ppt_h"/>
                                          </p:val>
                                        </p:tav>
                                      </p:tavLst>
                                    </p:anim>
                                    <p:animEffect transition="in" filter="fade">
                                      <p:cBhvr>
                                        <p:cTn id="29" dur="500"/>
                                        <p:tgtEl>
                                          <p:spTgt spid="133"/>
                                        </p:tgtEl>
                                      </p:cBhvr>
                                    </p:animEffect>
                                  </p:childTnLst>
                                </p:cTn>
                              </p:par>
                              <p:par>
                                <p:cTn id="30" presetID="53" presetClass="entr" presetSubtype="16" fill="hold" nodeType="withEffect">
                                  <p:stCondLst>
                                    <p:cond delay="0"/>
                                  </p:stCondLst>
                                  <p:childTnLst>
                                    <p:set>
                                      <p:cBhvr>
                                        <p:cTn id="31" dur="1" fill="hold">
                                          <p:stCondLst>
                                            <p:cond delay="0"/>
                                          </p:stCondLst>
                                        </p:cTn>
                                        <p:tgtEl>
                                          <p:spTgt spid="136"/>
                                        </p:tgtEl>
                                        <p:attrNameLst>
                                          <p:attrName>style.visibility</p:attrName>
                                        </p:attrNameLst>
                                      </p:cBhvr>
                                      <p:to>
                                        <p:strVal val="visible"/>
                                      </p:to>
                                    </p:set>
                                    <p:anim calcmode="lin" valueType="num">
                                      <p:cBhvr>
                                        <p:cTn id="32" dur="500" fill="hold"/>
                                        <p:tgtEl>
                                          <p:spTgt spid="136"/>
                                        </p:tgtEl>
                                        <p:attrNameLst>
                                          <p:attrName>ppt_w</p:attrName>
                                        </p:attrNameLst>
                                      </p:cBhvr>
                                      <p:tavLst>
                                        <p:tav tm="0">
                                          <p:val>
                                            <p:fltVal val="0"/>
                                          </p:val>
                                        </p:tav>
                                        <p:tav tm="100000">
                                          <p:val>
                                            <p:strVal val="#ppt_w"/>
                                          </p:val>
                                        </p:tav>
                                      </p:tavLst>
                                    </p:anim>
                                    <p:anim calcmode="lin" valueType="num">
                                      <p:cBhvr>
                                        <p:cTn id="33" dur="500" fill="hold"/>
                                        <p:tgtEl>
                                          <p:spTgt spid="136"/>
                                        </p:tgtEl>
                                        <p:attrNameLst>
                                          <p:attrName>ppt_h</p:attrName>
                                        </p:attrNameLst>
                                      </p:cBhvr>
                                      <p:tavLst>
                                        <p:tav tm="0">
                                          <p:val>
                                            <p:fltVal val="0"/>
                                          </p:val>
                                        </p:tav>
                                        <p:tav tm="100000">
                                          <p:val>
                                            <p:strVal val="#ppt_h"/>
                                          </p:val>
                                        </p:tav>
                                      </p:tavLst>
                                    </p:anim>
                                    <p:animEffect transition="in" filter="fade">
                                      <p:cBhvr>
                                        <p:cTn id="34" dur="500"/>
                                        <p:tgtEl>
                                          <p:spTgt spid="136"/>
                                        </p:tgtEl>
                                      </p:cBhvr>
                                    </p:animEffect>
                                  </p:childTnLst>
                                </p:cTn>
                              </p:par>
                              <p:par>
                                <p:cTn id="35" presetID="53" presetClass="entr" presetSubtype="16" fill="hold" nodeType="withEffect">
                                  <p:stCondLst>
                                    <p:cond delay="0"/>
                                  </p:stCondLst>
                                  <p:childTnLst>
                                    <p:set>
                                      <p:cBhvr>
                                        <p:cTn id="36" dur="1" fill="hold">
                                          <p:stCondLst>
                                            <p:cond delay="0"/>
                                          </p:stCondLst>
                                        </p:cTn>
                                        <p:tgtEl>
                                          <p:spTgt spid="137"/>
                                        </p:tgtEl>
                                        <p:attrNameLst>
                                          <p:attrName>style.visibility</p:attrName>
                                        </p:attrNameLst>
                                      </p:cBhvr>
                                      <p:to>
                                        <p:strVal val="visible"/>
                                      </p:to>
                                    </p:set>
                                    <p:anim calcmode="lin" valueType="num">
                                      <p:cBhvr>
                                        <p:cTn id="37" dur="500" fill="hold"/>
                                        <p:tgtEl>
                                          <p:spTgt spid="137"/>
                                        </p:tgtEl>
                                        <p:attrNameLst>
                                          <p:attrName>ppt_w</p:attrName>
                                        </p:attrNameLst>
                                      </p:cBhvr>
                                      <p:tavLst>
                                        <p:tav tm="0">
                                          <p:val>
                                            <p:fltVal val="0"/>
                                          </p:val>
                                        </p:tav>
                                        <p:tav tm="100000">
                                          <p:val>
                                            <p:strVal val="#ppt_w"/>
                                          </p:val>
                                        </p:tav>
                                      </p:tavLst>
                                    </p:anim>
                                    <p:anim calcmode="lin" valueType="num">
                                      <p:cBhvr>
                                        <p:cTn id="38" dur="500" fill="hold"/>
                                        <p:tgtEl>
                                          <p:spTgt spid="137"/>
                                        </p:tgtEl>
                                        <p:attrNameLst>
                                          <p:attrName>ppt_h</p:attrName>
                                        </p:attrNameLst>
                                      </p:cBhvr>
                                      <p:tavLst>
                                        <p:tav tm="0">
                                          <p:val>
                                            <p:fltVal val="0"/>
                                          </p:val>
                                        </p:tav>
                                        <p:tav tm="100000">
                                          <p:val>
                                            <p:strVal val="#ppt_h"/>
                                          </p:val>
                                        </p:tav>
                                      </p:tavLst>
                                    </p:anim>
                                    <p:animEffect transition="in" filter="fade">
                                      <p:cBhvr>
                                        <p:cTn id="39" dur="500"/>
                                        <p:tgtEl>
                                          <p:spTgt spid="137"/>
                                        </p:tgtEl>
                                      </p:cBhvr>
                                    </p:animEffect>
                                  </p:childTnLst>
                                </p:cTn>
                              </p:par>
                              <p:par>
                                <p:cTn id="40" presetID="53" presetClass="entr" presetSubtype="16" fill="hold" nodeType="withEffect">
                                  <p:stCondLst>
                                    <p:cond delay="0"/>
                                  </p:stCondLst>
                                  <p:childTnLst>
                                    <p:set>
                                      <p:cBhvr>
                                        <p:cTn id="41" dur="1" fill="hold">
                                          <p:stCondLst>
                                            <p:cond delay="0"/>
                                          </p:stCondLst>
                                        </p:cTn>
                                        <p:tgtEl>
                                          <p:spTgt spid="139"/>
                                        </p:tgtEl>
                                        <p:attrNameLst>
                                          <p:attrName>style.visibility</p:attrName>
                                        </p:attrNameLst>
                                      </p:cBhvr>
                                      <p:to>
                                        <p:strVal val="visible"/>
                                      </p:to>
                                    </p:set>
                                    <p:anim calcmode="lin" valueType="num">
                                      <p:cBhvr>
                                        <p:cTn id="42" dur="500" fill="hold"/>
                                        <p:tgtEl>
                                          <p:spTgt spid="139"/>
                                        </p:tgtEl>
                                        <p:attrNameLst>
                                          <p:attrName>ppt_w</p:attrName>
                                        </p:attrNameLst>
                                      </p:cBhvr>
                                      <p:tavLst>
                                        <p:tav tm="0">
                                          <p:val>
                                            <p:fltVal val="0"/>
                                          </p:val>
                                        </p:tav>
                                        <p:tav tm="100000">
                                          <p:val>
                                            <p:strVal val="#ppt_w"/>
                                          </p:val>
                                        </p:tav>
                                      </p:tavLst>
                                    </p:anim>
                                    <p:anim calcmode="lin" valueType="num">
                                      <p:cBhvr>
                                        <p:cTn id="43" dur="500" fill="hold"/>
                                        <p:tgtEl>
                                          <p:spTgt spid="139"/>
                                        </p:tgtEl>
                                        <p:attrNameLst>
                                          <p:attrName>ppt_h</p:attrName>
                                        </p:attrNameLst>
                                      </p:cBhvr>
                                      <p:tavLst>
                                        <p:tav tm="0">
                                          <p:val>
                                            <p:fltVal val="0"/>
                                          </p:val>
                                        </p:tav>
                                        <p:tav tm="100000">
                                          <p:val>
                                            <p:strVal val="#ppt_h"/>
                                          </p:val>
                                        </p:tav>
                                      </p:tavLst>
                                    </p:anim>
                                    <p:animEffect transition="in" filter="fade">
                                      <p:cBhvr>
                                        <p:cTn id="44" dur="500"/>
                                        <p:tgtEl>
                                          <p:spTgt spid="13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9"/>
                                        </p:tgtEl>
                                        <p:attrNameLst>
                                          <p:attrName>style.visibility</p:attrName>
                                        </p:attrNameLst>
                                      </p:cBhvr>
                                      <p:to>
                                        <p:strVal val="visible"/>
                                      </p:to>
                                    </p:set>
                                    <p:anim calcmode="lin" valueType="num">
                                      <p:cBhvr>
                                        <p:cTn id="47" dur="500" fill="hold"/>
                                        <p:tgtEl>
                                          <p:spTgt spid="149"/>
                                        </p:tgtEl>
                                        <p:attrNameLst>
                                          <p:attrName>ppt_w</p:attrName>
                                        </p:attrNameLst>
                                      </p:cBhvr>
                                      <p:tavLst>
                                        <p:tav tm="0">
                                          <p:val>
                                            <p:fltVal val="0"/>
                                          </p:val>
                                        </p:tav>
                                        <p:tav tm="100000">
                                          <p:val>
                                            <p:strVal val="#ppt_w"/>
                                          </p:val>
                                        </p:tav>
                                      </p:tavLst>
                                    </p:anim>
                                    <p:anim calcmode="lin" valueType="num">
                                      <p:cBhvr>
                                        <p:cTn id="48" dur="500" fill="hold"/>
                                        <p:tgtEl>
                                          <p:spTgt spid="149"/>
                                        </p:tgtEl>
                                        <p:attrNameLst>
                                          <p:attrName>ppt_h</p:attrName>
                                        </p:attrNameLst>
                                      </p:cBhvr>
                                      <p:tavLst>
                                        <p:tav tm="0">
                                          <p:val>
                                            <p:fltVal val="0"/>
                                          </p:val>
                                        </p:tav>
                                        <p:tav tm="100000">
                                          <p:val>
                                            <p:strVal val="#ppt_h"/>
                                          </p:val>
                                        </p:tav>
                                      </p:tavLst>
                                    </p:anim>
                                    <p:animEffect transition="in" filter="fade">
                                      <p:cBhvr>
                                        <p:cTn id="49" dur="500"/>
                                        <p:tgtEl>
                                          <p:spTgt spid="14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0"/>
                                        </p:tgtEl>
                                        <p:attrNameLst>
                                          <p:attrName>style.visibility</p:attrName>
                                        </p:attrNameLst>
                                      </p:cBhvr>
                                      <p:to>
                                        <p:strVal val="visible"/>
                                      </p:to>
                                    </p:set>
                                    <p:anim calcmode="lin" valueType="num">
                                      <p:cBhvr>
                                        <p:cTn id="52" dur="500" fill="hold"/>
                                        <p:tgtEl>
                                          <p:spTgt spid="150"/>
                                        </p:tgtEl>
                                        <p:attrNameLst>
                                          <p:attrName>ppt_w</p:attrName>
                                        </p:attrNameLst>
                                      </p:cBhvr>
                                      <p:tavLst>
                                        <p:tav tm="0">
                                          <p:val>
                                            <p:fltVal val="0"/>
                                          </p:val>
                                        </p:tav>
                                        <p:tav tm="100000">
                                          <p:val>
                                            <p:strVal val="#ppt_w"/>
                                          </p:val>
                                        </p:tav>
                                      </p:tavLst>
                                    </p:anim>
                                    <p:anim calcmode="lin" valueType="num">
                                      <p:cBhvr>
                                        <p:cTn id="53" dur="500" fill="hold"/>
                                        <p:tgtEl>
                                          <p:spTgt spid="150"/>
                                        </p:tgtEl>
                                        <p:attrNameLst>
                                          <p:attrName>ppt_h</p:attrName>
                                        </p:attrNameLst>
                                      </p:cBhvr>
                                      <p:tavLst>
                                        <p:tav tm="0">
                                          <p:val>
                                            <p:fltVal val="0"/>
                                          </p:val>
                                        </p:tav>
                                        <p:tav tm="100000">
                                          <p:val>
                                            <p:strVal val="#ppt_h"/>
                                          </p:val>
                                        </p:tav>
                                      </p:tavLst>
                                    </p:anim>
                                    <p:animEffect transition="in" filter="fade">
                                      <p:cBhvr>
                                        <p:cTn id="54" dur="500"/>
                                        <p:tgtEl>
                                          <p:spTgt spid="150"/>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8"/>
                                        </p:tgtEl>
                                        <p:attrNameLst>
                                          <p:attrName>style.visibility</p:attrName>
                                        </p:attrNameLst>
                                      </p:cBhvr>
                                      <p:to>
                                        <p:strVal val="visible"/>
                                      </p:to>
                                    </p:set>
                                    <p:anim calcmode="lin" valueType="num">
                                      <p:cBhvr>
                                        <p:cTn id="57" dur="500" fill="hold"/>
                                        <p:tgtEl>
                                          <p:spTgt spid="158"/>
                                        </p:tgtEl>
                                        <p:attrNameLst>
                                          <p:attrName>ppt_w</p:attrName>
                                        </p:attrNameLst>
                                      </p:cBhvr>
                                      <p:tavLst>
                                        <p:tav tm="0">
                                          <p:val>
                                            <p:fltVal val="0"/>
                                          </p:val>
                                        </p:tav>
                                        <p:tav tm="100000">
                                          <p:val>
                                            <p:strVal val="#ppt_w"/>
                                          </p:val>
                                        </p:tav>
                                      </p:tavLst>
                                    </p:anim>
                                    <p:anim calcmode="lin" valueType="num">
                                      <p:cBhvr>
                                        <p:cTn id="58" dur="500" fill="hold"/>
                                        <p:tgtEl>
                                          <p:spTgt spid="158"/>
                                        </p:tgtEl>
                                        <p:attrNameLst>
                                          <p:attrName>ppt_h</p:attrName>
                                        </p:attrNameLst>
                                      </p:cBhvr>
                                      <p:tavLst>
                                        <p:tav tm="0">
                                          <p:val>
                                            <p:fltVal val="0"/>
                                          </p:val>
                                        </p:tav>
                                        <p:tav tm="100000">
                                          <p:val>
                                            <p:strVal val="#ppt_h"/>
                                          </p:val>
                                        </p:tav>
                                      </p:tavLst>
                                    </p:anim>
                                    <p:animEffect transition="in" filter="fade">
                                      <p:cBhvr>
                                        <p:cTn id="59" dur="500"/>
                                        <p:tgtEl>
                                          <p:spTgt spid="15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59"/>
                                        </p:tgtEl>
                                        <p:attrNameLst>
                                          <p:attrName>style.visibility</p:attrName>
                                        </p:attrNameLst>
                                      </p:cBhvr>
                                      <p:to>
                                        <p:strVal val="visible"/>
                                      </p:to>
                                    </p:set>
                                    <p:anim calcmode="lin" valueType="num">
                                      <p:cBhvr>
                                        <p:cTn id="62" dur="500" fill="hold"/>
                                        <p:tgtEl>
                                          <p:spTgt spid="159"/>
                                        </p:tgtEl>
                                        <p:attrNameLst>
                                          <p:attrName>ppt_w</p:attrName>
                                        </p:attrNameLst>
                                      </p:cBhvr>
                                      <p:tavLst>
                                        <p:tav tm="0">
                                          <p:val>
                                            <p:fltVal val="0"/>
                                          </p:val>
                                        </p:tav>
                                        <p:tav tm="100000">
                                          <p:val>
                                            <p:strVal val="#ppt_w"/>
                                          </p:val>
                                        </p:tav>
                                      </p:tavLst>
                                    </p:anim>
                                    <p:anim calcmode="lin" valueType="num">
                                      <p:cBhvr>
                                        <p:cTn id="63" dur="500" fill="hold"/>
                                        <p:tgtEl>
                                          <p:spTgt spid="159"/>
                                        </p:tgtEl>
                                        <p:attrNameLst>
                                          <p:attrName>ppt_h</p:attrName>
                                        </p:attrNameLst>
                                      </p:cBhvr>
                                      <p:tavLst>
                                        <p:tav tm="0">
                                          <p:val>
                                            <p:fltVal val="0"/>
                                          </p:val>
                                        </p:tav>
                                        <p:tav tm="100000">
                                          <p:val>
                                            <p:strVal val="#ppt_h"/>
                                          </p:val>
                                        </p:tav>
                                      </p:tavLst>
                                    </p:anim>
                                    <p:animEffect transition="in" filter="fade">
                                      <p:cBhvr>
                                        <p:cTn id="64" dur="500"/>
                                        <p:tgtEl>
                                          <p:spTgt spid="15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60"/>
                                        </p:tgtEl>
                                        <p:attrNameLst>
                                          <p:attrName>style.visibility</p:attrName>
                                        </p:attrNameLst>
                                      </p:cBhvr>
                                      <p:to>
                                        <p:strVal val="visible"/>
                                      </p:to>
                                    </p:set>
                                    <p:anim calcmode="lin" valueType="num">
                                      <p:cBhvr>
                                        <p:cTn id="67" dur="500" fill="hold"/>
                                        <p:tgtEl>
                                          <p:spTgt spid="160"/>
                                        </p:tgtEl>
                                        <p:attrNameLst>
                                          <p:attrName>ppt_w</p:attrName>
                                        </p:attrNameLst>
                                      </p:cBhvr>
                                      <p:tavLst>
                                        <p:tav tm="0">
                                          <p:val>
                                            <p:fltVal val="0"/>
                                          </p:val>
                                        </p:tav>
                                        <p:tav tm="100000">
                                          <p:val>
                                            <p:strVal val="#ppt_w"/>
                                          </p:val>
                                        </p:tav>
                                      </p:tavLst>
                                    </p:anim>
                                    <p:anim calcmode="lin" valueType="num">
                                      <p:cBhvr>
                                        <p:cTn id="68" dur="500" fill="hold"/>
                                        <p:tgtEl>
                                          <p:spTgt spid="160"/>
                                        </p:tgtEl>
                                        <p:attrNameLst>
                                          <p:attrName>ppt_h</p:attrName>
                                        </p:attrNameLst>
                                      </p:cBhvr>
                                      <p:tavLst>
                                        <p:tav tm="0">
                                          <p:val>
                                            <p:fltVal val="0"/>
                                          </p:val>
                                        </p:tav>
                                        <p:tav tm="100000">
                                          <p:val>
                                            <p:strVal val="#ppt_h"/>
                                          </p:val>
                                        </p:tav>
                                      </p:tavLst>
                                    </p:anim>
                                    <p:animEffect transition="in" filter="fade">
                                      <p:cBhvr>
                                        <p:cTn id="69" dur="500"/>
                                        <p:tgtEl>
                                          <p:spTgt spid="160"/>
                                        </p:tgtEl>
                                      </p:cBhvr>
                                    </p:animEffect>
                                  </p:childTnLst>
                                </p:cTn>
                              </p:par>
                              <p:par>
                                <p:cTn id="70" presetID="53" presetClass="entr" presetSubtype="16" fill="hold" nodeType="withEffect">
                                  <p:stCondLst>
                                    <p:cond delay="0"/>
                                  </p:stCondLst>
                                  <p:childTnLst>
                                    <p:set>
                                      <p:cBhvr>
                                        <p:cTn id="71" dur="1" fill="hold">
                                          <p:stCondLst>
                                            <p:cond delay="0"/>
                                          </p:stCondLst>
                                        </p:cTn>
                                        <p:tgtEl>
                                          <p:spTgt spid="171"/>
                                        </p:tgtEl>
                                        <p:attrNameLst>
                                          <p:attrName>style.visibility</p:attrName>
                                        </p:attrNameLst>
                                      </p:cBhvr>
                                      <p:to>
                                        <p:strVal val="visible"/>
                                      </p:to>
                                    </p:set>
                                    <p:anim calcmode="lin" valueType="num">
                                      <p:cBhvr>
                                        <p:cTn id="72" dur="500" fill="hold"/>
                                        <p:tgtEl>
                                          <p:spTgt spid="171"/>
                                        </p:tgtEl>
                                        <p:attrNameLst>
                                          <p:attrName>ppt_w</p:attrName>
                                        </p:attrNameLst>
                                      </p:cBhvr>
                                      <p:tavLst>
                                        <p:tav tm="0">
                                          <p:val>
                                            <p:fltVal val="0"/>
                                          </p:val>
                                        </p:tav>
                                        <p:tav tm="100000">
                                          <p:val>
                                            <p:strVal val="#ppt_w"/>
                                          </p:val>
                                        </p:tav>
                                      </p:tavLst>
                                    </p:anim>
                                    <p:anim calcmode="lin" valueType="num">
                                      <p:cBhvr>
                                        <p:cTn id="73" dur="500" fill="hold"/>
                                        <p:tgtEl>
                                          <p:spTgt spid="171"/>
                                        </p:tgtEl>
                                        <p:attrNameLst>
                                          <p:attrName>ppt_h</p:attrName>
                                        </p:attrNameLst>
                                      </p:cBhvr>
                                      <p:tavLst>
                                        <p:tav tm="0">
                                          <p:val>
                                            <p:fltVal val="0"/>
                                          </p:val>
                                        </p:tav>
                                        <p:tav tm="100000">
                                          <p:val>
                                            <p:strVal val="#ppt_h"/>
                                          </p:val>
                                        </p:tav>
                                      </p:tavLst>
                                    </p:anim>
                                    <p:animEffect transition="in" filter="fade">
                                      <p:cBhvr>
                                        <p:cTn id="74" dur="500"/>
                                        <p:tgtEl>
                                          <p:spTgt spid="171"/>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72"/>
                                        </p:tgtEl>
                                        <p:attrNameLst>
                                          <p:attrName>style.visibility</p:attrName>
                                        </p:attrNameLst>
                                      </p:cBhvr>
                                      <p:to>
                                        <p:strVal val="visible"/>
                                      </p:to>
                                    </p:set>
                                    <p:anim calcmode="lin" valueType="num">
                                      <p:cBhvr>
                                        <p:cTn id="77" dur="500" fill="hold"/>
                                        <p:tgtEl>
                                          <p:spTgt spid="172"/>
                                        </p:tgtEl>
                                        <p:attrNameLst>
                                          <p:attrName>ppt_w</p:attrName>
                                        </p:attrNameLst>
                                      </p:cBhvr>
                                      <p:tavLst>
                                        <p:tav tm="0">
                                          <p:val>
                                            <p:fltVal val="0"/>
                                          </p:val>
                                        </p:tav>
                                        <p:tav tm="100000">
                                          <p:val>
                                            <p:strVal val="#ppt_w"/>
                                          </p:val>
                                        </p:tav>
                                      </p:tavLst>
                                    </p:anim>
                                    <p:anim calcmode="lin" valueType="num">
                                      <p:cBhvr>
                                        <p:cTn id="78" dur="500" fill="hold"/>
                                        <p:tgtEl>
                                          <p:spTgt spid="172"/>
                                        </p:tgtEl>
                                        <p:attrNameLst>
                                          <p:attrName>ppt_h</p:attrName>
                                        </p:attrNameLst>
                                      </p:cBhvr>
                                      <p:tavLst>
                                        <p:tav tm="0">
                                          <p:val>
                                            <p:fltVal val="0"/>
                                          </p:val>
                                        </p:tav>
                                        <p:tav tm="100000">
                                          <p:val>
                                            <p:strVal val="#ppt_h"/>
                                          </p:val>
                                        </p:tav>
                                      </p:tavLst>
                                    </p:anim>
                                    <p:animEffect transition="in" filter="fade">
                                      <p:cBhvr>
                                        <p:cTn id="79" dur="500"/>
                                        <p:tgtEl>
                                          <p:spTgt spid="172"/>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73"/>
                                        </p:tgtEl>
                                        <p:attrNameLst>
                                          <p:attrName>style.visibility</p:attrName>
                                        </p:attrNameLst>
                                      </p:cBhvr>
                                      <p:to>
                                        <p:strVal val="visible"/>
                                      </p:to>
                                    </p:set>
                                    <p:anim calcmode="lin" valueType="num">
                                      <p:cBhvr>
                                        <p:cTn id="82" dur="500" fill="hold"/>
                                        <p:tgtEl>
                                          <p:spTgt spid="173"/>
                                        </p:tgtEl>
                                        <p:attrNameLst>
                                          <p:attrName>ppt_w</p:attrName>
                                        </p:attrNameLst>
                                      </p:cBhvr>
                                      <p:tavLst>
                                        <p:tav tm="0">
                                          <p:val>
                                            <p:fltVal val="0"/>
                                          </p:val>
                                        </p:tav>
                                        <p:tav tm="100000">
                                          <p:val>
                                            <p:strVal val="#ppt_w"/>
                                          </p:val>
                                        </p:tav>
                                      </p:tavLst>
                                    </p:anim>
                                    <p:anim calcmode="lin" valueType="num">
                                      <p:cBhvr>
                                        <p:cTn id="83" dur="500" fill="hold"/>
                                        <p:tgtEl>
                                          <p:spTgt spid="173"/>
                                        </p:tgtEl>
                                        <p:attrNameLst>
                                          <p:attrName>ppt_h</p:attrName>
                                        </p:attrNameLst>
                                      </p:cBhvr>
                                      <p:tavLst>
                                        <p:tav tm="0">
                                          <p:val>
                                            <p:fltVal val="0"/>
                                          </p:val>
                                        </p:tav>
                                        <p:tav tm="100000">
                                          <p:val>
                                            <p:strVal val="#ppt_h"/>
                                          </p:val>
                                        </p:tav>
                                      </p:tavLst>
                                    </p:anim>
                                    <p:animEffect transition="in" filter="fade">
                                      <p:cBhvr>
                                        <p:cTn id="84" dur="500"/>
                                        <p:tgtEl>
                                          <p:spTgt spid="173"/>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74"/>
                                        </p:tgtEl>
                                        <p:attrNameLst>
                                          <p:attrName>style.visibility</p:attrName>
                                        </p:attrNameLst>
                                      </p:cBhvr>
                                      <p:to>
                                        <p:strVal val="visible"/>
                                      </p:to>
                                    </p:set>
                                    <p:anim calcmode="lin" valueType="num">
                                      <p:cBhvr>
                                        <p:cTn id="87" dur="500" fill="hold"/>
                                        <p:tgtEl>
                                          <p:spTgt spid="174"/>
                                        </p:tgtEl>
                                        <p:attrNameLst>
                                          <p:attrName>ppt_w</p:attrName>
                                        </p:attrNameLst>
                                      </p:cBhvr>
                                      <p:tavLst>
                                        <p:tav tm="0">
                                          <p:val>
                                            <p:fltVal val="0"/>
                                          </p:val>
                                        </p:tav>
                                        <p:tav tm="100000">
                                          <p:val>
                                            <p:strVal val="#ppt_w"/>
                                          </p:val>
                                        </p:tav>
                                      </p:tavLst>
                                    </p:anim>
                                    <p:anim calcmode="lin" valueType="num">
                                      <p:cBhvr>
                                        <p:cTn id="88" dur="500" fill="hold"/>
                                        <p:tgtEl>
                                          <p:spTgt spid="174"/>
                                        </p:tgtEl>
                                        <p:attrNameLst>
                                          <p:attrName>ppt_h</p:attrName>
                                        </p:attrNameLst>
                                      </p:cBhvr>
                                      <p:tavLst>
                                        <p:tav tm="0">
                                          <p:val>
                                            <p:fltVal val="0"/>
                                          </p:val>
                                        </p:tav>
                                        <p:tav tm="100000">
                                          <p:val>
                                            <p:strVal val="#ppt_h"/>
                                          </p:val>
                                        </p:tav>
                                      </p:tavLst>
                                    </p:anim>
                                    <p:animEffect transition="in" filter="fade">
                                      <p:cBhvr>
                                        <p:cTn id="89" dur="500"/>
                                        <p:tgtEl>
                                          <p:spTgt spid="174"/>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6"/>
                                        </p:tgtEl>
                                        <p:attrNameLst>
                                          <p:attrName>style.visibility</p:attrName>
                                        </p:attrNameLst>
                                      </p:cBhvr>
                                      <p:to>
                                        <p:strVal val="visible"/>
                                      </p:to>
                                    </p:set>
                                    <p:anim calcmode="lin" valueType="num">
                                      <p:cBhvr>
                                        <p:cTn id="92" dur="500" fill="hold"/>
                                        <p:tgtEl>
                                          <p:spTgt spid="176"/>
                                        </p:tgtEl>
                                        <p:attrNameLst>
                                          <p:attrName>ppt_w</p:attrName>
                                        </p:attrNameLst>
                                      </p:cBhvr>
                                      <p:tavLst>
                                        <p:tav tm="0">
                                          <p:val>
                                            <p:fltVal val="0"/>
                                          </p:val>
                                        </p:tav>
                                        <p:tav tm="100000">
                                          <p:val>
                                            <p:strVal val="#ppt_w"/>
                                          </p:val>
                                        </p:tav>
                                      </p:tavLst>
                                    </p:anim>
                                    <p:anim calcmode="lin" valueType="num">
                                      <p:cBhvr>
                                        <p:cTn id="93" dur="500" fill="hold"/>
                                        <p:tgtEl>
                                          <p:spTgt spid="176"/>
                                        </p:tgtEl>
                                        <p:attrNameLst>
                                          <p:attrName>ppt_h</p:attrName>
                                        </p:attrNameLst>
                                      </p:cBhvr>
                                      <p:tavLst>
                                        <p:tav tm="0">
                                          <p:val>
                                            <p:fltVal val="0"/>
                                          </p:val>
                                        </p:tav>
                                        <p:tav tm="100000">
                                          <p:val>
                                            <p:strVal val="#ppt_h"/>
                                          </p:val>
                                        </p:tav>
                                      </p:tavLst>
                                    </p:anim>
                                    <p:animEffect transition="in" filter="fade">
                                      <p:cBhvr>
                                        <p:cTn id="94" dur="500"/>
                                        <p:tgtEl>
                                          <p:spTgt spid="176"/>
                                        </p:tgtEl>
                                      </p:cBhvr>
                                    </p:animEffect>
                                  </p:childTnLst>
                                </p:cTn>
                              </p:par>
                              <p:par>
                                <p:cTn id="95" presetID="53" presetClass="entr" presetSubtype="16" fill="hold" nodeType="withEffect">
                                  <p:stCondLst>
                                    <p:cond delay="0"/>
                                  </p:stCondLst>
                                  <p:childTnLst>
                                    <p:set>
                                      <p:cBhvr>
                                        <p:cTn id="96" dur="1" fill="hold">
                                          <p:stCondLst>
                                            <p:cond delay="0"/>
                                          </p:stCondLst>
                                        </p:cTn>
                                        <p:tgtEl>
                                          <p:spTgt spid="177"/>
                                        </p:tgtEl>
                                        <p:attrNameLst>
                                          <p:attrName>style.visibility</p:attrName>
                                        </p:attrNameLst>
                                      </p:cBhvr>
                                      <p:to>
                                        <p:strVal val="visible"/>
                                      </p:to>
                                    </p:set>
                                    <p:anim calcmode="lin" valueType="num">
                                      <p:cBhvr>
                                        <p:cTn id="97" dur="500" fill="hold"/>
                                        <p:tgtEl>
                                          <p:spTgt spid="177"/>
                                        </p:tgtEl>
                                        <p:attrNameLst>
                                          <p:attrName>ppt_w</p:attrName>
                                        </p:attrNameLst>
                                      </p:cBhvr>
                                      <p:tavLst>
                                        <p:tav tm="0">
                                          <p:val>
                                            <p:fltVal val="0"/>
                                          </p:val>
                                        </p:tav>
                                        <p:tav tm="100000">
                                          <p:val>
                                            <p:strVal val="#ppt_w"/>
                                          </p:val>
                                        </p:tav>
                                      </p:tavLst>
                                    </p:anim>
                                    <p:anim calcmode="lin" valueType="num">
                                      <p:cBhvr>
                                        <p:cTn id="98" dur="500" fill="hold"/>
                                        <p:tgtEl>
                                          <p:spTgt spid="177"/>
                                        </p:tgtEl>
                                        <p:attrNameLst>
                                          <p:attrName>ppt_h</p:attrName>
                                        </p:attrNameLst>
                                      </p:cBhvr>
                                      <p:tavLst>
                                        <p:tav tm="0">
                                          <p:val>
                                            <p:fltVal val="0"/>
                                          </p:val>
                                        </p:tav>
                                        <p:tav tm="100000">
                                          <p:val>
                                            <p:strVal val="#ppt_h"/>
                                          </p:val>
                                        </p:tav>
                                      </p:tavLst>
                                    </p:anim>
                                    <p:animEffect transition="in" filter="fade">
                                      <p:cBhvr>
                                        <p:cTn id="99" dur="500"/>
                                        <p:tgtEl>
                                          <p:spTgt spid="177"/>
                                        </p:tgtEl>
                                      </p:cBhvr>
                                    </p:animEffect>
                                  </p:childTnLst>
                                </p:cTn>
                              </p:par>
                              <p:par>
                                <p:cTn id="100" presetID="53" presetClass="entr" presetSubtype="16" fill="hold" nodeType="withEffect">
                                  <p:stCondLst>
                                    <p:cond delay="0"/>
                                  </p:stCondLst>
                                  <p:childTnLst>
                                    <p:set>
                                      <p:cBhvr>
                                        <p:cTn id="101" dur="1" fill="hold">
                                          <p:stCondLst>
                                            <p:cond delay="0"/>
                                          </p:stCondLst>
                                        </p:cTn>
                                        <p:tgtEl>
                                          <p:spTgt spid="190"/>
                                        </p:tgtEl>
                                        <p:attrNameLst>
                                          <p:attrName>style.visibility</p:attrName>
                                        </p:attrNameLst>
                                      </p:cBhvr>
                                      <p:to>
                                        <p:strVal val="visible"/>
                                      </p:to>
                                    </p:set>
                                    <p:anim calcmode="lin" valueType="num">
                                      <p:cBhvr>
                                        <p:cTn id="102" dur="500" fill="hold"/>
                                        <p:tgtEl>
                                          <p:spTgt spid="190"/>
                                        </p:tgtEl>
                                        <p:attrNameLst>
                                          <p:attrName>ppt_w</p:attrName>
                                        </p:attrNameLst>
                                      </p:cBhvr>
                                      <p:tavLst>
                                        <p:tav tm="0">
                                          <p:val>
                                            <p:fltVal val="0"/>
                                          </p:val>
                                        </p:tav>
                                        <p:tav tm="100000">
                                          <p:val>
                                            <p:strVal val="#ppt_w"/>
                                          </p:val>
                                        </p:tav>
                                      </p:tavLst>
                                    </p:anim>
                                    <p:anim calcmode="lin" valueType="num">
                                      <p:cBhvr>
                                        <p:cTn id="103" dur="500" fill="hold"/>
                                        <p:tgtEl>
                                          <p:spTgt spid="190"/>
                                        </p:tgtEl>
                                        <p:attrNameLst>
                                          <p:attrName>ppt_h</p:attrName>
                                        </p:attrNameLst>
                                      </p:cBhvr>
                                      <p:tavLst>
                                        <p:tav tm="0">
                                          <p:val>
                                            <p:fltVal val="0"/>
                                          </p:val>
                                        </p:tav>
                                        <p:tav tm="100000">
                                          <p:val>
                                            <p:strVal val="#ppt_h"/>
                                          </p:val>
                                        </p:tav>
                                      </p:tavLst>
                                    </p:anim>
                                    <p:animEffect transition="in" filter="fade">
                                      <p:cBhvr>
                                        <p:cTn id="104" dur="500"/>
                                        <p:tgtEl>
                                          <p:spTgt spid="190"/>
                                        </p:tgtEl>
                                      </p:cBhvr>
                                    </p:animEffect>
                                  </p:childTnLst>
                                </p:cTn>
                              </p:par>
                              <p:par>
                                <p:cTn id="105" presetID="53" presetClass="entr" presetSubtype="16" fill="hold" nodeType="withEffect">
                                  <p:stCondLst>
                                    <p:cond delay="0"/>
                                  </p:stCondLst>
                                  <p:childTnLst>
                                    <p:set>
                                      <p:cBhvr>
                                        <p:cTn id="106" dur="1" fill="hold">
                                          <p:stCondLst>
                                            <p:cond delay="0"/>
                                          </p:stCondLst>
                                        </p:cTn>
                                        <p:tgtEl>
                                          <p:spTgt spid="204"/>
                                        </p:tgtEl>
                                        <p:attrNameLst>
                                          <p:attrName>style.visibility</p:attrName>
                                        </p:attrNameLst>
                                      </p:cBhvr>
                                      <p:to>
                                        <p:strVal val="visible"/>
                                      </p:to>
                                    </p:set>
                                    <p:anim calcmode="lin" valueType="num">
                                      <p:cBhvr>
                                        <p:cTn id="107" dur="500" fill="hold"/>
                                        <p:tgtEl>
                                          <p:spTgt spid="204"/>
                                        </p:tgtEl>
                                        <p:attrNameLst>
                                          <p:attrName>ppt_w</p:attrName>
                                        </p:attrNameLst>
                                      </p:cBhvr>
                                      <p:tavLst>
                                        <p:tav tm="0">
                                          <p:val>
                                            <p:fltVal val="0"/>
                                          </p:val>
                                        </p:tav>
                                        <p:tav tm="100000">
                                          <p:val>
                                            <p:strVal val="#ppt_w"/>
                                          </p:val>
                                        </p:tav>
                                      </p:tavLst>
                                    </p:anim>
                                    <p:anim calcmode="lin" valueType="num">
                                      <p:cBhvr>
                                        <p:cTn id="108" dur="500" fill="hold"/>
                                        <p:tgtEl>
                                          <p:spTgt spid="204"/>
                                        </p:tgtEl>
                                        <p:attrNameLst>
                                          <p:attrName>ppt_h</p:attrName>
                                        </p:attrNameLst>
                                      </p:cBhvr>
                                      <p:tavLst>
                                        <p:tav tm="0">
                                          <p:val>
                                            <p:fltVal val="0"/>
                                          </p:val>
                                        </p:tav>
                                        <p:tav tm="100000">
                                          <p:val>
                                            <p:strVal val="#ppt_h"/>
                                          </p:val>
                                        </p:tav>
                                      </p:tavLst>
                                    </p:anim>
                                    <p:animEffect transition="in" filter="fade">
                                      <p:cBhvr>
                                        <p:cTn id="109" dur="500"/>
                                        <p:tgtEl>
                                          <p:spTgt spid="204"/>
                                        </p:tgtEl>
                                      </p:cBhvr>
                                    </p:animEffect>
                                  </p:childTnLst>
                                </p:cTn>
                              </p:par>
                              <p:par>
                                <p:cTn id="110" presetID="53" presetClass="entr" presetSubtype="16" fill="hold" nodeType="withEffect">
                                  <p:stCondLst>
                                    <p:cond delay="0"/>
                                  </p:stCondLst>
                                  <p:childTnLst>
                                    <p:set>
                                      <p:cBhvr>
                                        <p:cTn id="111" dur="1" fill="hold">
                                          <p:stCondLst>
                                            <p:cond delay="0"/>
                                          </p:stCondLst>
                                        </p:cTn>
                                        <p:tgtEl>
                                          <p:spTgt spid="259"/>
                                        </p:tgtEl>
                                        <p:attrNameLst>
                                          <p:attrName>style.visibility</p:attrName>
                                        </p:attrNameLst>
                                      </p:cBhvr>
                                      <p:to>
                                        <p:strVal val="visible"/>
                                      </p:to>
                                    </p:set>
                                    <p:anim calcmode="lin" valueType="num">
                                      <p:cBhvr>
                                        <p:cTn id="112" dur="500" fill="hold"/>
                                        <p:tgtEl>
                                          <p:spTgt spid="259"/>
                                        </p:tgtEl>
                                        <p:attrNameLst>
                                          <p:attrName>ppt_w</p:attrName>
                                        </p:attrNameLst>
                                      </p:cBhvr>
                                      <p:tavLst>
                                        <p:tav tm="0">
                                          <p:val>
                                            <p:fltVal val="0"/>
                                          </p:val>
                                        </p:tav>
                                        <p:tav tm="100000">
                                          <p:val>
                                            <p:strVal val="#ppt_w"/>
                                          </p:val>
                                        </p:tav>
                                      </p:tavLst>
                                    </p:anim>
                                    <p:anim calcmode="lin" valueType="num">
                                      <p:cBhvr>
                                        <p:cTn id="113" dur="500" fill="hold"/>
                                        <p:tgtEl>
                                          <p:spTgt spid="259"/>
                                        </p:tgtEl>
                                        <p:attrNameLst>
                                          <p:attrName>ppt_h</p:attrName>
                                        </p:attrNameLst>
                                      </p:cBhvr>
                                      <p:tavLst>
                                        <p:tav tm="0">
                                          <p:val>
                                            <p:fltVal val="0"/>
                                          </p:val>
                                        </p:tav>
                                        <p:tav tm="100000">
                                          <p:val>
                                            <p:strVal val="#ppt_h"/>
                                          </p:val>
                                        </p:tav>
                                      </p:tavLst>
                                    </p:anim>
                                    <p:animEffect transition="in" filter="fade">
                                      <p:cBhvr>
                                        <p:cTn id="114" dur="500"/>
                                        <p:tgtEl>
                                          <p:spTgt spid="259"/>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8"/>
                                        </p:tgtEl>
                                        <p:attrNameLst>
                                          <p:attrName>style.visibility</p:attrName>
                                        </p:attrNameLst>
                                      </p:cBhvr>
                                      <p:to>
                                        <p:strVal val="visible"/>
                                      </p:to>
                                    </p:set>
                                    <p:anim calcmode="lin" valueType="num">
                                      <p:cBhvr>
                                        <p:cTn id="117" dur="500" fill="hold"/>
                                        <p:tgtEl>
                                          <p:spTgt spid="8"/>
                                        </p:tgtEl>
                                        <p:attrNameLst>
                                          <p:attrName>ppt_w</p:attrName>
                                        </p:attrNameLst>
                                      </p:cBhvr>
                                      <p:tavLst>
                                        <p:tav tm="0">
                                          <p:val>
                                            <p:fltVal val="0"/>
                                          </p:val>
                                        </p:tav>
                                        <p:tav tm="100000">
                                          <p:val>
                                            <p:strVal val="#ppt_w"/>
                                          </p:val>
                                        </p:tav>
                                      </p:tavLst>
                                    </p:anim>
                                    <p:anim calcmode="lin" valueType="num">
                                      <p:cBhvr>
                                        <p:cTn id="118" dur="500" fill="hold"/>
                                        <p:tgtEl>
                                          <p:spTgt spid="8"/>
                                        </p:tgtEl>
                                        <p:attrNameLst>
                                          <p:attrName>ppt_h</p:attrName>
                                        </p:attrNameLst>
                                      </p:cBhvr>
                                      <p:tavLst>
                                        <p:tav tm="0">
                                          <p:val>
                                            <p:fltVal val="0"/>
                                          </p:val>
                                        </p:tav>
                                        <p:tav tm="100000">
                                          <p:val>
                                            <p:strVal val="#ppt_h"/>
                                          </p:val>
                                        </p:tav>
                                      </p:tavLst>
                                    </p:anim>
                                    <p:animEffect transition="in" filter="fade">
                                      <p:cBhvr>
                                        <p:cTn id="119" dur="500"/>
                                        <p:tgtEl>
                                          <p:spTgt spid="8"/>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9"/>
                                        </p:tgtEl>
                                        <p:attrNameLst>
                                          <p:attrName>style.visibility</p:attrName>
                                        </p:attrNameLst>
                                      </p:cBhvr>
                                      <p:to>
                                        <p:strVal val="visible"/>
                                      </p:to>
                                    </p:set>
                                    <p:anim calcmode="lin" valueType="num">
                                      <p:cBhvr>
                                        <p:cTn id="122" dur="500" fill="hold"/>
                                        <p:tgtEl>
                                          <p:spTgt spid="9"/>
                                        </p:tgtEl>
                                        <p:attrNameLst>
                                          <p:attrName>ppt_w</p:attrName>
                                        </p:attrNameLst>
                                      </p:cBhvr>
                                      <p:tavLst>
                                        <p:tav tm="0">
                                          <p:val>
                                            <p:fltVal val="0"/>
                                          </p:val>
                                        </p:tav>
                                        <p:tav tm="100000">
                                          <p:val>
                                            <p:strVal val="#ppt_w"/>
                                          </p:val>
                                        </p:tav>
                                      </p:tavLst>
                                    </p:anim>
                                    <p:anim calcmode="lin" valueType="num">
                                      <p:cBhvr>
                                        <p:cTn id="123" dur="500" fill="hold"/>
                                        <p:tgtEl>
                                          <p:spTgt spid="9"/>
                                        </p:tgtEl>
                                        <p:attrNameLst>
                                          <p:attrName>ppt_h</p:attrName>
                                        </p:attrNameLst>
                                      </p:cBhvr>
                                      <p:tavLst>
                                        <p:tav tm="0">
                                          <p:val>
                                            <p:fltVal val="0"/>
                                          </p:val>
                                        </p:tav>
                                        <p:tav tm="100000">
                                          <p:val>
                                            <p:strVal val="#ppt_h"/>
                                          </p:val>
                                        </p:tav>
                                      </p:tavLst>
                                    </p:anim>
                                    <p:animEffect transition="in" filter="fade">
                                      <p:cBhvr>
                                        <p:cTn id="124" dur="500"/>
                                        <p:tgtEl>
                                          <p:spTgt spid="9"/>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10"/>
                                        </p:tgtEl>
                                        <p:attrNameLst>
                                          <p:attrName>style.visibility</p:attrName>
                                        </p:attrNameLst>
                                      </p:cBhvr>
                                      <p:to>
                                        <p:strVal val="visible"/>
                                      </p:to>
                                    </p:set>
                                    <p:anim calcmode="lin" valueType="num">
                                      <p:cBhvr>
                                        <p:cTn id="127" dur="500" fill="hold"/>
                                        <p:tgtEl>
                                          <p:spTgt spid="10"/>
                                        </p:tgtEl>
                                        <p:attrNameLst>
                                          <p:attrName>ppt_w</p:attrName>
                                        </p:attrNameLst>
                                      </p:cBhvr>
                                      <p:tavLst>
                                        <p:tav tm="0">
                                          <p:val>
                                            <p:fltVal val="0"/>
                                          </p:val>
                                        </p:tav>
                                        <p:tav tm="100000">
                                          <p:val>
                                            <p:strVal val="#ppt_w"/>
                                          </p:val>
                                        </p:tav>
                                      </p:tavLst>
                                    </p:anim>
                                    <p:anim calcmode="lin" valueType="num">
                                      <p:cBhvr>
                                        <p:cTn id="128" dur="500" fill="hold"/>
                                        <p:tgtEl>
                                          <p:spTgt spid="10"/>
                                        </p:tgtEl>
                                        <p:attrNameLst>
                                          <p:attrName>ppt_h</p:attrName>
                                        </p:attrNameLst>
                                      </p:cBhvr>
                                      <p:tavLst>
                                        <p:tav tm="0">
                                          <p:val>
                                            <p:fltVal val="0"/>
                                          </p:val>
                                        </p:tav>
                                        <p:tav tm="100000">
                                          <p:val>
                                            <p:strVal val="#ppt_h"/>
                                          </p:val>
                                        </p:tav>
                                      </p:tavLst>
                                    </p:anim>
                                    <p:animEffect transition="in" filter="fade">
                                      <p:cBhvr>
                                        <p:cTn id="129" dur="500"/>
                                        <p:tgtEl>
                                          <p:spTgt spid="10"/>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16"/>
                                        </p:tgtEl>
                                        <p:attrNameLst>
                                          <p:attrName>style.visibility</p:attrName>
                                        </p:attrNameLst>
                                      </p:cBhvr>
                                      <p:to>
                                        <p:strVal val="visible"/>
                                      </p:to>
                                    </p:set>
                                    <p:anim calcmode="lin" valueType="num">
                                      <p:cBhvr>
                                        <p:cTn id="132" dur="500" fill="hold"/>
                                        <p:tgtEl>
                                          <p:spTgt spid="16"/>
                                        </p:tgtEl>
                                        <p:attrNameLst>
                                          <p:attrName>ppt_w</p:attrName>
                                        </p:attrNameLst>
                                      </p:cBhvr>
                                      <p:tavLst>
                                        <p:tav tm="0">
                                          <p:val>
                                            <p:fltVal val="0"/>
                                          </p:val>
                                        </p:tav>
                                        <p:tav tm="100000">
                                          <p:val>
                                            <p:strVal val="#ppt_w"/>
                                          </p:val>
                                        </p:tav>
                                      </p:tavLst>
                                    </p:anim>
                                    <p:anim calcmode="lin" valueType="num">
                                      <p:cBhvr>
                                        <p:cTn id="133" dur="500" fill="hold"/>
                                        <p:tgtEl>
                                          <p:spTgt spid="16"/>
                                        </p:tgtEl>
                                        <p:attrNameLst>
                                          <p:attrName>ppt_h</p:attrName>
                                        </p:attrNameLst>
                                      </p:cBhvr>
                                      <p:tavLst>
                                        <p:tav tm="0">
                                          <p:val>
                                            <p:fltVal val="0"/>
                                          </p:val>
                                        </p:tav>
                                        <p:tav tm="100000">
                                          <p:val>
                                            <p:strVal val="#ppt_h"/>
                                          </p:val>
                                        </p:tav>
                                      </p:tavLst>
                                    </p:anim>
                                    <p:animEffect transition="in" filter="fade">
                                      <p:cBhvr>
                                        <p:cTn id="134" dur="500"/>
                                        <p:tgtEl>
                                          <p:spTgt spid="16"/>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
                                        </p:tgtEl>
                                        <p:attrNameLst>
                                          <p:attrName>style.visibility</p:attrName>
                                        </p:attrNameLst>
                                      </p:cBhvr>
                                      <p:to>
                                        <p:strVal val="visible"/>
                                      </p:to>
                                    </p:set>
                                    <p:anim calcmode="lin" valueType="num">
                                      <p:cBhvr>
                                        <p:cTn id="137" dur="500" fill="hold"/>
                                        <p:tgtEl>
                                          <p:spTgt spid="3"/>
                                        </p:tgtEl>
                                        <p:attrNameLst>
                                          <p:attrName>ppt_w</p:attrName>
                                        </p:attrNameLst>
                                      </p:cBhvr>
                                      <p:tavLst>
                                        <p:tav tm="0">
                                          <p:val>
                                            <p:fltVal val="0"/>
                                          </p:val>
                                        </p:tav>
                                        <p:tav tm="100000">
                                          <p:val>
                                            <p:strVal val="#ppt_w"/>
                                          </p:val>
                                        </p:tav>
                                      </p:tavLst>
                                    </p:anim>
                                    <p:anim calcmode="lin" valueType="num">
                                      <p:cBhvr>
                                        <p:cTn id="138" dur="500" fill="hold"/>
                                        <p:tgtEl>
                                          <p:spTgt spid="3"/>
                                        </p:tgtEl>
                                        <p:attrNameLst>
                                          <p:attrName>ppt_h</p:attrName>
                                        </p:attrNameLst>
                                      </p:cBhvr>
                                      <p:tavLst>
                                        <p:tav tm="0">
                                          <p:val>
                                            <p:fltVal val="0"/>
                                          </p:val>
                                        </p:tav>
                                        <p:tav tm="100000">
                                          <p:val>
                                            <p:strVal val="#ppt_h"/>
                                          </p:val>
                                        </p:tav>
                                      </p:tavLst>
                                    </p:anim>
                                    <p:animEffect transition="in" filter="fade">
                                      <p:cBhvr>
                                        <p:cTn id="139" dur="500"/>
                                        <p:tgtEl>
                                          <p:spTgt spid="3"/>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4"/>
                                        </p:tgtEl>
                                        <p:attrNameLst>
                                          <p:attrName>style.visibility</p:attrName>
                                        </p:attrNameLst>
                                      </p:cBhvr>
                                      <p:to>
                                        <p:strVal val="visible"/>
                                      </p:to>
                                    </p:set>
                                    <p:anim calcmode="lin" valueType="num">
                                      <p:cBhvr>
                                        <p:cTn id="142" dur="500" fill="hold"/>
                                        <p:tgtEl>
                                          <p:spTgt spid="4"/>
                                        </p:tgtEl>
                                        <p:attrNameLst>
                                          <p:attrName>ppt_w</p:attrName>
                                        </p:attrNameLst>
                                      </p:cBhvr>
                                      <p:tavLst>
                                        <p:tav tm="0">
                                          <p:val>
                                            <p:fltVal val="0"/>
                                          </p:val>
                                        </p:tav>
                                        <p:tav tm="100000">
                                          <p:val>
                                            <p:strVal val="#ppt_w"/>
                                          </p:val>
                                        </p:tav>
                                      </p:tavLst>
                                    </p:anim>
                                    <p:anim calcmode="lin" valueType="num">
                                      <p:cBhvr>
                                        <p:cTn id="143" dur="500" fill="hold"/>
                                        <p:tgtEl>
                                          <p:spTgt spid="4"/>
                                        </p:tgtEl>
                                        <p:attrNameLst>
                                          <p:attrName>ppt_h</p:attrName>
                                        </p:attrNameLst>
                                      </p:cBhvr>
                                      <p:tavLst>
                                        <p:tav tm="0">
                                          <p:val>
                                            <p:fltVal val="0"/>
                                          </p:val>
                                        </p:tav>
                                        <p:tav tm="100000">
                                          <p:val>
                                            <p:strVal val="#ppt_h"/>
                                          </p:val>
                                        </p:tav>
                                      </p:tavLst>
                                    </p:anim>
                                    <p:animEffect transition="in" filter="fade">
                                      <p:cBhvr>
                                        <p:cTn id="144" dur="500"/>
                                        <p:tgtEl>
                                          <p:spTgt spid="4"/>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5"/>
                                        </p:tgtEl>
                                        <p:attrNameLst>
                                          <p:attrName>style.visibility</p:attrName>
                                        </p:attrNameLst>
                                      </p:cBhvr>
                                      <p:to>
                                        <p:strVal val="visible"/>
                                      </p:to>
                                    </p:set>
                                    <p:anim calcmode="lin" valueType="num">
                                      <p:cBhvr>
                                        <p:cTn id="147" dur="500" fill="hold"/>
                                        <p:tgtEl>
                                          <p:spTgt spid="5"/>
                                        </p:tgtEl>
                                        <p:attrNameLst>
                                          <p:attrName>ppt_w</p:attrName>
                                        </p:attrNameLst>
                                      </p:cBhvr>
                                      <p:tavLst>
                                        <p:tav tm="0">
                                          <p:val>
                                            <p:fltVal val="0"/>
                                          </p:val>
                                        </p:tav>
                                        <p:tav tm="100000">
                                          <p:val>
                                            <p:strVal val="#ppt_w"/>
                                          </p:val>
                                        </p:tav>
                                      </p:tavLst>
                                    </p:anim>
                                    <p:anim calcmode="lin" valueType="num">
                                      <p:cBhvr>
                                        <p:cTn id="148" dur="500" fill="hold"/>
                                        <p:tgtEl>
                                          <p:spTgt spid="5"/>
                                        </p:tgtEl>
                                        <p:attrNameLst>
                                          <p:attrName>ppt_h</p:attrName>
                                        </p:attrNameLst>
                                      </p:cBhvr>
                                      <p:tavLst>
                                        <p:tav tm="0">
                                          <p:val>
                                            <p:fltVal val="0"/>
                                          </p:val>
                                        </p:tav>
                                        <p:tav tm="100000">
                                          <p:val>
                                            <p:strVal val="#ppt_h"/>
                                          </p:val>
                                        </p:tav>
                                      </p:tavLst>
                                    </p:anim>
                                    <p:animEffect transition="in" filter="fade">
                                      <p:cBhvr>
                                        <p:cTn id="1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130" grpId="0"/>
      <p:bldP spid="131" grpId="0"/>
      <p:bldP spid="132" grpId="0"/>
      <p:bldP spid="149" grpId="0"/>
      <p:bldP spid="150" grpId="0" animBg="1"/>
      <p:bldP spid="158" grpId="0"/>
      <p:bldP spid="159" grpId="0" animBg="1"/>
      <p:bldP spid="160" grpId="0"/>
      <p:bldP spid="172" grpId="0"/>
      <p:bldP spid="173" grpId="0"/>
      <p:bldP spid="174" grpId="0"/>
      <p:bldP spid="176" grpId="0"/>
      <p:bldP spid="8" grpId="0"/>
      <p:bldP spid="9" grpId="0"/>
      <p:bldP spid="10" grpId="0"/>
      <p:bldP spid="16" grpId="0"/>
      <p:bldP spid="3" grpId="0"/>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文本框 115"/>
          <p:cNvSpPr txBox="1"/>
          <p:nvPr/>
        </p:nvSpPr>
        <p:spPr>
          <a:xfrm>
            <a:off x="54905" y="25171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0" name="文本框 129"/>
          <p:cNvSpPr txBox="1"/>
          <p:nvPr/>
        </p:nvSpPr>
        <p:spPr>
          <a:xfrm>
            <a:off x="2764782" y="26123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1" name="文本框 130"/>
          <p:cNvSpPr txBox="1"/>
          <p:nvPr/>
        </p:nvSpPr>
        <p:spPr>
          <a:xfrm>
            <a:off x="5431797" y="242175"/>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822802" cy="6822802"/>
          </a:xfrm>
          <a:prstGeom prst="rect">
            <a:avLst/>
          </a:prstGeom>
        </p:spPr>
      </p:pic>
      <p:sp>
        <p:nvSpPr>
          <p:cNvPr id="13" name="文本框 12"/>
          <p:cNvSpPr txBox="1"/>
          <p:nvPr/>
        </p:nvSpPr>
        <p:spPr>
          <a:xfrm>
            <a:off x="7215188" y="1583310"/>
            <a:ext cx="4586287" cy="2062103"/>
          </a:xfrm>
          <a:prstGeom prst="rect">
            <a:avLst/>
          </a:prstGeom>
          <a:noFill/>
        </p:spPr>
        <p:txBody>
          <a:bodyPr wrap="square" rtlCol="0">
            <a:spAutoFit/>
          </a:bodyPr>
          <a:lstStyle/>
          <a:p>
            <a:pPr algn="ctr"/>
            <a:r>
              <a:rPr lang="en-US" altLang="zh-CN" sz="4800" b="1" dirty="0">
                <a:solidFill>
                  <a:srgbClr val="1F487C"/>
                </a:solidFill>
                <a:latin typeface="微软雅黑" panose="020B0503020204020204" pitchFamily="34" charset="-122"/>
                <a:ea typeface="微软雅黑" panose="020B0503020204020204" pitchFamily="34" charset="-122"/>
              </a:rPr>
              <a:t>Part1 </a:t>
            </a:r>
          </a:p>
          <a:p>
            <a:pPr algn="ctr"/>
            <a:r>
              <a:rPr lang="zh-CN" altLang="en-US" sz="4800" b="1" dirty="0">
                <a:solidFill>
                  <a:srgbClr val="1F487C"/>
                </a:solidFill>
                <a:latin typeface="微软雅黑" panose="020B0503020204020204" pitchFamily="34" charset="-122"/>
                <a:ea typeface="微软雅黑" panose="020B0503020204020204" pitchFamily="34" charset="-122"/>
              </a:rPr>
              <a:t>公司简介</a:t>
            </a:r>
            <a:endParaRPr lang="en-US" altLang="zh-CN" sz="4800" b="1" dirty="0">
              <a:solidFill>
                <a:srgbClr val="1F487C"/>
              </a:solidFill>
              <a:latin typeface="微软雅黑" panose="020B0503020204020204" pitchFamily="34" charset="-122"/>
              <a:ea typeface="微软雅黑" panose="020B0503020204020204" pitchFamily="34" charset="-122"/>
            </a:endParaRPr>
          </a:p>
          <a:p>
            <a:pPr algn="ctr"/>
            <a:endParaRPr lang="en-US" altLang="zh-CN" sz="3200" b="1" dirty="0">
              <a:solidFill>
                <a:srgbClr val="1F487C"/>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576761E5-316A-053C-682E-DFEACFF1BE3F}"/>
              </a:ext>
            </a:extLst>
          </p:cNvPr>
          <p:cNvSpPr txBox="1"/>
          <p:nvPr/>
        </p:nvSpPr>
        <p:spPr>
          <a:xfrm flipH="1">
            <a:off x="8411106" y="3429000"/>
            <a:ext cx="2300287" cy="130888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公司简介</a:t>
            </a:r>
            <a:endParaRPr lang="en-US" altLang="zh-CN" sz="2800" b="1" dirty="0">
              <a:solidFill>
                <a:srgbClr val="1F487C"/>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产品演进</a:t>
            </a:r>
            <a:endParaRPr lang="en-US" altLang="zh-CN" sz="2800" b="1" dirty="0">
              <a:solidFill>
                <a:srgbClr val="1F487C"/>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0108" y="268351"/>
            <a:ext cx="138638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公司简介</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18527" y="1131929"/>
            <a:ext cx="10554883" cy="2830471"/>
          </a:xfrm>
          <a:prstGeom prst="rect">
            <a:avLst/>
          </a:prstGeom>
          <a:noFill/>
        </p:spPr>
        <p:txBody>
          <a:bodyPr wrap="square" rtlCol="0" anchor="t">
            <a:noAutofit/>
          </a:bodyPr>
          <a:lstStyle/>
          <a:p>
            <a:pPr marL="285750" indent="-285750" algn="just">
              <a:lnSpc>
                <a:spcPct val="150000"/>
              </a:lnSpc>
              <a:buFont typeface="Wingdings" panose="05000000000000000000" pitchFamily="2" charset="2"/>
              <a:buChar char="ü"/>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翰云时代成立</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于</a:t>
            </a:r>
            <a:r>
              <a:rPr lang="en-US" sz="2000" dirty="0">
                <a:solidFill>
                  <a:schemeClr val="tx1">
                    <a:lumMod val="65000"/>
                    <a:lumOff val="35000"/>
                  </a:schemeClr>
                </a:solidFill>
                <a:latin typeface="微软雅黑" panose="020B0503020204020204" pitchFamily="34" charset="-122"/>
                <a:ea typeface="微软雅黑" panose="020B0503020204020204" pitchFamily="34" charset="-122"/>
              </a:rPr>
              <a:t>2011</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年，注册资本金</a:t>
            </a:r>
            <a:r>
              <a:rPr lang="en-US" sz="2000" dirty="0">
                <a:solidFill>
                  <a:schemeClr val="tx1">
                    <a:lumMod val="65000"/>
                    <a:lumOff val="35000"/>
                  </a:schemeClr>
                </a:solidFill>
                <a:latin typeface="微软雅黑" panose="020B0503020204020204" pitchFamily="34" charset="-122"/>
                <a:ea typeface="微软雅黑" panose="020B0503020204020204" pitchFamily="34" charset="-122"/>
              </a:rPr>
              <a:t>2200</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万。</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国家级高新技术企业。</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专注于数据库及数据仓库研发，不断打磨发展创新国产数据库技术。</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在兼容</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rPr>
              <a:t>数据库软件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通用性的基础上，研发满足特色应用的具有优异指标的数据库产品。</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技术创始人胡劲松曾先后就职于电子部六所、</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SUN</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公司、</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Oracle</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美国公司等，取得相关自有知识产权</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40</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项（专利</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3</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项、软件著作</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37</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rPr>
              <a:t>项）。</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汉仪雅酷黑 45W" panose="020B0404020202020204" charset="-122"/>
            </a:endParaRPr>
          </a:p>
        </p:txBody>
      </p:sp>
      <p:sp>
        <p:nvSpPr>
          <p:cNvPr id="12" name="圆角矩形 23"/>
          <p:cNvSpPr/>
          <p:nvPr/>
        </p:nvSpPr>
        <p:spPr>
          <a:xfrm>
            <a:off x="928711" y="4336871"/>
            <a:ext cx="2609567" cy="1906822"/>
          </a:xfrm>
          <a:prstGeom prst="roundRect">
            <a:avLst/>
          </a:prstGeom>
          <a:blipFill>
            <a:blip r:embed="rId3"/>
            <a:stretch>
              <a:fillRect t="-100" b="-100"/>
            </a:stretch>
          </a:blip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0000"/>
              </a:solidFill>
            </a:endParaRPr>
          </a:p>
        </p:txBody>
      </p:sp>
      <p:sp>
        <p:nvSpPr>
          <p:cNvPr id="13" name="圆角矩形 25"/>
          <p:cNvSpPr/>
          <p:nvPr/>
        </p:nvSpPr>
        <p:spPr>
          <a:xfrm>
            <a:off x="4747127" y="4352769"/>
            <a:ext cx="2693759" cy="1906822"/>
          </a:xfrm>
          <a:prstGeom prst="roundRect">
            <a:avLst/>
          </a:prstGeom>
          <a:blipFill>
            <a:blip r:embed="rId4"/>
            <a:stretch>
              <a:fillRect/>
            </a:stretch>
          </a:blip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0000"/>
              </a:solidFill>
            </a:endParaRPr>
          </a:p>
        </p:txBody>
      </p:sp>
      <p:sp>
        <p:nvSpPr>
          <p:cNvPr id="14" name="圆角矩形 26"/>
          <p:cNvSpPr/>
          <p:nvPr/>
        </p:nvSpPr>
        <p:spPr>
          <a:xfrm>
            <a:off x="8663275" y="4352755"/>
            <a:ext cx="2609567" cy="1906822"/>
          </a:xfrm>
          <a:prstGeom prst="roundRect">
            <a:avLst/>
          </a:prstGeom>
          <a:blipFill>
            <a:blip r:embed="rId5"/>
            <a:stretch>
              <a:fillRect l="-7930" r="-7930"/>
            </a:stretch>
          </a:blip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b="1" dirty="0">
                <a:solidFill>
                  <a:srgbClr val="1F487C"/>
                </a:solidFill>
                <a:latin typeface="微软雅黑" panose="020B0503020204020204" pitchFamily="34" charset="-122"/>
              </a:rPr>
              <a:t>产品演进</a:t>
            </a: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公司简介</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725358" y="4890496"/>
            <a:ext cx="10265952" cy="1815882"/>
          </a:xfrm>
          <a:prstGeom prst="rect">
            <a:avLst/>
          </a:prstGeom>
          <a:noFill/>
        </p:spPr>
        <p:txBody>
          <a:bodyPr wrap="square" rtlCol="0">
            <a:spAutoFit/>
          </a:bodyPr>
          <a:lstStyle/>
          <a:p>
            <a:pPr marL="285750" indent="-285750">
              <a:buFont typeface="Wingdings" panose="05000000000000000000" pitchFamily="2" charset="2"/>
              <a:buChar char="ü"/>
            </a:pPr>
            <a:r>
              <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2011</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年</a:t>
            </a:r>
            <a:r>
              <a:rPr lang="zh-CN"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翰云</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公司发布传统分布式数据库。注重基础的数据冗余和存储可靠性。</a:t>
            </a:r>
            <a:endPar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indent="-285750">
              <a:buFont typeface="Wingdings" panose="05000000000000000000" pitchFamily="2" charset="2"/>
              <a:buChar char="ü"/>
            </a:pPr>
            <a:r>
              <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2020</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年紧跟国际</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云原生数据仓库</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潮流，在国内领先发布基于私有云的云原生数仓</a:t>
            </a:r>
            <a:r>
              <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1.0</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版本。引入云计算</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、弹性扩展和自动化资源调度，提高了灵活性和可管理性；</a:t>
            </a:r>
            <a:endPar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indent="-285750">
              <a:buFont typeface="Wingdings" panose="05000000000000000000" pitchFamily="2" charset="2"/>
              <a:buChar char="ü"/>
            </a:pPr>
            <a:r>
              <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2022</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年下半年发布基于容器云的云原生数仓</a:t>
            </a:r>
            <a:r>
              <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2.0</a:t>
            </a:r>
            <a:r>
              <a:rPr lang="zh-CN" altLang="en-US"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版本</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。通过容器化和</a:t>
            </a:r>
            <a:r>
              <a:rPr lang="en-US" altLang="zh-CN" sz="1600" kern="100" dirty="0" err="1">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kubernetes</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rPr>
              <a:t>优化了资源管理和部署灵活性，支持更复杂的微服务架构。</a:t>
            </a:r>
            <a:endParaRPr lang="en-US" altLang="zh-CN" sz="1600" kern="100" dirty="0">
              <a:solidFill>
                <a:schemeClr val="tx1">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endParaRPr>
          </a:p>
          <a:p>
            <a:pPr marL="285750" indent="-285750">
              <a:buFont typeface="Wingdings" panose="05000000000000000000" pitchFamily="2" charset="2"/>
              <a:buChar char="ü"/>
            </a:pPr>
            <a:r>
              <a:rPr lang="en-US" altLang="zh-CN" sz="1600" kern="100" dirty="0">
                <a:solidFill>
                  <a:schemeClr val="tx1">
                    <a:lumMod val="65000"/>
                    <a:lumOff val="35000"/>
                  </a:schemeClr>
                </a:solidFill>
                <a:latin typeface="微软雅黑" panose="020B0503020204020204" pitchFamily="34" charset="-122"/>
                <a:ea typeface="微软雅黑" panose="020B0503020204020204" pitchFamily="34" charset="-122"/>
              </a:rPr>
              <a:t>2024</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rPr>
              <a:t>年底发布基于</a:t>
            </a:r>
            <a:r>
              <a:rPr lang="en-US" altLang="zh-CN" sz="1600" kern="100" dirty="0">
                <a:solidFill>
                  <a:schemeClr val="tx1">
                    <a:lumMod val="65000"/>
                    <a:lumOff val="35000"/>
                  </a:schemeClr>
                </a:solidFill>
                <a:latin typeface="微软雅黑" panose="020B0503020204020204" pitchFamily="34" charset="-122"/>
                <a:ea typeface="微软雅黑" panose="020B0503020204020204" pitchFamily="34" charset="-122"/>
              </a:rPr>
              <a:t>AI</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rPr>
              <a:t>大模型的智能数仓</a:t>
            </a:r>
            <a:r>
              <a:rPr lang="en-US" altLang="zh-CN" sz="1600" kern="1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600" kern="100" dirty="0">
                <a:solidFill>
                  <a:schemeClr val="tx1">
                    <a:lumMod val="65000"/>
                    <a:lumOff val="35000"/>
                  </a:schemeClr>
                </a:solidFill>
                <a:latin typeface="微软雅黑" panose="020B0503020204020204" pitchFamily="34" charset="-122"/>
                <a:ea typeface="微软雅黑" panose="020B0503020204020204" pitchFamily="34" charset="-122"/>
              </a:rPr>
              <a:t>版本，支持指标分析、指标知识图谱构建。着眼于智能化的数据处理与决策支持，提供了更高效的知识管理与数据分析能力。</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31053D3-1ADC-19A1-1C27-4D33C7294929}"/>
              </a:ext>
            </a:extLst>
          </p:cNvPr>
          <p:cNvSpPr txBox="1"/>
          <p:nvPr/>
        </p:nvSpPr>
        <p:spPr>
          <a:xfrm>
            <a:off x="723503" y="1580996"/>
            <a:ext cx="267032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Arial"/>
                <a:ea typeface="微软雅黑"/>
                <a:cs typeface="+mn-cs"/>
              </a:rPr>
              <a:t>传统分布式数据库（</a:t>
            </a:r>
            <a:r>
              <a:rPr kumimoji="0" lang="en-US" altLang="zh-CN" sz="2000" b="0" i="0" u="none" strike="noStrike" kern="1200" cap="none" spc="0" normalizeH="0" baseline="0" noProof="0" dirty="0">
                <a:ln>
                  <a:noFill/>
                </a:ln>
                <a:solidFill>
                  <a:schemeClr val="accent1">
                    <a:lumMod val="50000"/>
                  </a:schemeClr>
                </a:solidFill>
                <a:effectLst/>
                <a:uLnTx/>
                <a:uFillTx/>
                <a:latin typeface="Arial"/>
                <a:ea typeface="微软雅黑"/>
                <a:cs typeface="+mn-cs"/>
              </a:rPr>
              <a:t>2011~</a:t>
            </a:r>
            <a:r>
              <a:rPr kumimoji="0" lang="zh-CN" altLang="en-US" sz="2000" b="0" i="0" u="none" strike="noStrike" kern="1200" cap="none" spc="0" normalizeH="0" baseline="0" noProof="0" dirty="0">
                <a:ln>
                  <a:noFill/>
                </a:ln>
                <a:solidFill>
                  <a:schemeClr val="accent1">
                    <a:lumMod val="50000"/>
                  </a:schemeClr>
                </a:solidFill>
                <a:effectLst/>
                <a:uLnTx/>
                <a:uFillTx/>
                <a:latin typeface="Arial"/>
                <a:ea typeface="微软雅黑"/>
                <a:cs typeface="+mn-cs"/>
              </a:rPr>
              <a:t>）</a:t>
            </a:r>
          </a:p>
        </p:txBody>
      </p:sp>
      <p:sp>
        <p:nvSpPr>
          <p:cNvPr id="5" name="文本框 4">
            <a:extLst>
              <a:ext uri="{FF2B5EF4-FFF2-40B4-BE49-F238E27FC236}">
                <a16:creationId xmlns:a16="http://schemas.microsoft.com/office/drawing/2014/main" id="{D5550848-4D64-12AD-CF43-91E39A7EC71E}"/>
              </a:ext>
            </a:extLst>
          </p:cNvPr>
          <p:cNvSpPr txBox="1"/>
          <p:nvPr/>
        </p:nvSpPr>
        <p:spPr>
          <a:xfrm>
            <a:off x="3647351" y="1564530"/>
            <a:ext cx="2093843"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云原生数仓</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2020~2022</a:t>
            </a: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p>
        </p:txBody>
      </p:sp>
      <p:sp>
        <p:nvSpPr>
          <p:cNvPr id="6" name="文本框 5">
            <a:extLst>
              <a:ext uri="{FF2B5EF4-FFF2-40B4-BE49-F238E27FC236}">
                <a16:creationId xmlns:a16="http://schemas.microsoft.com/office/drawing/2014/main" id="{D3EC0E93-1D43-0740-1161-31AD751F608D}"/>
              </a:ext>
            </a:extLst>
          </p:cNvPr>
          <p:cNvSpPr txBox="1"/>
          <p:nvPr/>
        </p:nvSpPr>
        <p:spPr>
          <a:xfrm>
            <a:off x="6251641" y="1585062"/>
            <a:ext cx="215956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云原生数仓</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2022</a:t>
            </a: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2024</a:t>
            </a: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p>
        </p:txBody>
      </p:sp>
      <p:sp>
        <p:nvSpPr>
          <p:cNvPr id="9" name="文本框 8">
            <a:extLst>
              <a:ext uri="{FF2B5EF4-FFF2-40B4-BE49-F238E27FC236}">
                <a16:creationId xmlns:a16="http://schemas.microsoft.com/office/drawing/2014/main" id="{89A5F1D6-492C-EF95-07B1-0A96A2AAC117}"/>
              </a:ext>
            </a:extLst>
          </p:cNvPr>
          <p:cNvSpPr txBox="1"/>
          <p:nvPr/>
        </p:nvSpPr>
        <p:spPr>
          <a:xfrm>
            <a:off x="478583" y="2675784"/>
            <a:ext cx="3070791"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支持海量数据分布式存储</a:t>
            </a:r>
          </a:p>
        </p:txBody>
      </p:sp>
      <p:sp>
        <p:nvSpPr>
          <p:cNvPr id="12" name="文本框 11">
            <a:extLst>
              <a:ext uri="{FF2B5EF4-FFF2-40B4-BE49-F238E27FC236}">
                <a16:creationId xmlns:a16="http://schemas.microsoft.com/office/drawing/2014/main" id="{B638C9BA-FB7F-AFCC-F2D0-558961EC51C1}"/>
              </a:ext>
            </a:extLst>
          </p:cNvPr>
          <p:cNvSpPr txBox="1"/>
          <p:nvPr/>
        </p:nvSpPr>
        <p:spPr>
          <a:xfrm>
            <a:off x="509389" y="3311937"/>
            <a:ext cx="2659338" cy="369332"/>
          </a:xfrm>
          <a:prstGeom prst="rect">
            <a:avLst/>
          </a:prstGeom>
          <a:noFill/>
        </p:spPr>
        <p:txBody>
          <a:bodyPr wrap="squar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支持高性能多维调度</a:t>
            </a:r>
          </a:p>
        </p:txBody>
      </p:sp>
      <p:sp>
        <p:nvSpPr>
          <p:cNvPr id="13" name="文本框 12">
            <a:extLst>
              <a:ext uri="{FF2B5EF4-FFF2-40B4-BE49-F238E27FC236}">
                <a16:creationId xmlns:a16="http://schemas.microsoft.com/office/drawing/2014/main" id="{147081FB-B634-2B6A-9A76-6CE0E0FCEDB9}"/>
              </a:ext>
            </a:extLst>
          </p:cNvPr>
          <p:cNvSpPr txBox="1"/>
          <p:nvPr/>
        </p:nvSpPr>
        <p:spPr>
          <a:xfrm>
            <a:off x="3518596" y="2768896"/>
            <a:ext cx="2550698" cy="369332"/>
          </a:xfrm>
          <a:prstGeom prst="rect">
            <a:avLst/>
          </a:prstGeom>
          <a:noFill/>
        </p:spPr>
        <p:txBody>
          <a:bodyPr wrap="non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支持存储与计算分离</a:t>
            </a:r>
          </a:p>
        </p:txBody>
      </p:sp>
      <p:sp>
        <p:nvSpPr>
          <p:cNvPr id="14" name="文本框 13">
            <a:extLst>
              <a:ext uri="{FF2B5EF4-FFF2-40B4-BE49-F238E27FC236}">
                <a16:creationId xmlns:a16="http://schemas.microsoft.com/office/drawing/2014/main" id="{51AAD6EF-E54F-1C6D-D6DA-A83F8BFDFEAE}"/>
              </a:ext>
            </a:extLst>
          </p:cNvPr>
          <p:cNvSpPr txBox="1"/>
          <p:nvPr/>
        </p:nvSpPr>
        <p:spPr>
          <a:xfrm>
            <a:off x="6159560" y="3255430"/>
            <a:ext cx="2781531" cy="369332"/>
          </a:xfrm>
          <a:prstGeom prst="rect">
            <a:avLst/>
          </a:prstGeom>
          <a:noFill/>
        </p:spPr>
        <p:txBody>
          <a:bodyPr wrap="non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多维度智能秒级扩缩容</a:t>
            </a:r>
          </a:p>
        </p:txBody>
      </p:sp>
      <p:sp>
        <p:nvSpPr>
          <p:cNvPr id="15" name="文本框 14">
            <a:extLst>
              <a:ext uri="{FF2B5EF4-FFF2-40B4-BE49-F238E27FC236}">
                <a16:creationId xmlns:a16="http://schemas.microsoft.com/office/drawing/2014/main" id="{8B946889-F409-5D9D-6736-7F998C898F01}"/>
              </a:ext>
            </a:extLst>
          </p:cNvPr>
          <p:cNvSpPr txBox="1"/>
          <p:nvPr/>
        </p:nvSpPr>
        <p:spPr>
          <a:xfrm>
            <a:off x="6159560" y="3764496"/>
            <a:ext cx="1994819" cy="369332"/>
          </a:xfrm>
          <a:prstGeom prst="rect">
            <a:avLst/>
          </a:prstGeom>
          <a:noFill/>
        </p:spPr>
        <p:txBody>
          <a:bodyPr wrap="squar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无损跨机弹性</a:t>
            </a:r>
          </a:p>
        </p:txBody>
      </p:sp>
      <p:sp>
        <p:nvSpPr>
          <p:cNvPr id="16" name="文本框 15">
            <a:extLst>
              <a:ext uri="{FF2B5EF4-FFF2-40B4-BE49-F238E27FC236}">
                <a16:creationId xmlns:a16="http://schemas.microsoft.com/office/drawing/2014/main" id="{040BE5A0-137F-CF6C-E068-BA5DE6BFAC7D}"/>
              </a:ext>
            </a:extLst>
          </p:cNvPr>
          <p:cNvSpPr txBox="1"/>
          <p:nvPr/>
        </p:nvSpPr>
        <p:spPr>
          <a:xfrm>
            <a:off x="9278499" y="1605239"/>
            <a:ext cx="155683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智能数仓</a:t>
            </a:r>
            <a:endPar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r>
              <a:rPr kumimoji="0" lang="en-US" altLang="zh-CN"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202</a:t>
            </a:r>
            <a:r>
              <a:rPr lang="en-US" altLang="zh-CN" sz="2000" dirty="0">
                <a:solidFill>
                  <a:schemeClr val="accent1">
                    <a:lumMod val="50000"/>
                  </a:schemeClr>
                </a:solidFill>
                <a:latin typeface="Microsoft YaHei" panose="020B0503020204020204" pitchFamily="34" charset="-122"/>
                <a:ea typeface="Microsoft YaHei" panose="020B0503020204020204" pitchFamily="34" charset="-122"/>
              </a:rPr>
              <a:t>4</a:t>
            </a:r>
            <a:r>
              <a:rPr kumimoji="0" lang="zh-CN" altLang="en-US" sz="2000" b="0" i="0" u="none" strike="noStrike" kern="1200" cap="none" spc="0" normalizeH="0" baseline="0" noProof="0" dirty="0">
                <a:ln>
                  <a:noFill/>
                </a:ln>
                <a:solidFill>
                  <a:schemeClr val="accent1">
                    <a:lumMod val="50000"/>
                  </a:schemeClr>
                </a:solidFill>
                <a:effectLst/>
                <a:uLnTx/>
                <a:uFillTx/>
                <a:latin typeface="Microsoft YaHei" panose="020B0503020204020204" pitchFamily="34" charset="-122"/>
                <a:ea typeface="Microsoft YaHei" panose="020B0503020204020204" pitchFamily="34" charset="-122"/>
                <a:cs typeface="+mn-cs"/>
              </a:rPr>
              <a:t>～）</a:t>
            </a:r>
          </a:p>
        </p:txBody>
      </p:sp>
      <p:sp>
        <p:nvSpPr>
          <p:cNvPr id="17" name="文本框 16">
            <a:extLst>
              <a:ext uri="{FF2B5EF4-FFF2-40B4-BE49-F238E27FC236}">
                <a16:creationId xmlns:a16="http://schemas.microsoft.com/office/drawing/2014/main" id="{2B16F3F5-89CB-5883-1E52-3073EB1C2D40}"/>
              </a:ext>
            </a:extLst>
          </p:cNvPr>
          <p:cNvSpPr txBox="1"/>
          <p:nvPr/>
        </p:nvSpPr>
        <p:spPr>
          <a:xfrm>
            <a:off x="9322073" y="2584013"/>
            <a:ext cx="1627369" cy="369332"/>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基于大模型</a:t>
            </a:r>
          </a:p>
        </p:txBody>
      </p:sp>
      <p:sp>
        <p:nvSpPr>
          <p:cNvPr id="32" name="文本框 31">
            <a:extLst>
              <a:ext uri="{FF2B5EF4-FFF2-40B4-BE49-F238E27FC236}">
                <a16:creationId xmlns:a16="http://schemas.microsoft.com/office/drawing/2014/main" id="{A5CC713F-EF5E-4E60-ABC4-A4AE8F3B60B5}"/>
              </a:ext>
            </a:extLst>
          </p:cNvPr>
          <p:cNvSpPr txBox="1"/>
          <p:nvPr/>
        </p:nvSpPr>
        <p:spPr>
          <a:xfrm>
            <a:off x="9322073" y="2998950"/>
            <a:ext cx="1858201" cy="369332"/>
          </a:xfrm>
          <a:prstGeom prst="rect">
            <a:avLst/>
          </a:prstGeom>
          <a:noFill/>
        </p:spPr>
        <p:txBody>
          <a:bodyPr wrap="non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基于指标分析</a:t>
            </a:r>
          </a:p>
        </p:txBody>
      </p:sp>
      <p:sp>
        <p:nvSpPr>
          <p:cNvPr id="33" name="文本框 32">
            <a:extLst>
              <a:ext uri="{FF2B5EF4-FFF2-40B4-BE49-F238E27FC236}">
                <a16:creationId xmlns:a16="http://schemas.microsoft.com/office/drawing/2014/main" id="{F5B2FE91-453E-2AD7-D99E-E67BAACFEEA4}"/>
              </a:ext>
            </a:extLst>
          </p:cNvPr>
          <p:cNvSpPr txBox="1"/>
          <p:nvPr/>
        </p:nvSpPr>
        <p:spPr>
          <a:xfrm>
            <a:off x="9322072" y="4243762"/>
            <a:ext cx="1396536" cy="369332"/>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报告生成</a:t>
            </a:r>
          </a:p>
        </p:txBody>
      </p:sp>
      <p:sp>
        <p:nvSpPr>
          <p:cNvPr id="34" name="文本框 33">
            <a:extLst>
              <a:ext uri="{FF2B5EF4-FFF2-40B4-BE49-F238E27FC236}">
                <a16:creationId xmlns:a16="http://schemas.microsoft.com/office/drawing/2014/main" id="{8D8A404B-67AE-5D21-2977-94898C534EE6}"/>
              </a:ext>
            </a:extLst>
          </p:cNvPr>
          <p:cNvSpPr txBox="1"/>
          <p:nvPr/>
        </p:nvSpPr>
        <p:spPr>
          <a:xfrm>
            <a:off x="9322073" y="3413887"/>
            <a:ext cx="1858201" cy="369332"/>
          </a:xfrm>
          <a:prstGeom prst="rect">
            <a:avLst/>
          </a:prstGeom>
          <a:noFill/>
        </p:spPr>
        <p:txBody>
          <a:bodyPr wrap="non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向量存储检索</a:t>
            </a:r>
          </a:p>
        </p:txBody>
      </p:sp>
      <p:sp>
        <p:nvSpPr>
          <p:cNvPr id="35" name="文本框 34">
            <a:extLst>
              <a:ext uri="{FF2B5EF4-FFF2-40B4-BE49-F238E27FC236}">
                <a16:creationId xmlns:a16="http://schemas.microsoft.com/office/drawing/2014/main" id="{9980A53D-6A9B-C525-E213-1BF78BB164BA}"/>
              </a:ext>
            </a:extLst>
          </p:cNvPr>
          <p:cNvSpPr txBox="1"/>
          <p:nvPr/>
        </p:nvSpPr>
        <p:spPr>
          <a:xfrm>
            <a:off x="9329152" y="3828824"/>
            <a:ext cx="1858201" cy="369332"/>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知识图谱构建</a:t>
            </a:r>
          </a:p>
        </p:txBody>
      </p:sp>
      <p:cxnSp>
        <p:nvCxnSpPr>
          <p:cNvPr id="36" name="直线连接符 36">
            <a:extLst>
              <a:ext uri="{FF2B5EF4-FFF2-40B4-BE49-F238E27FC236}">
                <a16:creationId xmlns:a16="http://schemas.microsoft.com/office/drawing/2014/main" id="{6802ED9F-3A4C-F073-6C8C-C365B5927368}"/>
              </a:ext>
            </a:extLst>
          </p:cNvPr>
          <p:cNvCxnSpPr>
            <a:cxnSpLocks/>
          </p:cNvCxnSpPr>
          <p:nvPr/>
        </p:nvCxnSpPr>
        <p:spPr>
          <a:xfrm>
            <a:off x="3393831" y="1605239"/>
            <a:ext cx="0" cy="308151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线连接符 37">
            <a:extLst>
              <a:ext uri="{FF2B5EF4-FFF2-40B4-BE49-F238E27FC236}">
                <a16:creationId xmlns:a16="http://schemas.microsoft.com/office/drawing/2014/main" id="{32BE7C88-6627-00DE-97BE-C857F4BFB2ED}"/>
              </a:ext>
            </a:extLst>
          </p:cNvPr>
          <p:cNvCxnSpPr>
            <a:cxnSpLocks/>
          </p:cNvCxnSpPr>
          <p:nvPr/>
        </p:nvCxnSpPr>
        <p:spPr>
          <a:xfrm>
            <a:off x="6081346" y="1605239"/>
            <a:ext cx="0" cy="310371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线连接符 38">
            <a:extLst>
              <a:ext uri="{FF2B5EF4-FFF2-40B4-BE49-F238E27FC236}">
                <a16:creationId xmlns:a16="http://schemas.microsoft.com/office/drawing/2014/main" id="{D72E23D9-6D73-0B46-A6BE-90E63A91E888}"/>
              </a:ext>
            </a:extLst>
          </p:cNvPr>
          <p:cNvCxnSpPr>
            <a:cxnSpLocks/>
          </p:cNvCxnSpPr>
          <p:nvPr/>
        </p:nvCxnSpPr>
        <p:spPr>
          <a:xfrm>
            <a:off x="9190893" y="1564530"/>
            <a:ext cx="0" cy="31268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D30CD6E1-8A07-1459-80CA-2DFFDE932746}"/>
              </a:ext>
            </a:extLst>
          </p:cNvPr>
          <p:cNvSpPr txBox="1"/>
          <p:nvPr/>
        </p:nvSpPr>
        <p:spPr>
          <a:xfrm>
            <a:off x="3540804" y="3326729"/>
            <a:ext cx="2319866" cy="369332"/>
          </a:xfrm>
          <a:prstGeom prst="rect">
            <a:avLst/>
          </a:prstGeom>
          <a:noFill/>
        </p:spPr>
        <p:txBody>
          <a:bodyPr wrap="non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支持底层数据共享</a:t>
            </a:r>
          </a:p>
        </p:txBody>
      </p:sp>
      <p:sp>
        <p:nvSpPr>
          <p:cNvPr id="40" name="文本框 39">
            <a:extLst>
              <a:ext uri="{FF2B5EF4-FFF2-40B4-BE49-F238E27FC236}">
                <a16:creationId xmlns:a16="http://schemas.microsoft.com/office/drawing/2014/main" id="{7B69B2FD-EC0B-1AD1-9DCB-BBD1F5374D8B}"/>
              </a:ext>
            </a:extLst>
          </p:cNvPr>
          <p:cNvSpPr txBox="1"/>
          <p:nvPr/>
        </p:nvSpPr>
        <p:spPr>
          <a:xfrm>
            <a:off x="509389" y="3870219"/>
            <a:ext cx="1937346" cy="369332"/>
          </a:xfrm>
          <a:prstGeom prst="rect">
            <a:avLst/>
          </a:prstGeom>
          <a:noFill/>
        </p:spPr>
        <p:txBody>
          <a:bodyPr wrap="squar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支持异构数据</a:t>
            </a:r>
          </a:p>
        </p:txBody>
      </p:sp>
      <p:sp>
        <p:nvSpPr>
          <p:cNvPr id="41" name="文本框 40">
            <a:extLst>
              <a:ext uri="{FF2B5EF4-FFF2-40B4-BE49-F238E27FC236}">
                <a16:creationId xmlns:a16="http://schemas.microsoft.com/office/drawing/2014/main" id="{95F389E7-926B-5716-1863-F7694FCAB203}"/>
              </a:ext>
            </a:extLst>
          </p:cNvPr>
          <p:cNvSpPr txBox="1"/>
          <p:nvPr/>
        </p:nvSpPr>
        <p:spPr>
          <a:xfrm>
            <a:off x="6159560" y="2686969"/>
            <a:ext cx="2408909" cy="369332"/>
          </a:xfrm>
          <a:prstGeom prst="rect">
            <a:avLst/>
          </a:prstGeom>
          <a:noFill/>
        </p:spPr>
        <p:txBody>
          <a:bodyPr wrap="square" rtlCol="0">
            <a:spAutoFit/>
          </a:bodyPr>
          <a:lstStyle>
            <a:defPPr>
              <a:defRPr lang="zh-CN"/>
            </a:defPPr>
            <a:lvl1pPr marL="285750" indent="-285750">
              <a:buFont typeface="Wingdings" panose="05000000000000000000" pitchFamily="2" charset="2"/>
              <a:buChar char="ü"/>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schemeClr val="tx1">
                    <a:lumMod val="65000"/>
                    <a:lumOff val="35000"/>
                  </a:schemeClr>
                </a:solidFill>
                <a:effectLst/>
                <a:uLnTx/>
                <a:uFillTx/>
                <a:latin typeface="Arial"/>
                <a:ea typeface="微软雅黑"/>
                <a:cs typeface="+mn-cs"/>
              </a:rPr>
              <a:t>支持容器化部署</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03184-CC5B-013A-E4D0-E4C3C763732C}"/>
            </a:ext>
          </a:extLst>
        </p:cNvPr>
        <p:cNvGrpSpPr/>
        <p:nvPr/>
      </p:nvGrpSpPr>
      <p:grpSpPr>
        <a:xfrm>
          <a:off x="0" y="0"/>
          <a:ext cx="0" cy="0"/>
          <a:chOff x="0" y="0"/>
          <a:chExt cx="0" cy="0"/>
        </a:xfrm>
      </p:grpSpPr>
      <p:sp>
        <p:nvSpPr>
          <p:cNvPr id="116" name="文本框 115">
            <a:extLst>
              <a:ext uri="{FF2B5EF4-FFF2-40B4-BE49-F238E27FC236}">
                <a16:creationId xmlns:a16="http://schemas.microsoft.com/office/drawing/2014/main" id="{FCF89313-7062-5233-611E-8BB59E633478}"/>
              </a:ext>
            </a:extLst>
          </p:cNvPr>
          <p:cNvSpPr txBox="1"/>
          <p:nvPr/>
        </p:nvSpPr>
        <p:spPr>
          <a:xfrm>
            <a:off x="54905" y="25171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0" name="文本框 129">
            <a:extLst>
              <a:ext uri="{FF2B5EF4-FFF2-40B4-BE49-F238E27FC236}">
                <a16:creationId xmlns:a16="http://schemas.microsoft.com/office/drawing/2014/main" id="{901D4F9B-0727-E333-4BA2-A2900B1AC914}"/>
              </a:ext>
            </a:extLst>
          </p:cNvPr>
          <p:cNvSpPr txBox="1"/>
          <p:nvPr/>
        </p:nvSpPr>
        <p:spPr>
          <a:xfrm>
            <a:off x="2764782" y="26123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1" name="文本框 130">
            <a:extLst>
              <a:ext uri="{FF2B5EF4-FFF2-40B4-BE49-F238E27FC236}">
                <a16:creationId xmlns:a16="http://schemas.microsoft.com/office/drawing/2014/main" id="{C1EDE213-7B6E-1AC3-C7A4-EA23F87FDDE9}"/>
              </a:ext>
            </a:extLst>
          </p:cNvPr>
          <p:cNvSpPr txBox="1"/>
          <p:nvPr/>
        </p:nvSpPr>
        <p:spPr>
          <a:xfrm>
            <a:off x="5431797" y="242175"/>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74C785E9-57FE-BE4A-C070-E6AA68FF5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822802" cy="6822802"/>
          </a:xfrm>
          <a:prstGeom prst="rect">
            <a:avLst/>
          </a:prstGeom>
        </p:spPr>
      </p:pic>
      <p:sp>
        <p:nvSpPr>
          <p:cNvPr id="13" name="文本框 12">
            <a:extLst>
              <a:ext uri="{FF2B5EF4-FFF2-40B4-BE49-F238E27FC236}">
                <a16:creationId xmlns:a16="http://schemas.microsoft.com/office/drawing/2014/main" id="{6F65DF48-DE51-23D8-1D34-DA6760C449D5}"/>
              </a:ext>
            </a:extLst>
          </p:cNvPr>
          <p:cNvSpPr txBox="1"/>
          <p:nvPr/>
        </p:nvSpPr>
        <p:spPr>
          <a:xfrm>
            <a:off x="7215188" y="1583310"/>
            <a:ext cx="4586287" cy="2062103"/>
          </a:xfrm>
          <a:prstGeom prst="rect">
            <a:avLst/>
          </a:prstGeom>
          <a:noFill/>
        </p:spPr>
        <p:txBody>
          <a:bodyPr wrap="square" rtlCol="0">
            <a:spAutoFit/>
          </a:bodyPr>
          <a:lstStyle/>
          <a:p>
            <a:pPr algn="ctr"/>
            <a:r>
              <a:rPr lang="en-US" altLang="zh-CN" sz="4800" b="1" dirty="0">
                <a:solidFill>
                  <a:srgbClr val="1F487C"/>
                </a:solidFill>
                <a:latin typeface="微软雅黑" panose="020B0503020204020204" pitchFamily="34" charset="-122"/>
                <a:ea typeface="微软雅黑" panose="020B0503020204020204" pitchFamily="34" charset="-122"/>
              </a:rPr>
              <a:t>Part2 </a:t>
            </a:r>
          </a:p>
          <a:p>
            <a:pPr algn="ctr"/>
            <a:r>
              <a:rPr lang="zh-CN" altLang="en-US" sz="4800" b="1" dirty="0">
                <a:solidFill>
                  <a:srgbClr val="1F487C"/>
                </a:solidFill>
                <a:latin typeface="微软雅黑" panose="020B0503020204020204" pitchFamily="34" charset="-122"/>
                <a:ea typeface="微软雅黑" panose="020B0503020204020204" pitchFamily="34" charset="-122"/>
              </a:rPr>
              <a:t>翰云数仓</a:t>
            </a:r>
            <a:endParaRPr lang="en-US" altLang="zh-CN" sz="4800" b="1" dirty="0">
              <a:solidFill>
                <a:srgbClr val="1F487C"/>
              </a:solidFill>
              <a:latin typeface="微软雅黑" panose="020B0503020204020204" pitchFamily="34" charset="-122"/>
              <a:ea typeface="微软雅黑" panose="020B0503020204020204" pitchFamily="34" charset="-122"/>
            </a:endParaRPr>
          </a:p>
          <a:p>
            <a:pPr algn="ctr"/>
            <a:endParaRPr lang="en-US" altLang="zh-CN" sz="3200" b="1" dirty="0">
              <a:solidFill>
                <a:srgbClr val="1F487C"/>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67574707-1FDE-4FA3-891B-6A86846FCCFA}"/>
              </a:ext>
            </a:extLst>
          </p:cNvPr>
          <p:cNvSpPr txBox="1"/>
          <p:nvPr/>
        </p:nvSpPr>
        <p:spPr>
          <a:xfrm flipH="1">
            <a:off x="8411106" y="3429000"/>
            <a:ext cx="2300287" cy="130888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产品定位</a:t>
            </a:r>
            <a:endParaRPr lang="en-US" altLang="zh-CN" sz="2800" b="1" dirty="0">
              <a:solidFill>
                <a:srgbClr val="1F487C"/>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技术优势</a:t>
            </a:r>
            <a:endParaRPr lang="en-US" altLang="zh-CN" sz="2800" b="1" dirty="0">
              <a:solidFill>
                <a:srgbClr val="1F487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3189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37552" y="147600"/>
            <a:ext cx="2218521" cy="860400"/>
          </a:xfrm>
        </p:spPr>
        <p:txBody>
          <a:bodyPr>
            <a:normAutofit/>
          </a:bodyPr>
          <a:lstStyle/>
          <a:p>
            <a:r>
              <a:rPr lang="zh-CN" altLang="en-US" b="1" dirty="0">
                <a:solidFill>
                  <a:srgbClr val="1F487C"/>
                </a:solidFill>
              </a:rPr>
              <a:t>产品定位</a:t>
            </a: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翰云数仓</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704215" y="1368404"/>
            <a:ext cx="10586966" cy="5216925"/>
            <a:chOff x="3592" y="2974"/>
            <a:chExt cx="12016" cy="6802"/>
          </a:xfrm>
        </p:grpSpPr>
        <p:sp>
          <p:nvSpPr>
            <p:cNvPr id="8" name="任意多边形 7"/>
            <p:cNvSpPr/>
            <p:nvPr>
              <p:custDataLst>
                <p:tags r:id="rId1"/>
              </p:custDataLst>
            </p:nvPr>
          </p:nvSpPr>
          <p:spPr>
            <a:xfrm>
              <a:off x="3592" y="3069"/>
              <a:ext cx="5347" cy="2275"/>
            </a:xfrm>
            <a:custGeom>
              <a:avLst/>
              <a:gdLst>
                <a:gd name="connsiteX0" fmla="*/ 3155203 w 3155203"/>
                <a:gd name="connsiteY0" fmla="*/ 0 h 850448"/>
                <a:gd name="connsiteX1" fmla="*/ 2997498 w 3155203"/>
                <a:gd name="connsiteY1" fmla="*/ 578071 h 850448"/>
                <a:gd name="connsiteX2" fmla="*/ 406001 w 3155203"/>
                <a:gd name="connsiteY2" fmla="*/ 850448 h 850448"/>
                <a:gd name="connsiteX3" fmla="*/ 0 w 3155203"/>
                <a:gd name="connsiteY3" fmla="*/ 110182 h 850448"/>
              </a:gdLst>
              <a:ahLst/>
              <a:cxnLst>
                <a:cxn ang="0">
                  <a:pos x="connsiteX0" y="connsiteY0"/>
                </a:cxn>
                <a:cxn ang="0">
                  <a:pos x="connsiteX1" y="connsiteY1"/>
                </a:cxn>
                <a:cxn ang="0">
                  <a:pos x="connsiteX2" y="connsiteY2"/>
                </a:cxn>
                <a:cxn ang="0">
                  <a:pos x="connsiteX3" y="connsiteY3"/>
                </a:cxn>
              </a:cxnLst>
              <a:rect l="l" t="t" r="r" b="b"/>
              <a:pathLst>
                <a:path w="3155203" h="850448">
                  <a:moveTo>
                    <a:pt x="3155203" y="0"/>
                  </a:moveTo>
                  <a:lnTo>
                    <a:pt x="2997498" y="578071"/>
                  </a:lnTo>
                  <a:lnTo>
                    <a:pt x="406001" y="850448"/>
                  </a:lnTo>
                  <a:lnTo>
                    <a:pt x="0" y="110182"/>
                  </a:lnTo>
                  <a:close/>
                </a:path>
              </a:pathLst>
            </a:custGeom>
            <a:solidFill>
              <a:srgbClr val="1F74AD">
                <a:lumMod val="60000"/>
                <a:lumOff val="40000"/>
              </a:srgbClr>
            </a:solidFill>
          </p:spPr>
          <p:txBody>
            <a:bodyPr rot="0" spcFirstLastPara="0" vertOverflow="overflow" horzOverflow="overflow" vert="horz" wrap="square" lIns="216000" tIns="108000" rIns="108000" bIns="45720" numCol="1" spcCol="0" rtlCol="0" fromWordArt="0" anchor="ctr" anchorCtr="0" forceAA="0" compatLnSpc="1">
              <a:normAutofit/>
            </a:bodyPr>
            <a:lstStyle/>
            <a:p>
              <a:pPr algn="ctr"/>
              <a:endParaRPr lang="da-DK" altLang="zh-CN" dirty="0">
                <a:solidFill>
                  <a:sysClr val="window" lastClr="FFFFFF"/>
                </a:solidFill>
                <a:sym typeface="Arial" panose="020B0604020202020204" pitchFamily="34" charset="0"/>
              </a:endParaRPr>
            </a:p>
          </p:txBody>
        </p:sp>
        <p:sp>
          <p:nvSpPr>
            <p:cNvPr id="9" name="等腰三角形 8"/>
            <p:cNvSpPr/>
            <p:nvPr>
              <p:custDataLst>
                <p:tags r:id="rId2"/>
              </p:custDataLst>
            </p:nvPr>
          </p:nvSpPr>
          <p:spPr>
            <a:xfrm rot="17703762">
              <a:off x="8566" y="3881"/>
              <a:ext cx="165" cy="404"/>
            </a:xfrm>
            <a:prstGeom prst="triangle">
              <a:avLst/>
            </a:prstGeom>
            <a:solidFill>
              <a:srgbClr val="1F74AD">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10" name="等腰三角形 9"/>
            <p:cNvSpPr/>
            <p:nvPr>
              <p:custDataLst>
                <p:tags r:id="rId3"/>
              </p:custDataLst>
            </p:nvPr>
          </p:nvSpPr>
          <p:spPr>
            <a:xfrm rot="14680307">
              <a:off x="8506" y="3756"/>
              <a:ext cx="165" cy="221"/>
            </a:xfrm>
            <a:prstGeom prst="triangle">
              <a:avLst/>
            </a:prstGeom>
            <a:solidFill>
              <a:srgbClr val="1F74AD">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14" name="任意多边形 13"/>
            <p:cNvSpPr/>
            <p:nvPr>
              <p:custDataLst>
                <p:tags r:id="rId4"/>
              </p:custDataLst>
            </p:nvPr>
          </p:nvSpPr>
          <p:spPr>
            <a:xfrm>
              <a:off x="3626" y="2974"/>
              <a:ext cx="1221" cy="672"/>
            </a:xfrm>
            <a:custGeom>
              <a:avLst/>
              <a:gdLst>
                <a:gd name="connsiteX0" fmla="*/ 775646 w 775646"/>
                <a:gd name="connsiteY0" fmla="*/ 0 h 426586"/>
                <a:gd name="connsiteX1" fmla="*/ 666454 w 775646"/>
                <a:gd name="connsiteY1" fmla="*/ 355733 h 426586"/>
                <a:gd name="connsiteX2" fmla="*/ 219107 w 775646"/>
                <a:gd name="connsiteY2" fmla="*/ 426586 h 426586"/>
                <a:gd name="connsiteX3" fmla="*/ 0 w 775646"/>
                <a:gd name="connsiteY3" fmla="*/ 27086 h 426586"/>
              </a:gdLst>
              <a:ahLst/>
              <a:cxnLst>
                <a:cxn ang="0">
                  <a:pos x="connsiteX0" y="connsiteY0"/>
                </a:cxn>
                <a:cxn ang="0">
                  <a:pos x="connsiteX1" y="connsiteY1"/>
                </a:cxn>
                <a:cxn ang="0">
                  <a:pos x="connsiteX2" y="connsiteY2"/>
                </a:cxn>
                <a:cxn ang="0">
                  <a:pos x="connsiteX3" y="connsiteY3"/>
                </a:cxn>
              </a:cxnLst>
              <a:rect l="l" t="t" r="r" b="b"/>
              <a:pathLst>
                <a:path w="775646" h="426586">
                  <a:moveTo>
                    <a:pt x="775646" y="0"/>
                  </a:moveTo>
                  <a:lnTo>
                    <a:pt x="666454" y="355733"/>
                  </a:lnTo>
                  <a:lnTo>
                    <a:pt x="219107" y="426586"/>
                  </a:lnTo>
                  <a:lnTo>
                    <a:pt x="0" y="27086"/>
                  </a:lnTo>
                  <a:close/>
                </a:path>
              </a:pathLst>
            </a:custGeom>
            <a:solidFill>
              <a:srgbClr val="1F74AD"/>
            </a:solidFill>
          </p:spPr>
          <p:txBody>
            <a:bodyPr rot="0" spcFirstLastPara="0" vertOverflow="overflow" horzOverflow="overflow" vert="horz" wrap="square" lIns="144000" tIns="45720" rIns="91440" bIns="45720" numCol="1" spcCol="0" rtlCol="0" fromWordArt="0" anchor="ctr" anchorCtr="0" forceAA="0" compatLnSpc="1">
              <a:normAutofit/>
            </a:bodyPr>
            <a:lstStyle/>
            <a:p>
              <a:pPr algn="ctr"/>
              <a:endParaRPr lang="zh-CN" altLang="en-US" sz="2000" b="1" dirty="0" err="1">
                <a:solidFill>
                  <a:sysClr val="window" lastClr="FFFFFF"/>
                </a:solidFill>
                <a:sym typeface="Arial" panose="020B0604020202020204" pitchFamily="34" charset="0"/>
              </a:endParaRPr>
            </a:p>
          </p:txBody>
        </p:sp>
        <p:sp>
          <p:nvSpPr>
            <p:cNvPr id="18" name="任意多边形 17"/>
            <p:cNvSpPr/>
            <p:nvPr>
              <p:custDataLst>
                <p:tags r:id="rId5"/>
              </p:custDataLst>
            </p:nvPr>
          </p:nvSpPr>
          <p:spPr>
            <a:xfrm>
              <a:off x="4532" y="5475"/>
              <a:ext cx="5057" cy="2157"/>
            </a:xfrm>
            <a:custGeom>
              <a:avLst/>
              <a:gdLst>
                <a:gd name="connsiteX0" fmla="*/ 3155203 w 3155203"/>
                <a:gd name="connsiteY0" fmla="*/ 0 h 850448"/>
                <a:gd name="connsiteX1" fmla="*/ 2997498 w 3155203"/>
                <a:gd name="connsiteY1" fmla="*/ 578071 h 850448"/>
                <a:gd name="connsiteX2" fmla="*/ 406001 w 3155203"/>
                <a:gd name="connsiteY2" fmla="*/ 850448 h 850448"/>
                <a:gd name="connsiteX3" fmla="*/ 0 w 3155203"/>
                <a:gd name="connsiteY3" fmla="*/ 110182 h 850448"/>
              </a:gdLst>
              <a:ahLst/>
              <a:cxnLst>
                <a:cxn ang="0">
                  <a:pos x="connsiteX0" y="connsiteY0"/>
                </a:cxn>
                <a:cxn ang="0">
                  <a:pos x="connsiteX1" y="connsiteY1"/>
                </a:cxn>
                <a:cxn ang="0">
                  <a:pos x="connsiteX2" y="connsiteY2"/>
                </a:cxn>
                <a:cxn ang="0">
                  <a:pos x="connsiteX3" y="connsiteY3"/>
                </a:cxn>
              </a:cxnLst>
              <a:rect l="l" t="t" r="r" b="b"/>
              <a:pathLst>
                <a:path w="3155203" h="850448">
                  <a:moveTo>
                    <a:pt x="3155203" y="0"/>
                  </a:moveTo>
                  <a:lnTo>
                    <a:pt x="2997498" y="578071"/>
                  </a:lnTo>
                  <a:lnTo>
                    <a:pt x="406001" y="850448"/>
                  </a:lnTo>
                  <a:lnTo>
                    <a:pt x="0" y="110182"/>
                  </a:lnTo>
                  <a:close/>
                </a:path>
              </a:pathLst>
            </a:custGeom>
            <a:solidFill>
              <a:srgbClr val="1AA3AA">
                <a:lumMod val="60000"/>
                <a:lumOff val="40000"/>
              </a:srgbClr>
            </a:solidFill>
          </p:spPr>
          <p:txBody>
            <a:bodyPr rot="0" spcFirstLastPara="0" vertOverflow="overflow" horzOverflow="overflow" vert="horz" wrap="square" lIns="216000" tIns="108000" rIns="108000" bIns="45720" numCol="1" spcCol="0" rtlCol="0" fromWordArt="0" anchor="ctr" anchorCtr="0" forceAA="0" compatLnSpc="1">
              <a:normAutofit/>
            </a:bodyPr>
            <a:lstStyle/>
            <a:p>
              <a:pPr algn="ctr"/>
              <a:endParaRPr lang="da-DK" altLang="zh-CN" dirty="0">
                <a:solidFill>
                  <a:sysClr val="window" lastClr="FFFFFF"/>
                </a:solidFill>
                <a:sym typeface="Arial" panose="020B0604020202020204" pitchFamily="34" charset="0"/>
              </a:endParaRPr>
            </a:p>
          </p:txBody>
        </p:sp>
        <p:sp>
          <p:nvSpPr>
            <p:cNvPr id="19" name="等腰三角形 18"/>
            <p:cNvSpPr/>
            <p:nvPr>
              <p:custDataLst>
                <p:tags r:id="rId6"/>
              </p:custDataLst>
            </p:nvPr>
          </p:nvSpPr>
          <p:spPr>
            <a:xfrm rot="17703762">
              <a:off x="9506" y="6287"/>
              <a:ext cx="165" cy="404"/>
            </a:xfrm>
            <a:prstGeom prst="triangle">
              <a:avLst/>
            </a:prstGeom>
            <a:solidFill>
              <a:srgbClr val="1AA3AA">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20" name="等腰三角形 19"/>
            <p:cNvSpPr/>
            <p:nvPr>
              <p:custDataLst>
                <p:tags r:id="rId7"/>
              </p:custDataLst>
            </p:nvPr>
          </p:nvSpPr>
          <p:spPr>
            <a:xfrm rot="14680307">
              <a:off x="9446" y="6162"/>
              <a:ext cx="165" cy="221"/>
            </a:xfrm>
            <a:prstGeom prst="triangle">
              <a:avLst/>
            </a:prstGeom>
            <a:solidFill>
              <a:srgbClr val="1AA3AA">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21" name="任意多边形 20"/>
            <p:cNvSpPr/>
            <p:nvPr>
              <p:custDataLst>
                <p:tags r:id="rId8"/>
              </p:custDataLst>
            </p:nvPr>
          </p:nvSpPr>
          <p:spPr>
            <a:xfrm>
              <a:off x="4566" y="5389"/>
              <a:ext cx="1221" cy="672"/>
            </a:xfrm>
            <a:custGeom>
              <a:avLst/>
              <a:gdLst>
                <a:gd name="connsiteX0" fmla="*/ 775646 w 775646"/>
                <a:gd name="connsiteY0" fmla="*/ 0 h 426586"/>
                <a:gd name="connsiteX1" fmla="*/ 666454 w 775646"/>
                <a:gd name="connsiteY1" fmla="*/ 355733 h 426586"/>
                <a:gd name="connsiteX2" fmla="*/ 219107 w 775646"/>
                <a:gd name="connsiteY2" fmla="*/ 426586 h 426586"/>
                <a:gd name="connsiteX3" fmla="*/ 0 w 775646"/>
                <a:gd name="connsiteY3" fmla="*/ 27086 h 426586"/>
              </a:gdLst>
              <a:ahLst/>
              <a:cxnLst>
                <a:cxn ang="0">
                  <a:pos x="connsiteX0" y="connsiteY0"/>
                </a:cxn>
                <a:cxn ang="0">
                  <a:pos x="connsiteX1" y="connsiteY1"/>
                </a:cxn>
                <a:cxn ang="0">
                  <a:pos x="connsiteX2" y="connsiteY2"/>
                </a:cxn>
                <a:cxn ang="0">
                  <a:pos x="connsiteX3" y="connsiteY3"/>
                </a:cxn>
              </a:cxnLst>
              <a:rect l="l" t="t" r="r" b="b"/>
              <a:pathLst>
                <a:path w="775646" h="426586">
                  <a:moveTo>
                    <a:pt x="775646" y="0"/>
                  </a:moveTo>
                  <a:lnTo>
                    <a:pt x="666454" y="355733"/>
                  </a:lnTo>
                  <a:lnTo>
                    <a:pt x="219107" y="426586"/>
                  </a:lnTo>
                  <a:lnTo>
                    <a:pt x="0" y="27086"/>
                  </a:lnTo>
                  <a:close/>
                </a:path>
              </a:pathLst>
            </a:custGeom>
            <a:solidFill>
              <a:srgbClr val="1AA3AA"/>
            </a:solidFill>
          </p:spPr>
          <p:txBody>
            <a:bodyPr rot="0" spcFirstLastPara="0" vertOverflow="overflow" horzOverflow="overflow" vert="horz" wrap="square" lIns="144000" tIns="45720" rIns="91440" bIns="45720" numCol="1" spcCol="0" rtlCol="0" fromWordArt="0" anchor="ctr" anchorCtr="0" forceAA="0" compatLnSpc="1">
              <a:normAutofit/>
            </a:bodyPr>
            <a:lstStyle/>
            <a:p>
              <a:pPr algn="ctr"/>
              <a:endParaRPr lang="zh-CN" altLang="en-US" sz="2000" b="1" dirty="0" err="1">
                <a:solidFill>
                  <a:sysClr val="window" lastClr="FFFFFF"/>
                </a:solidFill>
                <a:sym typeface="Arial" panose="020B0604020202020204" pitchFamily="34" charset="0"/>
              </a:endParaRPr>
            </a:p>
          </p:txBody>
        </p:sp>
        <p:sp>
          <p:nvSpPr>
            <p:cNvPr id="23" name="任意多边形 22"/>
            <p:cNvSpPr/>
            <p:nvPr>
              <p:custDataLst>
                <p:tags r:id="rId9"/>
              </p:custDataLst>
            </p:nvPr>
          </p:nvSpPr>
          <p:spPr>
            <a:xfrm>
              <a:off x="5472" y="7881"/>
              <a:ext cx="5270" cy="1895"/>
            </a:xfrm>
            <a:custGeom>
              <a:avLst/>
              <a:gdLst>
                <a:gd name="connsiteX0" fmla="*/ 3155203 w 3155203"/>
                <a:gd name="connsiteY0" fmla="*/ 0 h 850448"/>
                <a:gd name="connsiteX1" fmla="*/ 2997498 w 3155203"/>
                <a:gd name="connsiteY1" fmla="*/ 578071 h 850448"/>
                <a:gd name="connsiteX2" fmla="*/ 406001 w 3155203"/>
                <a:gd name="connsiteY2" fmla="*/ 850448 h 850448"/>
                <a:gd name="connsiteX3" fmla="*/ 0 w 3155203"/>
                <a:gd name="connsiteY3" fmla="*/ 110182 h 850448"/>
              </a:gdLst>
              <a:ahLst/>
              <a:cxnLst>
                <a:cxn ang="0">
                  <a:pos x="connsiteX0" y="connsiteY0"/>
                </a:cxn>
                <a:cxn ang="0">
                  <a:pos x="connsiteX1" y="connsiteY1"/>
                </a:cxn>
                <a:cxn ang="0">
                  <a:pos x="connsiteX2" y="connsiteY2"/>
                </a:cxn>
                <a:cxn ang="0">
                  <a:pos x="connsiteX3" y="connsiteY3"/>
                </a:cxn>
              </a:cxnLst>
              <a:rect l="l" t="t" r="r" b="b"/>
              <a:pathLst>
                <a:path w="3155203" h="850448">
                  <a:moveTo>
                    <a:pt x="3155203" y="0"/>
                  </a:moveTo>
                  <a:lnTo>
                    <a:pt x="2997498" y="578071"/>
                  </a:lnTo>
                  <a:lnTo>
                    <a:pt x="406001" y="850448"/>
                  </a:lnTo>
                  <a:lnTo>
                    <a:pt x="0" y="110182"/>
                  </a:lnTo>
                  <a:close/>
                </a:path>
              </a:pathLst>
            </a:custGeom>
            <a:solidFill>
              <a:srgbClr val="9BBB59">
                <a:lumMod val="60000"/>
                <a:lumOff val="40000"/>
              </a:srgbClr>
            </a:solidFill>
          </p:spPr>
          <p:txBody>
            <a:bodyPr rot="0" spcFirstLastPara="0" vertOverflow="overflow" horzOverflow="overflow" vert="horz" wrap="square" lIns="216000" tIns="108000" rIns="108000" bIns="45720" numCol="1" spcCol="0" rtlCol="0" fromWordArt="0" anchor="ctr" anchorCtr="0" forceAA="0" compatLnSpc="1">
              <a:normAutofit/>
            </a:bodyPr>
            <a:lstStyle/>
            <a:p>
              <a:pPr algn="ctr"/>
              <a:endParaRPr lang="da-DK" altLang="zh-CN" dirty="0">
                <a:solidFill>
                  <a:sysClr val="window" lastClr="FFFFFF"/>
                </a:solidFill>
                <a:sym typeface="Arial" panose="020B0604020202020204" pitchFamily="34" charset="0"/>
              </a:endParaRPr>
            </a:p>
          </p:txBody>
        </p:sp>
        <p:sp>
          <p:nvSpPr>
            <p:cNvPr id="24" name="等腰三角形 23"/>
            <p:cNvSpPr/>
            <p:nvPr>
              <p:custDataLst>
                <p:tags r:id="rId10"/>
              </p:custDataLst>
            </p:nvPr>
          </p:nvSpPr>
          <p:spPr>
            <a:xfrm rot="17703762">
              <a:off x="10446" y="8693"/>
              <a:ext cx="165" cy="404"/>
            </a:xfrm>
            <a:prstGeom prst="triangle">
              <a:avLst/>
            </a:prstGeom>
            <a:solidFill>
              <a:srgbClr val="9BBB59">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25" name="等腰三角形 24"/>
            <p:cNvSpPr/>
            <p:nvPr>
              <p:custDataLst>
                <p:tags r:id="rId11"/>
              </p:custDataLst>
            </p:nvPr>
          </p:nvSpPr>
          <p:spPr>
            <a:xfrm rot="14680307">
              <a:off x="10386" y="8568"/>
              <a:ext cx="165" cy="221"/>
            </a:xfrm>
            <a:prstGeom prst="triangle">
              <a:avLst/>
            </a:prstGeom>
            <a:solidFill>
              <a:srgbClr val="9BBB59">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26" name="任意多边形 25"/>
            <p:cNvSpPr/>
            <p:nvPr>
              <p:custDataLst>
                <p:tags r:id="rId12"/>
              </p:custDataLst>
            </p:nvPr>
          </p:nvSpPr>
          <p:spPr>
            <a:xfrm>
              <a:off x="5472" y="7789"/>
              <a:ext cx="1221" cy="672"/>
            </a:xfrm>
            <a:custGeom>
              <a:avLst/>
              <a:gdLst>
                <a:gd name="connsiteX0" fmla="*/ 775646 w 775646"/>
                <a:gd name="connsiteY0" fmla="*/ 0 h 426586"/>
                <a:gd name="connsiteX1" fmla="*/ 666454 w 775646"/>
                <a:gd name="connsiteY1" fmla="*/ 355733 h 426586"/>
                <a:gd name="connsiteX2" fmla="*/ 219107 w 775646"/>
                <a:gd name="connsiteY2" fmla="*/ 426586 h 426586"/>
                <a:gd name="connsiteX3" fmla="*/ 0 w 775646"/>
                <a:gd name="connsiteY3" fmla="*/ 27086 h 426586"/>
              </a:gdLst>
              <a:ahLst/>
              <a:cxnLst>
                <a:cxn ang="0">
                  <a:pos x="connsiteX0" y="connsiteY0"/>
                </a:cxn>
                <a:cxn ang="0">
                  <a:pos x="connsiteX1" y="connsiteY1"/>
                </a:cxn>
                <a:cxn ang="0">
                  <a:pos x="connsiteX2" y="connsiteY2"/>
                </a:cxn>
                <a:cxn ang="0">
                  <a:pos x="connsiteX3" y="connsiteY3"/>
                </a:cxn>
              </a:cxnLst>
              <a:rect l="l" t="t" r="r" b="b"/>
              <a:pathLst>
                <a:path w="775646" h="426586">
                  <a:moveTo>
                    <a:pt x="775646" y="0"/>
                  </a:moveTo>
                  <a:lnTo>
                    <a:pt x="666454" y="355733"/>
                  </a:lnTo>
                  <a:lnTo>
                    <a:pt x="219107" y="426586"/>
                  </a:lnTo>
                  <a:lnTo>
                    <a:pt x="0" y="27086"/>
                  </a:lnTo>
                  <a:close/>
                </a:path>
              </a:pathLst>
            </a:custGeom>
            <a:solidFill>
              <a:srgbClr val="9BBB59"/>
            </a:solidFill>
          </p:spPr>
          <p:txBody>
            <a:bodyPr rot="0" spcFirstLastPara="0" vertOverflow="overflow" horzOverflow="overflow" vert="horz" wrap="square" lIns="144000" tIns="45720" rIns="91440" bIns="45720" numCol="1" spcCol="0" rtlCol="0" fromWordArt="0" anchor="ctr" anchorCtr="0" forceAA="0" compatLnSpc="1">
              <a:normAutofit/>
            </a:bodyPr>
            <a:lstStyle/>
            <a:p>
              <a:pPr algn="ctr"/>
              <a:endParaRPr lang="zh-CN" altLang="en-US" sz="2000" b="1" dirty="0" err="1">
                <a:solidFill>
                  <a:sysClr val="window" lastClr="FFFFFF"/>
                </a:solidFill>
                <a:sym typeface="Arial" panose="020B0604020202020204" pitchFamily="34" charset="0"/>
              </a:endParaRPr>
            </a:p>
          </p:txBody>
        </p:sp>
        <p:sp>
          <p:nvSpPr>
            <p:cNvPr id="28" name="任意多边形 27"/>
            <p:cNvSpPr/>
            <p:nvPr>
              <p:custDataLst>
                <p:tags r:id="rId13"/>
              </p:custDataLst>
            </p:nvPr>
          </p:nvSpPr>
          <p:spPr>
            <a:xfrm>
              <a:off x="9409" y="3859"/>
              <a:ext cx="5347" cy="1958"/>
            </a:xfrm>
            <a:custGeom>
              <a:avLst/>
              <a:gdLst>
                <a:gd name="connsiteX0" fmla="*/ 3155203 w 3155203"/>
                <a:gd name="connsiteY0" fmla="*/ 0 h 850448"/>
                <a:gd name="connsiteX1" fmla="*/ 2997498 w 3155203"/>
                <a:gd name="connsiteY1" fmla="*/ 578071 h 850448"/>
                <a:gd name="connsiteX2" fmla="*/ 406001 w 3155203"/>
                <a:gd name="connsiteY2" fmla="*/ 850448 h 850448"/>
                <a:gd name="connsiteX3" fmla="*/ 0 w 3155203"/>
                <a:gd name="connsiteY3" fmla="*/ 110182 h 850448"/>
              </a:gdLst>
              <a:ahLst/>
              <a:cxnLst>
                <a:cxn ang="0">
                  <a:pos x="connsiteX0" y="connsiteY0"/>
                </a:cxn>
                <a:cxn ang="0">
                  <a:pos x="connsiteX1" y="connsiteY1"/>
                </a:cxn>
                <a:cxn ang="0">
                  <a:pos x="connsiteX2" y="connsiteY2"/>
                </a:cxn>
                <a:cxn ang="0">
                  <a:pos x="connsiteX3" y="connsiteY3"/>
                </a:cxn>
              </a:cxnLst>
              <a:rect l="l" t="t" r="r" b="b"/>
              <a:pathLst>
                <a:path w="3155203" h="850448">
                  <a:moveTo>
                    <a:pt x="3155203" y="0"/>
                  </a:moveTo>
                  <a:lnTo>
                    <a:pt x="2997498" y="578071"/>
                  </a:lnTo>
                  <a:lnTo>
                    <a:pt x="406001" y="850448"/>
                  </a:lnTo>
                  <a:lnTo>
                    <a:pt x="0" y="110182"/>
                  </a:lnTo>
                  <a:close/>
                </a:path>
              </a:pathLst>
            </a:custGeom>
            <a:solidFill>
              <a:srgbClr val="3498DB">
                <a:lumMod val="60000"/>
                <a:lumOff val="40000"/>
              </a:srgbClr>
            </a:solidFill>
          </p:spPr>
          <p:txBody>
            <a:bodyPr rot="0" spcFirstLastPara="0" vertOverflow="overflow" horzOverflow="overflow" vert="horz" wrap="square" lIns="216000" tIns="108000" rIns="108000" bIns="45720" numCol="1" spcCol="0" rtlCol="0" fromWordArt="0" anchor="ctr" anchorCtr="0" forceAA="0" compatLnSpc="1">
              <a:normAutofit/>
            </a:bodyPr>
            <a:lstStyle/>
            <a:p>
              <a:pPr algn="ctr"/>
              <a:endParaRPr lang="da-DK" altLang="zh-CN" dirty="0">
                <a:solidFill>
                  <a:sysClr val="window" lastClr="FFFFFF"/>
                </a:solidFill>
                <a:sym typeface="Arial" panose="020B0604020202020204" pitchFamily="34" charset="0"/>
              </a:endParaRPr>
            </a:p>
          </p:txBody>
        </p:sp>
        <p:sp>
          <p:nvSpPr>
            <p:cNvPr id="29" name="等腰三角形 28"/>
            <p:cNvSpPr/>
            <p:nvPr>
              <p:custDataLst>
                <p:tags r:id="rId14"/>
              </p:custDataLst>
            </p:nvPr>
          </p:nvSpPr>
          <p:spPr>
            <a:xfrm rot="17703762">
              <a:off x="14383" y="4671"/>
              <a:ext cx="165" cy="404"/>
            </a:xfrm>
            <a:prstGeom prst="triangle">
              <a:avLst/>
            </a:prstGeom>
            <a:solidFill>
              <a:srgbClr val="3498DB">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30" name="等腰三角形 29"/>
            <p:cNvSpPr/>
            <p:nvPr>
              <p:custDataLst>
                <p:tags r:id="rId15"/>
              </p:custDataLst>
            </p:nvPr>
          </p:nvSpPr>
          <p:spPr>
            <a:xfrm rot="14680307">
              <a:off x="14323" y="4546"/>
              <a:ext cx="165" cy="221"/>
            </a:xfrm>
            <a:prstGeom prst="triangle">
              <a:avLst/>
            </a:prstGeom>
            <a:solidFill>
              <a:srgbClr val="3498DB">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31" name="任意多边形 30"/>
            <p:cNvSpPr/>
            <p:nvPr>
              <p:custDataLst>
                <p:tags r:id="rId16"/>
              </p:custDataLst>
            </p:nvPr>
          </p:nvSpPr>
          <p:spPr>
            <a:xfrm>
              <a:off x="9443" y="3761"/>
              <a:ext cx="1221" cy="672"/>
            </a:xfrm>
            <a:custGeom>
              <a:avLst/>
              <a:gdLst>
                <a:gd name="connsiteX0" fmla="*/ 775646 w 775646"/>
                <a:gd name="connsiteY0" fmla="*/ 0 h 426586"/>
                <a:gd name="connsiteX1" fmla="*/ 666454 w 775646"/>
                <a:gd name="connsiteY1" fmla="*/ 355733 h 426586"/>
                <a:gd name="connsiteX2" fmla="*/ 219107 w 775646"/>
                <a:gd name="connsiteY2" fmla="*/ 426586 h 426586"/>
                <a:gd name="connsiteX3" fmla="*/ 0 w 775646"/>
                <a:gd name="connsiteY3" fmla="*/ 27086 h 426586"/>
              </a:gdLst>
              <a:ahLst/>
              <a:cxnLst>
                <a:cxn ang="0">
                  <a:pos x="connsiteX0" y="connsiteY0"/>
                </a:cxn>
                <a:cxn ang="0">
                  <a:pos x="connsiteX1" y="connsiteY1"/>
                </a:cxn>
                <a:cxn ang="0">
                  <a:pos x="connsiteX2" y="connsiteY2"/>
                </a:cxn>
                <a:cxn ang="0">
                  <a:pos x="connsiteX3" y="connsiteY3"/>
                </a:cxn>
              </a:cxnLst>
              <a:rect l="l" t="t" r="r" b="b"/>
              <a:pathLst>
                <a:path w="775646" h="426586">
                  <a:moveTo>
                    <a:pt x="775646" y="0"/>
                  </a:moveTo>
                  <a:lnTo>
                    <a:pt x="666454" y="355733"/>
                  </a:lnTo>
                  <a:lnTo>
                    <a:pt x="219107" y="426586"/>
                  </a:lnTo>
                  <a:lnTo>
                    <a:pt x="0" y="27086"/>
                  </a:lnTo>
                  <a:close/>
                </a:path>
              </a:pathLst>
            </a:custGeom>
            <a:solidFill>
              <a:srgbClr val="3498DB"/>
            </a:solidFill>
          </p:spPr>
          <p:txBody>
            <a:bodyPr rot="0" spcFirstLastPara="0" vertOverflow="overflow" horzOverflow="overflow" vert="horz" wrap="square" lIns="144000" tIns="45720" rIns="91440" bIns="45720" numCol="1" spcCol="0" rtlCol="0" fromWordArt="0" anchor="ctr" anchorCtr="0" forceAA="0" compatLnSpc="1">
              <a:normAutofit/>
            </a:bodyPr>
            <a:lstStyle/>
            <a:p>
              <a:pPr algn="ctr"/>
              <a:endParaRPr lang="zh-CN" altLang="en-US" sz="2000" b="1" dirty="0" err="1">
                <a:solidFill>
                  <a:sysClr val="window" lastClr="FFFFFF"/>
                </a:solidFill>
                <a:sym typeface="Arial" panose="020B0604020202020204" pitchFamily="34" charset="0"/>
              </a:endParaRPr>
            </a:p>
          </p:txBody>
        </p:sp>
        <p:sp>
          <p:nvSpPr>
            <p:cNvPr id="33" name="任意多边形 32"/>
            <p:cNvSpPr/>
            <p:nvPr>
              <p:custDataLst>
                <p:tags r:id="rId17"/>
              </p:custDataLst>
            </p:nvPr>
          </p:nvSpPr>
          <p:spPr>
            <a:xfrm>
              <a:off x="10349" y="6265"/>
              <a:ext cx="5150" cy="1759"/>
            </a:xfrm>
            <a:custGeom>
              <a:avLst/>
              <a:gdLst>
                <a:gd name="connsiteX0" fmla="*/ 3155203 w 3155203"/>
                <a:gd name="connsiteY0" fmla="*/ 0 h 850448"/>
                <a:gd name="connsiteX1" fmla="*/ 2997498 w 3155203"/>
                <a:gd name="connsiteY1" fmla="*/ 578071 h 850448"/>
                <a:gd name="connsiteX2" fmla="*/ 406001 w 3155203"/>
                <a:gd name="connsiteY2" fmla="*/ 850448 h 850448"/>
                <a:gd name="connsiteX3" fmla="*/ 0 w 3155203"/>
                <a:gd name="connsiteY3" fmla="*/ 110182 h 850448"/>
              </a:gdLst>
              <a:ahLst/>
              <a:cxnLst>
                <a:cxn ang="0">
                  <a:pos x="connsiteX0" y="connsiteY0"/>
                </a:cxn>
                <a:cxn ang="0">
                  <a:pos x="connsiteX1" y="connsiteY1"/>
                </a:cxn>
                <a:cxn ang="0">
                  <a:pos x="connsiteX2" y="connsiteY2"/>
                </a:cxn>
                <a:cxn ang="0">
                  <a:pos x="connsiteX3" y="connsiteY3"/>
                </a:cxn>
              </a:cxnLst>
              <a:rect l="l" t="t" r="r" b="b"/>
              <a:pathLst>
                <a:path w="3155203" h="850448">
                  <a:moveTo>
                    <a:pt x="3155203" y="0"/>
                  </a:moveTo>
                  <a:lnTo>
                    <a:pt x="2997498" y="578071"/>
                  </a:lnTo>
                  <a:lnTo>
                    <a:pt x="406001" y="850448"/>
                  </a:lnTo>
                  <a:lnTo>
                    <a:pt x="0" y="110182"/>
                  </a:lnTo>
                  <a:close/>
                </a:path>
              </a:pathLst>
            </a:custGeom>
            <a:solidFill>
              <a:srgbClr val="69A35B">
                <a:lumMod val="60000"/>
                <a:lumOff val="40000"/>
              </a:srgbClr>
            </a:solidFill>
          </p:spPr>
          <p:txBody>
            <a:bodyPr rot="0" spcFirstLastPara="0" vertOverflow="overflow" horzOverflow="overflow" vert="horz" wrap="square" lIns="216000" tIns="108000" rIns="108000" bIns="45720" numCol="1" spcCol="0" rtlCol="0" fromWordArt="0" anchor="ctr" anchorCtr="0" forceAA="0" compatLnSpc="1">
              <a:normAutofit/>
            </a:bodyPr>
            <a:lstStyle/>
            <a:p>
              <a:pPr algn="ctr"/>
              <a:endParaRPr lang="da-DK" altLang="zh-CN" dirty="0">
                <a:solidFill>
                  <a:sysClr val="window" lastClr="FFFFFF"/>
                </a:solidFill>
                <a:sym typeface="Arial" panose="020B0604020202020204" pitchFamily="34" charset="0"/>
              </a:endParaRPr>
            </a:p>
          </p:txBody>
        </p:sp>
        <p:sp>
          <p:nvSpPr>
            <p:cNvPr id="34" name="等腰三角形 33"/>
            <p:cNvSpPr/>
            <p:nvPr>
              <p:custDataLst>
                <p:tags r:id="rId18"/>
              </p:custDataLst>
            </p:nvPr>
          </p:nvSpPr>
          <p:spPr>
            <a:xfrm rot="17703762">
              <a:off x="15323" y="7077"/>
              <a:ext cx="165" cy="404"/>
            </a:xfrm>
            <a:prstGeom prst="triangle">
              <a:avLst/>
            </a:prstGeom>
            <a:solidFill>
              <a:srgbClr val="69A35B">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35" name="等腰三角形 34"/>
            <p:cNvSpPr/>
            <p:nvPr>
              <p:custDataLst>
                <p:tags r:id="rId19"/>
              </p:custDataLst>
            </p:nvPr>
          </p:nvSpPr>
          <p:spPr>
            <a:xfrm rot="14680307">
              <a:off x="15263" y="6952"/>
              <a:ext cx="165" cy="221"/>
            </a:xfrm>
            <a:prstGeom prst="triangle">
              <a:avLst/>
            </a:prstGeom>
            <a:solidFill>
              <a:srgbClr val="69A35B">
                <a:alpha val="20000"/>
              </a:srgbClr>
            </a:solidFill>
          </p:spPr>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just">
                <a:lnSpc>
                  <a:spcPct val="130000"/>
                </a:lnSpc>
              </a:pPr>
              <a:endParaRPr lang="zh-CN" altLang="en-US" dirty="0" err="1">
                <a:solidFill>
                  <a:sysClr val="window" lastClr="FFFFFF"/>
                </a:solidFill>
                <a:sym typeface="Arial" panose="020B0604020202020204" pitchFamily="34" charset="0"/>
              </a:endParaRPr>
            </a:p>
          </p:txBody>
        </p:sp>
        <p:sp>
          <p:nvSpPr>
            <p:cNvPr id="36" name="任意多边形 35"/>
            <p:cNvSpPr/>
            <p:nvPr>
              <p:custDataLst>
                <p:tags r:id="rId20"/>
              </p:custDataLst>
            </p:nvPr>
          </p:nvSpPr>
          <p:spPr>
            <a:xfrm>
              <a:off x="10383" y="6179"/>
              <a:ext cx="1221" cy="672"/>
            </a:xfrm>
            <a:custGeom>
              <a:avLst/>
              <a:gdLst>
                <a:gd name="connsiteX0" fmla="*/ 775646 w 775646"/>
                <a:gd name="connsiteY0" fmla="*/ 0 h 426586"/>
                <a:gd name="connsiteX1" fmla="*/ 666454 w 775646"/>
                <a:gd name="connsiteY1" fmla="*/ 355733 h 426586"/>
                <a:gd name="connsiteX2" fmla="*/ 219107 w 775646"/>
                <a:gd name="connsiteY2" fmla="*/ 426586 h 426586"/>
                <a:gd name="connsiteX3" fmla="*/ 0 w 775646"/>
                <a:gd name="connsiteY3" fmla="*/ 27086 h 426586"/>
              </a:gdLst>
              <a:ahLst/>
              <a:cxnLst>
                <a:cxn ang="0">
                  <a:pos x="connsiteX0" y="connsiteY0"/>
                </a:cxn>
                <a:cxn ang="0">
                  <a:pos x="connsiteX1" y="connsiteY1"/>
                </a:cxn>
                <a:cxn ang="0">
                  <a:pos x="connsiteX2" y="connsiteY2"/>
                </a:cxn>
                <a:cxn ang="0">
                  <a:pos x="connsiteX3" y="connsiteY3"/>
                </a:cxn>
              </a:cxnLst>
              <a:rect l="l" t="t" r="r" b="b"/>
              <a:pathLst>
                <a:path w="775646" h="426586">
                  <a:moveTo>
                    <a:pt x="775646" y="0"/>
                  </a:moveTo>
                  <a:lnTo>
                    <a:pt x="666454" y="355733"/>
                  </a:lnTo>
                  <a:lnTo>
                    <a:pt x="219107" y="426586"/>
                  </a:lnTo>
                  <a:lnTo>
                    <a:pt x="0" y="27086"/>
                  </a:lnTo>
                  <a:close/>
                </a:path>
              </a:pathLst>
            </a:custGeom>
            <a:solidFill>
              <a:srgbClr val="69A35B"/>
            </a:solidFill>
          </p:spPr>
          <p:txBody>
            <a:bodyPr rot="0" spcFirstLastPara="0" vertOverflow="overflow" horzOverflow="overflow" vert="horz" wrap="square" lIns="144000" tIns="45720" rIns="91440" bIns="45720" numCol="1" spcCol="0" rtlCol="0" fromWordArt="0" anchor="ctr" anchorCtr="0" forceAA="0" compatLnSpc="1">
              <a:normAutofit/>
            </a:bodyPr>
            <a:lstStyle/>
            <a:p>
              <a:pPr algn="ctr"/>
              <a:endParaRPr lang="zh-CN" altLang="en-US" sz="2000" b="1" dirty="0" err="1">
                <a:solidFill>
                  <a:sysClr val="window" lastClr="FFFFFF"/>
                </a:solidFill>
                <a:sym typeface="Arial" panose="020B0604020202020204" pitchFamily="34" charset="0"/>
              </a:endParaRPr>
            </a:p>
          </p:txBody>
        </p:sp>
        <p:sp>
          <p:nvSpPr>
            <p:cNvPr id="5" name="矩形 4"/>
            <p:cNvSpPr/>
            <p:nvPr>
              <p:custDataLst>
                <p:tags r:id="rId21"/>
              </p:custDataLst>
            </p:nvPr>
          </p:nvSpPr>
          <p:spPr>
            <a:xfrm>
              <a:off x="3889" y="2974"/>
              <a:ext cx="695" cy="582"/>
            </a:xfrm>
            <a:prstGeom prst="rect">
              <a:avLst/>
            </a:prstGeom>
          </p:spPr>
          <p:txBody>
            <a:bodyPr wrap="none">
              <a:noAutofit/>
            </a:bodyPr>
            <a:lstStyle/>
            <a:p>
              <a:pPr algn="ctr"/>
              <a:r>
                <a:rPr lang="en-US" altLang="zh-CN" sz="2400" b="1" dirty="0">
                  <a:solidFill>
                    <a:sysClr val="window" lastClr="FFFFFF"/>
                  </a:solidFill>
                  <a:sym typeface="Arial" panose="020B0604020202020204" pitchFamily="34" charset="0"/>
                </a:rPr>
                <a:t>1</a:t>
              </a:r>
              <a:endParaRPr lang="zh-CN" altLang="en-US" sz="2400" b="1" dirty="0" err="1">
                <a:solidFill>
                  <a:sysClr val="window" lastClr="FFFFFF"/>
                </a:solidFill>
                <a:sym typeface="Arial" panose="020B0604020202020204" pitchFamily="34" charset="0"/>
              </a:endParaRPr>
            </a:p>
          </p:txBody>
        </p:sp>
        <p:sp>
          <p:nvSpPr>
            <p:cNvPr id="6" name="矩形 5"/>
            <p:cNvSpPr/>
            <p:nvPr>
              <p:custDataLst>
                <p:tags r:id="rId22"/>
              </p:custDataLst>
            </p:nvPr>
          </p:nvSpPr>
          <p:spPr>
            <a:xfrm>
              <a:off x="9706" y="3806"/>
              <a:ext cx="695" cy="582"/>
            </a:xfrm>
            <a:prstGeom prst="rect">
              <a:avLst/>
            </a:prstGeom>
          </p:spPr>
          <p:txBody>
            <a:bodyPr wrap="none">
              <a:noAutofit/>
            </a:bodyPr>
            <a:lstStyle/>
            <a:p>
              <a:pPr algn="ctr"/>
              <a:r>
                <a:rPr lang="en-US" altLang="zh-CN" sz="2400" b="1" dirty="0">
                  <a:solidFill>
                    <a:sysClr val="window" lastClr="FFFFFF"/>
                  </a:solidFill>
                  <a:sym typeface="Arial" panose="020B0604020202020204" pitchFamily="34" charset="0"/>
                </a:rPr>
                <a:t>4</a:t>
              </a:r>
              <a:endParaRPr lang="zh-CN" altLang="en-US" sz="2400" b="1" dirty="0" err="1">
                <a:solidFill>
                  <a:sysClr val="window" lastClr="FFFFFF"/>
                </a:solidFill>
                <a:sym typeface="Arial" panose="020B0604020202020204" pitchFamily="34" charset="0"/>
              </a:endParaRPr>
            </a:p>
          </p:txBody>
        </p:sp>
        <p:sp>
          <p:nvSpPr>
            <p:cNvPr id="7" name="矩形 6"/>
            <p:cNvSpPr/>
            <p:nvPr>
              <p:custDataLst>
                <p:tags r:id="rId23"/>
              </p:custDataLst>
            </p:nvPr>
          </p:nvSpPr>
          <p:spPr>
            <a:xfrm>
              <a:off x="4829" y="5434"/>
              <a:ext cx="695" cy="582"/>
            </a:xfrm>
            <a:prstGeom prst="rect">
              <a:avLst/>
            </a:prstGeom>
          </p:spPr>
          <p:txBody>
            <a:bodyPr wrap="none">
              <a:noAutofit/>
            </a:bodyPr>
            <a:lstStyle/>
            <a:p>
              <a:pPr algn="ctr"/>
              <a:r>
                <a:rPr lang="en-US" altLang="zh-CN" sz="2400" b="1" dirty="0">
                  <a:solidFill>
                    <a:sysClr val="window" lastClr="FFFFFF"/>
                  </a:solidFill>
                  <a:sym typeface="Arial" panose="020B0604020202020204" pitchFamily="34" charset="0"/>
                </a:rPr>
                <a:t>2</a:t>
              </a:r>
              <a:endParaRPr lang="zh-CN" altLang="en-US" sz="2400" b="1" dirty="0" err="1">
                <a:solidFill>
                  <a:sysClr val="window" lastClr="FFFFFF"/>
                </a:solidFill>
                <a:sym typeface="Arial" panose="020B0604020202020204" pitchFamily="34" charset="0"/>
              </a:endParaRPr>
            </a:p>
          </p:txBody>
        </p:sp>
        <p:sp>
          <p:nvSpPr>
            <p:cNvPr id="11" name="矩形 10"/>
            <p:cNvSpPr/>
            <p:nvPr>
              <p:custDataLst>
                <p:tags r:id="rId24"/>
              </p:custDataLst>
            </p:nvPr>
          </p:nvSpPr>
          <p:spPr>
            <a:xfrm>
              <a:off x="10646" y="6224"/>
              <a:ext cx="695" cy="582"/>
            </a:xfrm>
            <a:prstGeom prst="rect">
              <a:avLst/>
            </a:prstGeom>
          </p:spPr>
          <p:txBody>
            <a:bodyPr wrap="none">
              <a:noAutofit/>
            </a:bodyPr>
            <a:lstStyle/>
            <a:p>
              <a:pPr algn="ctr"/>
              <a:r>
                <a:rPr lang="en-US" altLang="zh-CN" sz="2400" b="1" dirty="0">
                  <a:solidFill>
                    <a:sysClr val="window" lastClr="FFFFFF"/>
                  </a:solidFill>
                  <a:sym typeface="Arial" panose="020B0604020202020204" pitchFamily="34" charset="0"/>
                </a:rPr>
                <a:t>5</a:t>
              </a:r>
              <a:endParaRPr lang="zh-CN" altLang="en-US" sz="2400" b="1" dirty="0" err="1">
                <a:solidFill>
                  <a:sysClr val="window" lastClr="FFFFFF"/>
                </a:solidFill>
                <a:sym typeface="Arial" panose="020B0604020202020204" pitchFamily="34" charset="0"/>
              </a:endParaRPr>
            </a:p>
          </p:txBody>
        </p:sp>
        <p:sp>
          <p:nvSpPr>
            <p:cNvPr id="12" name="矩形 11"/>
            <p:cNvSpPr/>
            <p:nvPr>
              <p:custDataLst>
                <p:tags r:id="rId25"/>
              </p:custDataLst>
            </p:nvPr>
          </p:nvSpPr>
          <p:spPr>
            <a:xfrm>
              <a:off x="5769" y="7840"/>
              <a:ext cx="695" cy="582"/>
            </a:xfrm>
            <a:prstGeom prst="rect">
              <a:avLst/>
            </a:prstGeom>
          </p:spPr>
          <p:txBody>
            <a:bodyPr wrap="none">
              <a:noAutofit/>
            </a:bodyPr>
            <a:lstStyle/>
            <a:p>
              <a:pPr algn="ctr"/>
              <a:r>
                <a:rPr lang="en-US" altLang="zh-CN" sz="2400" b="1" dirty="0">
                  <a:solidFill>
                    <a:sysClr val="window" lastClr="FFFFFF"/>
                  </a:solidFill>
                  <a:sym typeface="Arial" panose="020B0604020202020204" pitchFamily="34" charset="0"/>
                </a:rPr>
                <a:t>3</a:t>
              </a:r>
              <a:endParaRPr lang="zh-CN" altLang="en-US" sz="2400" b="1" dirty="0" err="1">
                <a:solidFill>
                  <a:sysClr val="window" lastClr="FFFFFF"/>
                </a:solidFill>
                <a:sym typeface="Arial" panose="020B0604020202020204" pitchFamily="34" charset="0"/>
              </a:endParaRPr>
            </a:p>
          </p:txBody>
        </p:sp>
        <p:sp>
          <p:nvSpPr>
            <p:cNvPr id="41" name="文本框 40"/>
            <p:cNvSpPr txBox="1"/>
            <p:nvPr>
              <p:custDataLst>
                <p:tags r:id="rId26"/>
              </p:custDataLst>
            </p:nvPr>
          </p:nvSpPr>
          <p:spPr>
            <a:xfrm>
              <a:off x="11460" y="6658"/>
              <a:ext cx="3219" cy="776"/>
            </a:xfrm>
            <a:prstGeom prst="rect">
              <a:avLst/>
            </a:prstGeom>
            <a:noFill/>
          </p:spPr>
          <p:txBody>
            <a:bodyPr wrap="square" rtlCol="0" anchor="ctr">
              <a:noAutofit/>
            </a:bodyPr>
            <a:lstStyle/>
            <a:p>
              <a:pPr>
                <a:lnSpc>
                  <a:spcPct val="120000"/>
                </a:lnSpc>
              </a:pPr>
              <a:r>
                <a:rPr lang="zh-CN" altLang="en-US" sz="20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sym typeface="+mn-ea"/>
                </a:rPr>
                <a:t>构建数据产品超市</a:t>
              </a:r>
              <a:endParaRPr lang="zh-CN" altLang="en-US" sz="2000" spc="150"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custDataLst>
                <p:tags r:id="rId27"/>
              </p:custDataLst>
            </p:nvPr>
          </p:nvSpPr>
          <p:spPr>
            <a:xfrm>
              <a:off x="5618" y="5861"/>
              <a:ext cx="3476" cy="1201"/>
            </a:xfrm>
            <a:prstGeom prst="rect">
              <a:avLst/>
            </a:prstGeom>
            <a:noFill/>
          </p:spPr>
          <p:txBody>
            <a:bodyPr wrap="square" rtlCol="0" anchor="ctr">
              <a:noAutofit/>
            </a:bodyPr>
            <a:lstStyle/>
            <a:p>
              <a:pPr>
                <a:lnSpc>
                  <a:spcPct val="120000"/>
                </a:lnSpc>
              </a:pPr>
              <a:r>
                <a:rPr lang="zh-CN" altLang="en-US" sz="2000" b="1" kern="100" dirty="0">
                  <a:solidFill>
                    <a:schemeClr val="bg1"/>
                  </a:solidFill>
                  <a:latin typeface="等线" panose="02010600030101010101" pitchFamily="2" charset="-122"/>
                  <a:cs typeface="Times New Roman" panose="02020603050405020304" pitchFamily="18" charset="0"/>
                  <a:sym typeface="+mn-ea"/>
                </a:rPr>
                <a:t>借助云数仓的高度可扩展性和灵活性，轻松应对数据量的增长和业务变化</a:t>
              </a:r>
              <a:endParaRPr lang="zh-CN" altLang="en-US" sz="2000" b="1" kern="100" dirty="0">
                <a:solidFill>
                  <a:schemeClr val="bg1"/>
                </a:solidFill>
                <a:latin typeface="等线" panose="02010600030101010101" pitchFamily="2" charset="-122"/>
                <a:cs typeface="Times New Roman" panose="02020603050405020304" pitchFamily="18" charset="0"/>
              </a:endParaRPr>
            </a:p>
          </p:txBody>
        </p:sp>
        <p:sp>
          <p:nvSpPr>
            <p:cNvPr id="43" name="文本框 42"/>
            <p:cNvSpPr txBox="1"/>
            <p:nvPr>
              <p:custDataLst>
                <p:tags r:id="rId28"/>
              </p:custDataLst>
            </p:nvPr>
          </p:nvSpPr>
          <p:spPr>
            <a:xfrm>
              <a:off x="6394" y="8355"/>
              <a:ext cx="3559" cy="776"/>
            </a:xfrm>
            <a:prstGeom prst="rect">
              <a:avLst/>
            </a:prstGeom>
            <a:noFill/>
          </p:spPr>
          <p:txBody>
            <a:bodyPr wrap="square" rtlCol="0" anchor="ctr">
              <a:noAutofit/>
            </a:bodyPr>
            <a:lstStyle/>
            <a:p>
              <a:pPr>
                <a:lnSpc>
                  <a:spcPct val="120000"/>
                </a:lnSpc>
              </a:pPr>
              <a:r>
                <a:rPr lang="zh-CN" altLang="en-US" sz="2000" b="1" kern="100" dirty="0">
                  <a:solidFill>
                    <a:schemeClr val="bg1"/>
                  </a:solidFill>
                  <a:latin typeface="等线" panose="02010600030101010101" pitchFamily="2" charset="-122"/>
                  <a:cs typeface="Times New Roman" panose="02020603050405020304" pitchFamily="18" charset="0"/>
                  <a:sym typeface="+mn-ea"/>
                </a:rPr>
                <a:t>提供多中小企业和个体户的云数据库服务</a:t>
              </a:r>
              <a:endParaRPr lang="zh-CN" altLang="en-US" sz="2000" spc="15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custDataLst>
                <p:tags r:id="rId29"/>
              </p:custDataLst>
            </p:nvPr>
          </p:nvSpPr>
          <p:spPr>
            <a:xfrm>
              <a:off x="4670" y="3387"/>
              <a:ext cx="3799" cy="1239"/>
            </a:xfrm>
            <a:prstGeom prst="rect">
              <a:avLst/>
            </a:prstGeom>
            <a:noFill/>
          </p:spPr>
          <p:txBody>
            <a:bodyPr wrap="square" rtlCol="0" anchor="ctr">
              <a:noAutofit/>
            </a:bodyPr>
            <a:lstStyle/>
            <a:p>
              <a:pPr>
                <a:lnSpc>
                  <a:spcPct val="120000"/>
                </a:lnSpc>
              </a:pPr>
              <a:r>
                <a:rPr lang="zh-CN" altLang="en-US" sz="2000" b="1" kern="100" dirty="0">
                  <a:solidFill>
                    <a:schemeClr val="bg1"/>
                  </a:solidFill>
                  <a:latin typeface="等线" panose="02010600030101010101" pitchFamily="2" charset="-122"/>
                  <a:cs typeface="Times New Roman" panose="02020603050405020304" pitchFamily="18" charset="0"/>
                </a:rPr>
                <a:t>借助所提供的先进数据管理和分析功能，帮助用户更好地轻松管理和分析大数据集</a:t>
              </a:r>
            </a:p>
          </p:txBody>
        </p:sp>
        <p:sp>
          <p:nvSpPr>
            <p:cNvPr id="45" name="文本框 44"/>
            <p:cNvSpPr txBox="1"/>
            <p:nvPr>
              <p:custDataLst>
                <p:tags r:id="rId30"/>
              </p:custDataLst>
            </p:nvPr>
          </p:nvSpPr>
          <p:spPr>
            <a:xfrm>
              <a:off x="10529" y="4362"/>
              <a:ext cx="3503" cy="776"/>
            </a:xfrm>
            <a:prstGeom prst="rect">
              <a:avLst/>
            </a:prstGeom>
            <a:noFill/>
          </p:spPr>
          <p:txBody>
            <a:bodyPr wrap="square" rtlCol="0" anchor="ctr">
              <a:noAutofit/>
            </a:bodyPr>
            <a:lstStyle/>
            <a:p>
              <a:pPr>
                <a:lnSpc>
                  <a:spcPct val="120000"/>
                </a:lnSpc>
              </a:pPr>
              <a:r>
                <a:rPr lang="zh-CN" altLang="en-US" sz="20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sym typeface="+mn-ea"/>
                </a:rPr>
                <a:t>基于云的大数据存储与分析类系统建设</a:t>
              </a:r>
              <a:endParaRPr lang="zh-CN" altLang="en-US" sz="2000" spc="15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698105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37552" y="147600"/>
            <a:ext cx="2218521" cy="860400"/>
          </a:xfrm>
        </p:spPr>
        <p:txBody>
          <a:bodyPr>
            <a:normAutofit/>
          </a:bodyPr>
          <a:lstStyle/>
          <a:p>
            <a:r>
              <a:rPr lang="zh-CN" altLang="en-US" b="1" dirty="0">
                <a:solidFill>
                  <a:srgbClr val="1F487C"/>
                </a:solidFill>
              </a:rPr>
              <a:t>技术优势</a:t>
            </a: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翰云数仓</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CA61435-C00E-7567-D89A-2DE0C708B699}"/>
              </a:ext>
            </a:extLst>
          </p:cNvPr>
          <p:cNvSpPr txBox="1"/>
          <p:nvPr/>
        </p:nvSpPr>
        <p:spPr>
          <a:xfrm>
            <a:off x="540500" y="971486"/>
            <a:ext cx="11206999" cy="961289"/>
          </a:xfrm>
          <a:prstGeom prst="rect">
            <a:avLst/>
          </a:prstGeom>
          <a:noFill/>
        </p:spPr>
        <p:txBody>
          <a:bodyPr wrap="square">
            <a:spAutoFit/>
          </a:bodyPr>
          <a:lstStyle>
            <a:defPPr>
              <a:defRPr lang="zh-CN"/>
            </a:defPPr>
            <a:lvl1pPr algn="just">
              <a:defRPr sz="2400" b="1" kern="100">
                <a:solidFill>
                  <a:srgbClr val="1F487C"/>
                </a:solidFill>
                <a:latin typeface="等线" panose="02010600030101010101" pitchFamily="2" charset="-122"/>
                <a:cs typeface="Times New Roman" panose="02020603050405020304" pitchFamily="18" charset="0"/>
              </a:defRPr>
            </a:lvl1pPr>
          </a:lstStyle>
          <a:p>
            <a:pPr>
              <a:lnSpc>
                <a:spcPct val="150000"/>
              </a:lnSpc>
            </a:pPr>
            <a:r>
              <a:rPr lang="zh-CN" altLang="en-US" sz="2000" dirty="0">
                <a:latin typeface="微软雅黑" panose="020B0503020204020204" pitchFamily="34" charset="-122"/>
                <a:ea typeface="微软雅黑" panose="020B0503020204020204" pitchFamily="34" charset="-122"/>
              </a:rPr>
              <a:t>基于多维分析算法专利的多维向量化引擎和大规模并行计算，为大数据的分析挖掘提供保障。性能上与同类产品相比具有突出优势</a:t>
            </a:r>
          </a:p>
        </p:txBody>
      </p:sp>
      <p:sp>
        <p:nvSpPr>
          <p:cNvPr id="2" name="标题 1">
            <a:extLst>
              <a:ext uri="{FF2B5EF4-FFF2-40B4-BE49-F238E27FC236}">
                <a16:creationId xmlns:a16="http://schemas.microsoft.com/office/drawing/2014/main" id="{78AC2B46-ACEA-3050-5875-C0FBC30FD1D3}"/>
              </a:ext>
            </a:extLst>
          </p:cNvPr>
          <p:cNvSpPr txBox="1"/>
          <p:nvPr/>
        </p:nvSpPr>
        <p:spPr bwMode="auto">
          <a:xfrm>
            <a:off x="3710310" y="1962533"/>
            <a:ext cx="6553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同类产品性能比对</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Star Schema Benchmark 1T </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测试集）</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FA38261-EA24-7DBB-70DA-2751039904FB}"/>
              </a:ext>
            </a:extLst>
          </p:cNvPr>
          <p:cNvSpPr txBox="1"/>
          <p:nvPr/>
        </p:nvSpPr>
        <p:spPr>
          <a:xfrm>
            <a:off x="1045029" y="6178714"/>
            <a:ext cx="10003609" cy="584775"/>
          </a:xfrm>
          <a:prstGeom prst="rect">
            <a:avLst/>
          </a:prstGeom>
          <a:noFill/>
        </p:spPr>
        <p:txBody>
          <a:bodyPr wrap="square" rtlCol="0">
            <a:spAutoFit/>
          </a:bodyPr>
          <a:lstStyle/>
          <a:p>
            <a:r>
              <a:rPr lang="zh-CN" altLang="en-US" sz="1600" b="0" kern="1200" dirty="0">
                <a:solidFill>
                  <a:schemeClr val="tx1">
                    <a:lumMod val="65000"/>
                    <a:lumOff val="35000"/>
                  </a:schemeClr>
                </a:solidFill>
                <a:latin typeface="微软雅黑" panose="020B0503020204020204" pitchFamily="34" charset="-122"/>
                <a:ea typeface="微软雅黑" panose="020B0503020204020204" pitchFamily="34" charset="-122"/>
              </a:rPr>
              <a:t>测试结论：得益于翰云云数仓拥有多维分析算法专利的</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多维向量化引擎，在</a:t>
            </a:r>
            <a:r>
              <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rPr>
              <a:t>学术界和工业界广泛使用的一个星型模型测试集</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SSB</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）上性能稳超同类产品</a:t>
            </a:r>
          </a:p>
        </p:txBody>
      </p:sp>
      <p:sp>
        <p:nvSpPr>
          <p:cNvPr id="17" name="文本框 16">
            <a:extLst>
              <a:ext uri="{FF2B5EF4-FFF2-40B4-BE49-F238E27FC236}">
                <a16:creationId xmlns:a16="http://schemas.microsoft.com/office/drawing/2014/main" id="{064D9C0F-550F-1CAC-D54A-8549721CEDBA}"/>
              </a:ext>
            </a:extLst>
          </p:cNvPr>
          <p:cNvSpPr txBox="1"/>
          <p:nvPr/>
        </p:nvSpPr>
        <p:spPr>
          <a:xfrm>
            <a:off x="1045029" y="2896354"/>
            <a:ext cx="1613583" cy="954107"/>
          </a:xfrm>
          <a:prstGeom prst="rect">
            <a:avLst/>
          </a:prstGeom>
          <a:noFill/>
        </p:spPr>
        <p:txBody>
          <a:bodyPr wrap="none" rtlCol="0">
            <a:spAutoFit/>
          </a:bodyPr>
          <a:lstStyle/>
          <a:p>
            <a:pPr marL="285750" indent="-285750">
              <a:buClr>
                <a:schemeClr val="accent1"/>
              </a:buClr>
              <a:buFont typeface="Wingdings" panose="05000000000000000000" pitchFamily="2" charset="2"/>
              <a:buChar char="Ø"/>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硬件环境</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4</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台阿里云主机</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64core 256g</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内存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ESSD</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高效云盘</a:t>
            </a:r>
          </a:p>
        </p:txBody>
      </p:sp>
      <p:sp>
        <p:nvSpPr>
          <p:cNvPr id="18" name="文本框 17">
            <a:extLst>
              <a:ext uri="{FF2B5EF4-FFF2-40B4-BE49-F238E27FC236}">
                <a16:creationId xmlns:a16="http://schemas.microsoft.com/office/drawing/2014/main" id="{A5392C14-ACFE-040F-DF83-78F59F00D022}"/>
              </a:ext>
            </a:extLst>
          </p:cNvPr>
          <p:cNvSpPr txBox="1"/>
          <p:nvPr/>
        </p:nvSpPr>
        <p:spPr>
          <a:xfrm>
            <a:off x="1045029" y="4639149"/>
            <a:ext cx="1616596" cy="738664"/>
          </a:xfrm>
          <a:prstGeom prst="rect">
            <a:avLst/>
          </a:prstGeom>
          <a:noFill/>
        </p:spPr>
        <p:txBody>
          <a:bodyPr wrap="none" rtlCol="0">
            <a:spAutoFit/>
          </a:bodyPr>
          <a:lstStyle/>
          <a:p>
            <a:pPr marL="285750" indent="-285750">
              <a:buClr>
                <a:schemeClr val="accent1"/>
              </a:buClr>
              <a:buFont typeface="Wingdings" panose="05000000000000000000" pitchFamily="2" charset="2"/>
              <a:buChar char="Ø"/>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软件版本</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sz="1400" dirty="0" err="1">
                <a:solidFill>
                  <a:schemeClr val="tx1">
                    <a:lumMod val="65000"/>
                    <a:lumOff val="35000"/>
                  </a:schemeClr>
                </a:solidFill>
                <a:effectLst/>
                <a:latin typeface="微软雅黑" panose="020B0503020204020204" pitchFamily="34" charset="-122"/>
                <a:ea typeface="微软雅黑" panose="020B0503020204020204" pitchFamily="34" charset="-122"/>
              </a:rPr>
              <a:t>Cloudwave</a:t>
            </a:r>
            <a:r>
              <a:rPr lang="en-US" altLang="zh-CN" sz="1400" dirty="0">
                <a:solidFill>
                  <a:schemeClr val="tx1">
                    <a:lumMod val="65000"/>
                    <a:lumOff val="35000"/>
                  </a:schemeClr>
                </a:solidFill>
                <a:effectLst/>
                <a:latin typeface="微软雅黑" panose="020B0503020204020204" pitchFamily="34" charset="-122"/>
                <a:ea typeface="微软雅黑" panose="020B0503020204020204" pitchFamily="34" charset="-122"/>
              </a:rPr>
              <a:t> 4.0</a:t>
            </a:r>
            <a:r>
              <a:rPr lang="zh-CN" altLang="zh-CN" sz="1400" dirty="0">
                <a:solidFill>
                  <a:schemeClr val="tx1">
                    <a:lumMod val="65000"/>
                    <a:lumOff val="35000"/>
                  </a:schemeClr>
                </a:solidFill>
                <a:effectLst/>
                <a:latin typeface="微软雅黑" panose="020B0503020204020204" pitchFamily="34" charset="-122"/>
                <a:ea typeface="微软雅黑" panose="020B0503020204020204" pitchFamily="34" charset="-122"/>
                <a:cs typeface="Arial" panose="020B0604020202020204" pitchFamily="34" charset="0"/>
              </a:rPr>
              <a:t>，</a:t>
            </a:r>
            <a:endParaRPr lang="en-US" altLang="zh-CN" sz="1400" dirty="0">
              <a:solidFill>
                <a:schemeClr val="tx1">
                  <a:lumMod val="65000"/>
                  <a:lumOff val="35000"/>
                </a:schemeClr>
              </a:solidFill>
              <a:effectLst/>
              <a:latin typeface="微软雅黑" panose="020B0503020204020204" pitchFamily="34" charset="-122"/>
              <a:ea typeface="微软雅黑" panose="020B0503020204020204" pitchFamily="34" charset="-122"/>
              <a:cs typeface="Arial" panose="020B0604020202020204" pitchFamily="34" charset="0"/>
            </a:endParaRPr>
          </a:p>
          <a:p>
            <a:r>
              <a:rPr lang="en-US" altLang="zh-CN" sz="1400" dirty="0" err="1">
                <a:solidFill>
                  <a:schemeClr val="tx1">
                    <a:lumMod val="65000"/>
                    <a:lumOff val="35000"/>
                  </a:schemeClr>
                </a:solidFill>
                <a:effectLst/>
                <a:latin typeface="微软雅黑" panose="020B0503020204020204" pitchFamily="34" charset="-122"/>
                <a:ea typeface="微软雅黑" panose="020B0503020204020204" pitchFamily="34" charset="-122"/>
              </a:rPr>
              <a:t>StarRocks</a:t>
            </a:r>
            <a:r>
              <a:rPr lang="en-US" altLang="zh-CN" sz="1400" dirty="0">
                <a:solidFill>
                  <a:schemeClr val="tx1">
                    <a:lumMod val="65000"/>
                    <a:lumOff val="35000"/>
                  </a:schemeClr>
                </a:solidFill>
                <a:effectLst/>
                <a:latin typeface="微软雅黑" panose="020B0503020204020204" pitchFamily="34" charset="-122"/>
                <a:ea typeface="微软雅黑" panose="020B0503020204020204" pitchFamily="34" charset="-122"/>
              </a:rPr>
              <a:t> </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2.5</a:t>
            </a:r>
            <a:r>
              <a:rPr lang="zh-CN" altLang="zh-CN" sz="1400" dirty="0">
                <a:solidFill>
                  <a:schemeClr val="tx1">
                    <a:lumMod val="65000"/>
                    <a:lumOff val="35000"/>
                  </a:schemeClr>
                </a:solidFill>
                <a:effectLst/>
                <a:latin typeface="微软雅黑" panose="020B0503020204020204" pitchFamily="34" charset="-122"/>
                <a:ea typeface="微软雅黑" panose="020B0503020204020204" pitchFamily="34" charset="-122"/>
                <a:cs typeface="Arial" panose="020B0604020202020204" pitchFamily="34" charset="0"/>
              </a:rPr>
              <a:t>，</a:t>
            </a:r>
            <a:endParaRPr lang="zh-CN" altLang="en-US" sz="1400" dirty="0">
              <a:solidFill>
                <a:schemeClr val="tx1">
                  <a:lumMod val="65000"/>
                  <a:lumOff val="35000"/>
                </a:schemeClr>
              </a:solidFill>
              <a:effectLst/>
              <a:latin typeface="微软雅黑" panose="020B0503020204020204" pitchFamily="34" charset="-122"/>
              <a:ea typeface="微软雅黑" panose="020B0503020204020204" pitchFamily="34" charset="-122"/>
              <a:cs typeface="Arial" panose="020B0604020202020204" pitchFamily="34" charset="0"/>
            </a:endParaRPr>
          </a:p>
        </p:txBody>
      </p:sp>
      <p:pic>
        <p:nvPicPr>
          <p:cNvPr id="19" name="图片 18">
            <a:extLst>
              <a:ext uri="{FF2B5EF4-FFF2-40B4-BE49-F238E27FC236}">
                <a16:creationId xmlns:a16="http://schemas.microsoft.com/office/drawing/2014/main" id="{6289E24B-4B68-E60C-3EFD-0CF8212F3081}"/>
              </a:ext>
            </a:extLst>
          </p:cNvPr>
          <p:cNvPicPr>
            <a:picLocks noChangeAspect="1"/>
          </p:cNvPicPr>
          <p:nvPr/>
        </p:nvPicPr>
        <p:blipFill>
          <a:blip r:embed="rId3"/>
          <a:stretch>
            <a:fillRect/>
          </a:stretch>
        </p:blipFill>
        <p:spPr>
          <a:xfrm>
            <a:off x="2760944" y="2445489"/>
            <a:ext cx="8086125" cy="3667288"/>
          </a:xfrm>
          <a:prstGeom prst="rect">
            <a:avLst/>
          </a:prstGeom>
        </p:spPr>
      </p:pic>
    </p:spTree>
    <p:extLst>
      <p:ext uri="{BB962C8B-B14F-4D97-AF65-F5344CB8AC3E}">
        <p14:creationId xmlns:p14="http://schemas.microsoft.com/office/powerpoint/2010/main" val="167494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b="1" dirty="0">
                <a:solidFill>
                  <a:srgbClr val="1F487C"/>
                </a:solidFill>
              </a:rPr>
              <a:t>技术优势</a:t>
            </a: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翰云数仓</a:t>
            </a:r>
            <a:endParaRPr lang="en-US" altLang="zh-CN" b="1" dirty="0">
              <a:solidFill>
                <a:schemeClr val="bg1"/>
              </a:solidFill>
              <a:latin typeface="微软雅黑" panose="020B0503020204020204" pitchFamily="34" charset="-122"/>
              <a:ea typeface="微软雅黑" panose="020B0503020204020204" pitchFamily="34" charset="-122"/>
            </a:endParaRPr>
          </a:p>
        </p:txBody>
      </p:sp>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4841" y="4168181"/>
            <a:ext cx="1671926" cy="2381135"/>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0701" y="4168181"/>
            <a:ext cx="1671926" cy="2385747"/>
          </a:xfrm>
          <a:prstGeom prst="rect">
            <a:avLst/>
          </a:prstGeom>
        </p:spPr>
      </p:pic>
      <p:sp>
        <p:nvSpPr>
          <p:cNvPr id="5" name="文本框 4">
            <a:extLst>
              <a:ext uri="{FF2B5EF4-FFF2-40B4-BE49-F238E27FC236}">
                <a16:creationId xmlns:a16="http://schemas.microsoft.com/office/drawing/2014/main" id="{6F39B8A3-AA81-7A7E-D4C8-EF8AE436510B}"/>
              </a:ext>
            </a:extLst>
          </p:cNvPr>
          <p:cNvSpPr txBox="1"/>
          <p:nvPr/>
        </p:nvSpPr>
        <p:spPr>
          <a:xfrm>
            <a:off x="540501" y="1174825"/>
            <a:ext cx="11080004" cy="400110"/>
          </a:xfrm>
          <a:prstGeom prst="rect">
            <a:avLst/>
          </a:prstGeom>
          <a:noFill/>
        </p:spPr>
        <p:txBody>
          <a:bodyPr wrap="square">
            <a:spAutoFit/>
          </a:bodyPr>
          <a:lstStyle>
            <a:defPPr>
              <a:defRPr lang="zh-CN"/>
            </a:defPPr>
            <a:lvl1pPr algn="just">
              <a:defRPr sz="2400" b="1" kern="100">
                <a:solidFill>
                  <a:srgbClr val="1F487C"/>
                </a:solidFill>
                <a:latin typeface="等线" panose="02010600030101010101" pitchFamily="2" charset="-122"/>
                <a:cs typeface="Times New Roman" panose="02020603050405020304" pitchFamily="18" charset="0"/>
              </a:defRPr>
            </a:lvl1pPr>
          </a:lstStyle>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产品拥有完全知识产权，可以根据业务需要，快速迭代进行新技术演进</a:t>
            </a:r>
          </a:p>
        </p:txBody>
      </p:sp>
      <p:sp>
        <p:nvSpPr>
          <p:cNvPr id="2" name="Rectangle 3">
            <a:extLst>
              <a:ext uri="{FF2B5EF4-FFF2-40B4-BE49-F238E27FC236}">
                <a16:creationId xmlns:a16="http://schemas.microsoft.com/office/drawing/2014/main" id="{CF2FA380-C3B8-A2CA-EB17-08581E7AD867}"/>
              </a:ext>
            </a:extLst>
          </p:cNvPr>
          <p:cNvSpPr/>
          <p:nvPr/>
        </p:nvSpPr>
        <p:spPr>
          <a:xfrm>
            <a:off x="678409" y="2248919"/>
            <a:ext cx="5585910" cy="3539430"/>
          </a:xfrm>
          <a:prstGeom prst="rect">
            <a:avLst/>
          </a:prstGeom>
        </p:spPr>
        <p:txBody>
          <a:bodyPr wrap="square">
            <a:spAutoFit/>
          </a:bodyPr>
          <a:lstStyle/>
          <a:p>
            <a:pPr marL="285750" indent="-285750">
              <a:spcBef>
                <a:spcPts val="600"/>
              </a:spcBef>
              <a:spcAft>
                <a:spcPts val="1200"/>
              </a:spcAft>
              <a:buFont typeface="Wingdings" panose="05000000000000000000" pitchFamily="2" charset="2"/>
              <a:buChar char="ü"/>
            </a:pPr>
            <a:r>
              <a:rPr lang="zh-CN" altLang="en-US" sz="2000" b="1" dirty="0">
                <a:solidFill>
                  <a:srgbClr val="1F487C"/>
                </a:solidFill>
                <a:latin typeface="微软雅黑" panose="020B0503020204020204" pitchFamily="34" charset="-122"/>
                <a:ea typeface="微软雅黑" panose="020B0503020204020204" pitchFamily="34" charset="-122"/>
              </a:rPr>
              <a:t>原创代码 </a:t>
            </a:r>
            <a:r>
              <a:rPr lang="en-US" altLang="zh-CN" sz="2000" b="1" dirty="0">
                <a:solidFill>
                  <a:srgbClr val="1F487C"/>
                </a:solidFill>
                <a:latin typeface="微软雅黑" panose="020B0503020204020204" pitchFamily="34" charset="-122"/>
                <a:ea typeface="微软雅黑" panose="020B0503020204020204" pitchFamily="34" charset="-122"/>
              </a:rPr>
              <a:t>- </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万行原创代码，</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年时间专心打磨；</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spcBef>
                <a:spcPts val="600"/>
              </a:spcBef>
              <a:spcAft>
                <a:spcPts val="1200"/>
              </a:spcAft>
              <a:buFont typeface="Wingdings" panose="05000000000000000000" pitchFamily="2" charset="2"/>
              <a:buChar char="ü"/>
            </a:pPr>
            <a:r>
              <a:rPr lang="zh-CN" altLang="en-US" sz="2000" b="1" dirty="0">
                <a:solidFill>
                  <a:srgbClr val="1F487C"/>
                </a:solidFill>
                <a:latin typeface="微软雅黑" panose="020B0503020204020204" pitchFamily="34" charset="-122"/>
                <a:ea typeface="微软雅黑" panose="020B0503020204020204" pitchFamily="34" charset="-122"/>
              </a:rPr>
              <a:t>自主知识产权 </a:t>
            </a:r>
            <a:r>
              <a:rPr lang="en-US" altLang="zh-CN" sz="2000" b="1" dirty="0">
                <a:solidFill>
                  <a:srgbClr val="1F487C"/>
                </a:solidFill>
                <a:latin typeface="微软雅黑" panose="020B0503020204020204" pitchFamily="34" charset="-122"/>
                <a:ea typeface="微软雅黑" panose="020B0503020204020204" pitchFamily="34" charset="-122"/>
              </a:rPr>
              <a:t>- </a:t>
            </a:r>
            <a:r>
              <a:rPr lang="zh-CN" altLang="en-US" sz="1600" b="0" dirty="0">
                <a:solidFill>
                  <a:schemeClr val="tx1">
                    <a:lumMod val="65000"/>
                    <a:lumOff val="35000"/>
                  </a:schemeClr>
                </a:solidFill>
                <a:effectLst/>
                <a:latin typeface="微软雅黑" panose="020B0503020204020204" pitchFamily="34" charset="-122"/>
                <a:ea typeface="微软雅黑" panose="020B0503020204020204" pitchFamily="34" charset="-122"/>
              </a:rPr>
              <a:t>核心产品完全自主研发，拥有全部自编的源代码和多项中国发明</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专利等自主知识产权；</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spcBef>
                <a:spcPts val="600"/>
              </a:spcBef>
              <a:spcAft>
                <a:spcPts val="1200"/>
              </a:spcAft>
              <a:buFont typeface="Wingdings" panose="05000000000000000000" pitchFamily="2" charset="2"/>
              <a:buChar char="ü"/>
            </a:pPr>
            <a:r>
              <a:rPr lang="zh-CN" altLang="en-US" sz="2000" b="1" dirty="0">
                <a:solidFill>
                  <a:srgbClr val="1F487C"/>
                </a:solidFill>
                <a:latin typeface="微软雅黑" panose="020B0503020204020204" pitchFamily="34" charset="-122"/>
                <a:ea typeface="微软雅黑" panose="020B0503020204020204" pitchFamily="34" charset="-122"/>
              </a:rPr>
              <a:t>国产替代 </a:t>
            </a:r>
            <a:r>
              <a:rPr lang="en-US" altLang="zh-CN" sz="2000" b="1" dirty="0">
                <a:solidFill>
                  <a:srgbClr val="1F487C"/>
                </a:solidFill>
                <a:latin typeface="微软雅黑" panose="020B0503020204020204" pitchFamily="34" charset="-122"/>
                <a:ea typeface="微软雅黑" panose="020B0503020204020204" pitchFamily="34" charset="-122"/>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已完成多国产芯片、服务器、操作系统等基础硬软件的适配；</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spcBef>
                <a:spcPts val="600"/>
              </a:spcBef>
              <a:spcAft>
                <a:spcPts val="1200"/>
              </a:spcAft>
              <a:buFont typeface="Wingdings" panose="05000000000000000000" pitchFamily="2" charset="2"/>
              <a:buChar char="ü"/>
            </a:pPr>
            <a:r>
              <a:rPr lang="zh-CN" altLang="en-US" sz="2000" b="1" dirty="0">
                <a:solidFill>
                  <a:srgbClr val="1F487C"/>
                </a:solidFill>
                <a:latin typeface="微软雅黑" panose="020B0503020204020204" pitchFamily="34" charset="-122"/>
                <a:ea typeface="微软雅黑" panose="020B0503020204020204" pitchFamily="34" charset="-122"/>
              </a:rPr>
              <a:t>定制化开发 </a:t>
            </a:r>
            <a:r>
              <a:rPr lang="en-US" altLang="zh-CN" sz="2000" b="1" dirty="0">
                <a:solidFill>
                  <a:srgbClr val="1F487C"/>
                </a:solidFill>
                <a:latin typeface="微软雅黑" panose="020B0503020204020204" pitchFamily="34" charset="-122"/>
                <a:ea typeface="微软雅黑" panose="020B0503020204020204" pitchFamily="34" charset="-122"/>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可配合上下游厂商用户，进行数据库功能的定制化开发；</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marL="285750" indent="-285750">
              <a:spcBef>
                <a:spcPts val="600"/>
              </a:spcBef>
              <a:spcAft>
                <a:spcPts val="1200"/>
              </a:spcAft>
              <a:buFont typeface="Wingdings" panose="05000000000000000000" pitchFamily="2" charset="2"/>
              <a:buChar char="ü"/>
            </a:pPr>
            <a:r>
              <a:rPr lang="zh-CN" altLang="en-US" sz="2000" b="1" dirty="0">
                <a:solidFill>
                  <a:srgbClr val="1F487C"/>
                </a:solidFill>
                <a:latin typeface="微软雅黑" panose="020B0503020204020204" pitchFamily="34" charset="-122"/>
                <a:ea typeface="微软雅黑" panose="020B0503020204020204" pitchFamily="34" charset="-122"/>
              </a:rPr>
              <a:t>免除后患 </a:t>
            </a:r>
            <a:r>
              <a:rPr lang="en-US" altLang="zh-CN" sz="2000" b="1" dirty="0">
                <a:solidFill>
                  <a:srgbClr val="1F487C"/>
                </a:solidFill>
                <a:latin typeface="微软雅黑" panose="020B0503020204020204" pitchFamily="34" charset="-122"/>
                <a:ea typeface="微软雅黑" panose="020B0503020204020204" pitchFamily="34" charset="-122"/>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可避免国外产品的高额费用、售后陷阱和安全隐患。</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17F78C0C-A985-C9EE-270B-D547BCE4683D}"/>
              </a:ext>
            </a:extLst>
          </p:cNvPr>
          <p:cNvPicPr/>
          <p:nvPr/>
        </p:nvPicPr>
        <p:blipFill>
          <a:blip r:embed="rId5"/>
          <a:srcRect/>
          <a:stretch>
            <a:fillRect/>
          </a:stretch>
        </p:blipFill>
        <p:spPr>
          <a:xfrm>
            <a:off x="7184107" y="2001187"/>
            <a:ext cx="927889" cy="1258147"/>
          </a:xfrm>
          <a:prstGeom prst="rect">
            <a:avLst/>
          </a:prstGeom>
          <a:noFill/>
          <a:ln>
            <a:noFill/>
          </a:ln>
        </p:spPr>
      </p:pic>
      <p:pic>
        <p:nvPicPr>
          <p:cNvPr id="8" name="图片 7">
            <a:extLst>
              <a:ext uri="{FF2B5EF4-FFF2-40B4-BE49-F238E27FC236}">
                <a16:creationId xmlns:a16="http://schemas.microsoft.com/office/drawing/2014/main" id="{23055885-7B0F-0170-B751-B8E015A15082}"/>
              </a:ext>
            </a:extLst>
          </p:cNvPr>
          <p:cNvPicPr/>
          <p:nvPr/>
        </p:nvPicPr>
        <p:blipFill>
          <a:blip r:embed="rId6"/>
          <a:srcRect/>
          <a:stretch>
            <a:fillRect/>
          </a:stretch>
        </p:blipFill>
        <p:spPr>
          <a:xfrm>
            <a:off x="7371175" y="2184393"/>
            <a:ext cx="927889" cy="1258147"/>
          </a:xfrm>
          <a:prstGeom prst="rect">
            <a:avLst/>
          </a:prstGeom>
          <a:noFill/>
          <a:ln>
            <a:noFill/>
          </a:ln>
        </p:spPr>
      </p:pic>
      <p:pic>
        <p:nvPicPr>
          <p:cNvPr id="9" name="图片 0">
            <a:extLst>
              <a:ext uri="{FF2B5EF4-FFF2-40B4-BE49-F238E27FC236}">
                <a16:creationId xmlns:a16="http://schemas.microsoft.com/office/drawing/2014/main" id="{6CC55FF8-99B4-3436-3B2F-7F79A962BC39}"/>
              </a:ext>
            </a:extLst>
          </p:cNvPr>
          <p:cNvPicPr/>
          <p:nvPr/>
        </p:nvPicPr>
        <p:blipFill>
          <a:blip r:embed="rId6"/>
          <a:srcRect/>
          <a:stretch>
            <a:fillRect/>
          </a:stretch>
        </p:blipFill>
        <p:spPr>
          <a:xfrm>
            <a:off x="7574319" y="2402953"/>
            <a:ext cx="927889" cy="1258147"/>
          </a:xfrm>
          <a:prstGeom prst="rect">
            <a:avLst/>
          </a:prstGeom>
          <a:noFill/>
          <a:ln>
            <a:noFill/>
          </a:ln>
        </p:spPr>
      </p:pic>
      <p:pic>
        <p:nvPicPr>
          <p:cNvPr id="10" name="图片 9" descr="第一个专利_边框">
            <a:extLst>
              <a:ext uri="{FF2B5EF4-FFF2-40B4-BE49-F238E27FC236}">
                <a16:creationId xmlns:a16="http://schemas.microsoft.com/office/drawing/2014/main" id="{56FB0CD0-EC60-92A8-1A04-35B404A9BB6B}"/>
              </a:ext>
            </a:extLst>
          </p:cNvPr>
          <p:cNvPicPr>
            <a:picLocks noChangeAspect="1"/>
          </p:cNvPicPr>
          <p:nvPr/>
        </p:nvPicPr>
        <p:blipFill>
          <a:blip r:embed="rId7"/>
          <a:stretch>
            <a:fillRect/>
          </a:stretch>
        </p:blipFill>
        <p:spPr>
          <a:xfrm>
            <a:off x="7841946" y="2630087"/>
            <a:ext cx="883435" cy="1233140"/>
          </a:xfrm>
          <a:prstGeom prst="rect">
            <a:avLst/>
          </a:prstGeom>
        </p:spPr>
      </p:pic>
      <p:pic>
        <p:nvPicPr>
          <p:cNvPr id="11" name="图片 10" descr="翰云关系型数据库平台V3.0-20151104">
            <a:extLst>
              <a:ext uri="{FF2B5EF4-FFF2-40B4-BE49-F238E27FC236}">
                <a16:creationId xmlns:a16="http://schemas.microsoft.com/office/drawing/2014/main" id="{41F6CAB4-70E6-5A3B-4E91-92B48043C793}"/>
              </a:ext>
            </a:extLst>
          </p:cNvPr>
          <p:cNvPicPr>
            <a:picLocks noChangeAspect="1"/>
          </p:cNvPicPr>
          <p:nvPr/>
        </p:nvPicPr>
        <p:blipFill>
          <a:blip r:embed="rId8"/>
          <a:stretch>
            <a:fillRect/>
          </a:stretch>
        </p:blipFill>
        <p:spPr>
          <a:xfrm>
            <a:off x="9521710" y="2119911"/>
            <a:ext cx="883435" cy="1215259"/>
          </a:xfrm>
          <a:prstGeom prst="rect">
            <a:avLst/>
          </a:prstGeom>
        </p:spPr>
      </p:pic>
      <p:pic>
        <p:nvPicPr>
          <p:cNvPr id="12" name="图片 11" descr="翰云数据库V3.3.0-20151104">
            <a:extLst>
              <a:ext uri="{FF2B5EF4-FFF2-40B4-BE49-F238E27FC236}">
                <a16:creationId xmlns:a16="http://schemas.microsoft.com/office/drawing/2014/main" id="{2F4AFF3E-1C37-C7DD-17E2-C01159D11162}"/>
              </a:ext>
            </a:extLst>
          </p:cNvPr>
          <p:cNvPicPr>
            <a:picLocks noChangeAspect="1"/>
          </p:cNvPicPr>
          <p:nvPr/>
        </p:nvPicPr>
        <p:blipFill>
          <a:blip r:embed="rId9"/>
          <a:stretch>
            <a:fillRect/>
          </a:stretch>
        </p:blipFill>
        <p:spPr>
          <a:xfrm>
            <a:off x="9654253" y="2248919"/>
            <a:ext cx="870569" cy="1197569"/>
          </a:xfrm>
          <a:prstGeom prst="rect">
            <a:avLst/>
          </a:prstGeom>
        </p:spPr>
      </p:pic>
      <p:pic>
        <p:nvPicPr>
          <p:cNvPr id="13" name="图片 12" descr="翰云EM V1.0.0">
            <a:extLst>
              <a:ext uri="{FF2B5EF4-FFF2-40B4-BE49-F238E27FC236}">
                <a16:creationId xmlns:a16="http://schemas.microsoft.com/office/drawing/2014/main" id="{EAE1BC22-5FDF-1C80-4630-6B5EB3771566}"/>
              </a:ext>
            </a:extLst>
          </p:cNvPr>
          <p:cNvPicPr>
            <a:picLocks noChangeAspect="1"/>
          </p:cNvPicPr>
          <p:nvPr/>
        </p:nvPicPr>
        <p:blipFill>
          <a:blip r:embed="rId10"/>
          <a:stretch>
            <a:fillRect/>
          </a:stretch>
        </p:blipFill>
        <p:spPr>
          <a:xfrm>
            <a:off x="9796853" y="2368299"/>
            <a:ext cx="901125" cy="1239382"/>
          </a:xfrm>
          <a:prstGeom prst="rect">
            <a:avLst/>
          </a:prstGeom>
        </p:spPr>
      </p:pic>
      <p:pic>
        <p:nvPicPr>
          <p:cNvPr id="14" name="图片 13" descr="翰云ETL v3.0">
            <a:extLst>
              <a:ext uri="{FF2B5EF4-FFF2-40B4-BE49-F238E27FC236}">
                <a16:creationId xmlns:a16="http://schemas.microsoft.com/office/drawing/2014/main" id="{47437FAD-E9E4-589B-040A-A20204091323}"/>
              </a:ext>
            </a:extLst>
          </p:cNvPr>
          <p:cNvPicPr>
            <a:picLocks noChangeAspect="1"/>
          </p:cNvPicPr>
          <p:nvPr/>
        </p:nvPicPr>
        <p:blipFill>
          <a:blip r:embed="rId11"/>
          <a:stretch>
            <a:fillRect/>
          </a:stretch>
        </p:blipFill>
        <p:spPr>
          <a:xfrm>
            <a:off x="9939349" y="2503554"/>
            <a:ext cx="918279" cy="1262701"/>
          </a:xfrm>
          <a:prstGeom prst="rect">
            <a:avLst/>
          </a:prstGeom>
        </p:spPr>
      </p:pic>
      <p:pic>
        <p:nvPicPr>
          <p:cNvPr id="15" name="图片 14" descr="翰云关系型数据库平台V3.0-20151104">
            <a:extLst>
              <a:ext uri="{FF2B5EF4-FFF2-40B4-BE49-F238E27FC236}">
                <a16:creationId xmlns:a16="http://schemas.microsoft.com/office/drawing/2014/main" id="{4CB26BDA-F3C9-494F-8DB6-6A63E7C1CE17}"/>
              </a:ext>
            </a:extLst>
          </p:cNvPr>
          <p:cNvPicPr>
            <a:picLocks noChangeAspect="1"/>
          </p:cNvPicPr>
          <p:nvPr/>
        </p:nvPicPr>
        <p:blipFill>
          <a:blip r:embed="rId8"/>
          <a:stretch>
            <a:fillRect/>
          </a:stretch>
        </p:blipFill>
        <p:spPr>
          <a:xfrm>
            <a:off x="10081004" y="2653414"/>
            <a:ext cx="920959" cy="12664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文本框 115"/>
          <p:cNvSpPr txBox="1"/>
          <p:nvPr/>
        </p:nvSpPr>
        <p:spPr>
          <a:xfrm>
            <a:off x="54905" y="25171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0" name="文本框 129"/>
          <p:cNvSpPr txBox="1"/>
          <p:nvPr/>
        </p:nvSpPr>
        <p:spPr>
          <a:xfrm>
            <a:off x="2764782" y="261231"/>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1" name="文本框 130"/>
          <p:cNvSpPr txBox="1"/>
          <p:nvPr/>
        </p:nvSpPr>
        <p:spPr>
          <a:xfrm>
            <a:off x="5431797" y="242175"/>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8170246" y="237407"/>
            <a:ext cx="139100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Part4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822802" cy="6822802"/>
          </a:xfrm>
          <a:prstGeom prst="rect">
            <a:avLst/>
          </a:prstGeom>
        </p:spPr>
      </p:pic>
      <p:sp>
        <p:nvSpPr>
          <p:cNvPr id="13" name="文本框 12"/>
          <p:cNvSpPr txBox="1"/>
          <p:nvPr/>
        </p:nvSpPr>
        <p:spPr>
          <a:xfrm>
            <a:off x="7215188" y="1583310"/>
            <a:ext cx="4586287" cy="1569660"/>
          </a:xfrm>
          <a:prstGeom prst="rect">
            <a:avLst/>
          </a:prstGeom>
          <a:noFill/>
        </p:spPr>
        <p:txBody>
          <a:bodyPr wrap="square" rtlCol="0">
            <a:spAutoFit/>
          </a:bodyPr>
          <a:lstStyle/>
          <a:p>
            <a:pPr algn="ctr"/>
            <a:r>
              <a:rPr lang="en-US" altLang="zh-CN" sz="4800" b="1" dirty="0">
                <a:solidFill>
                  <a:srgbClr val="1F487C"/>
                </a:solidFill>
                <a:latin typeface="微软雅黑" panose="020B0503020204020204" pitchFamily="34" charset="-122"/>
                <a:ea typeface="微软雅黑" panose="020B0503020204020204" pitchFamily="34" charset="-122"/>
              </a:rPr>
              <a:t>Part3 </a:t>
            </a:r>
          </a:p>
          <a:p>
            <a:pPr algn="ctr"/>
            <a:r>
              <a:rPr lang="en-US" altLang="zh-CN" sz="4800" b="1" dirty="0">
                <a:solidFill>
                  <a:srgbClr val="1F487C"/>
                </a:solidFill>
                <a:latin typeface="微软雅黑" panose="020B0503020204020204" pitchFamily="34" charset="-122"/>
                <a:ea typeface="微软雅黑" panose="020B0503020204020204" pitchFamily="34" charset="-122"/>
              </a:rPr>
              <a:t>AI</a:t>
            </a:r>
            <a:r>
              <a:rPr lang="zh-CN" altLang="en-US" sz="4800" b="1" dirty="0">
                <a:solidFill>
                  <a:srgbClr val="1F487C"/>
                </a:solidFill>
                <a:latin typeface="微软雅黑" panose="020B0503020204020204" pitchFamily="34" charset="-122"/>
                <a:ea typeface="微软雅黑" panose="020B0503020204020204" pitchFamily="34" charset="-122"/>
              </a:rPr>
              <a:t>技术</a:t>
            </a:r>
            <a:r>
              <a:rPr lang="en-US" altLang="zh-CN" sz="4800" b="1" dirty="0">
                <a:solidFill>
                  <a:srgbClr val="1F487C"/>
                </a:solidFill>
                <a:latin typeface="微软雅黑" panose="020B0503020204020204" pitchFamily="34" charset="-122"/>
                <a:ea typeface="微软雅黑" panose="020B0503020204020204" pitchFamily="34" charset="-122"/>
              </a:rPr>
              <a:t>+</a:t>
            </a:r>
            <a:r>
              <a:rPr lang="zh-CN" altLang="en-US" sz="4800" b="1" dirty="0">
                <a:solidFill>
                  <a:srgbClr val="1F487C"/>
                </a:solidFill>
                <a:latin typeface="微软雅黑" panose="020B0503020204020204" pitchFamily="34" charset="-122"/>
                <a:ea typeface="微软雅黑" panose="020B0503020204020204" pitchFamily="34" charset="-122"/>
              </a:rPr>
              <a:t>应用</a:t>
            </a:r>
            <a:endParaRPr lang="en-US" altLang="zh-CN" sz="3200" b="1" dirty="0">
              <a:solidFill>
                <a:srgbClr val="1F487C"/>
              </a:solidFill>
              <a:latin typeface="微软雅黑" panose="020B0503020204020204" pitchFamily="34" charset="-122"/>
              <a:ea typeface="微软雅黑" panose="020B0503020204020204" pitchFamily="34" charset="-122"/>
            </a:endParaRPr>
          </a:p>
        </p:txBody>
      </p:sp>
      <p:sp>
        <p:nvSpPr>
          <p:cNvPr id="16" name="文本框 15"/>
          <p:cNvSpPr txBox="1"/>
          <p:nvPr/>
        </p:nvSpPr>
        <p:spPr>
          <a:xfrm flipH="1">
            <a:off x="7485680" y="3457575"/>
            <a:ext cx="4315793" cy="260154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向量数据存储管理引擎</a:t>
            </a:r>
            <a:endParaRPr lang="en-US" altLang="zh-CN" sz="2800" b="1" dirty="0">
              <a:solidFill>
                <a:srgbClr val="1F487C"/>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指标分析引擎</a:t>
            </a:r>
            <a:endParaRPr lang="en-US" altLang="zh-CN" sz="2800" b="1" dirty="0">
              <a:solidFill>
                <a:srgbClr val="1F487C"/>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en-US" altLang="zh-CN" sz="2800" b="1" dirty="0" err="1">
                <a:solidFill>
                  <a:srgbClr val="1F487C"/>
                </a:solidFill>
                <a:latin typeface="微软雅黑" panose="020B0503020204020204" pitchFamily="34" charset="-122"/>
                <a:ea typeface="微软雅黑" panose="020B0503020204020204" pitchFamily="34" charset="-122"/>
              </a:rPr>
              <a:t>GraphRAG</a:t>
            </a:r>
            <a:r>
              <a:rPr lang="zh-CN" altLang="en-US" sz="2800" b="1" dirty="0">
                <a:solidFill>
                  <a:srgbClr val="1F487C"/>
                </a:solidFill>
                <a:latin typeface="微软雅黑" panose="020B0503020204020204" pitchFamily="34" charset="-122"/>
                <a:ea typeface="微软雅黑" panose="020B0503020204020204" pitchFamily="34" charset="-122"/>
              </a:rPr>
              <a:t>引擎</a:t>
            </a:r>
            <a:endParaRPr lang="en-US" altLang="zh-CN" sz="2800" b="1" dirty="0">
              <a:solidFill>
                <a:srgbClr val="1F487C"/>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800" b="1" dirty="0">
                <a:solidFill>
                  <a:srgbClr val="1F487C"/>
                </a:solidFill>
                <a:latin typeface="微软雅黑" panose="020B0503020204020204" pitchFamily="34" charset="-122"/>
                <a:ea typeface="微软雅黑" panose="020B0503020204020204" pitchFamily="34" charset="-122"/>
              </a:rPr>
              <a:t>应用案例</a:t>
            </a:r>
            <a:endParaRPr lang="en-US" altLang="zh-CN" sz="2800" b="1" dirty="0">
              <a:solidFill>
                <a:srgbClr val="1F487C"/>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23898" y="145422"/>
            <a:ext cx="2966459" cy="860400"/>
          </a:xfrm>
        </p:spPr>
        <p:txBody>
          <a:bodyPr>
            <a:normAutofit/>
          </a:bodyPr>
          <a:lstStyle/>
          <a:p>
            <a:pPr algn="ctr"/>
            <a:r>
              <a:rPr lang="zh-CN" altLang="en-US" b="1" dirty="0">
                <a:solidFill>
                  <a:srgbClr val="1F487C"/>
                </a:solidFill>
                <a:latin typeface="微软雅黑" panose="020B0503020204020204" pitchFamily="34" charset="-122"/>
              </a:rPr>
              <a:t>向量数据库管理引擎</a:t>
            </a:r>
            <a:endParaRPr lang="en-US" altLang="zh-CN" b="1" dirty="0">
              <a:solidFill>
                <a:srgbClr val="1F487C"/>
              </a:solidFill>
              <a:latin typeface="微软雅黑" panose="020B0503020204020204" pitchFamily="34" charset="-122"/>
            </a:endParaRP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F16C3BB-A227-0AD0-E621-5593E5CEFF52}"/>
              </a:ext>
            </a:extLst>
          </p:cNvPr>
          <p:cNvSpPr txBox="1"/>
          <p:nvPr/>
        </p:nvSpPr>
        <p:spPr>
          <a:xfrm>
            <a:off x="567450" y="1005822"/>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支持向量数据存储</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5ED68180-8E8C-7F05-7DA2-C07364BE6583}"/>
              </a:ext>
            </a:extLst>
          </p:cNvPr>
          <p:cNvPicPr>
            <a:picLocks noChangeAspect="1"/>
          </p:cNvPicPr>
          <p:nvPr/>
        </p:nvPicPr>
        <p:blipFill>
          <a:blip r:embed="rId3"/>
          <a:stretch>
            <a:fillRect/>
          </a:stretch>
        </p:blipFill>
        <p:spPr>
          <a:xfrm>
            <a:off x="2070163" y="1675169"/>
            <a:ext cx="8051674" cy="5053235"/>
          </a:xfrm>
          <a:prstGeom prst="rect">
            <a:avLst/>
          </a:prstGeom>
        </p:spPr>
      </p:pic>
    </p:spTree>
    <p:extLst>
      <p:ext uri="{BB962C8B-B14F-4D97-AF65-F5344CB8AC3E}">
        <p14:creationId xmlns:p14="http://schemas.microsoft.com/office/powerpoint/2010/main" val="3036118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26278" y="145422"/>
            <a:ext cx="3033451" cy="860400"/>
          </a:xfrm>
        </p:spPr>
        <p:txBody>
          <a:bodyPr>
            <a:normAutofit/>
          </a:bodyPr>
          <a:lstStyle/>
          <a:p>
            <a:pPr algn="ctr"/>
            <a:r>
              <a:rPr lang="zh-CN" altLang="en-US" b="1" dirty="0">
                <a:solidFill>
                  <a:srgbClr val="1F487C"/>
                </a:solidFill>
                <a:latin typeface="微软雅黑" panose="020B0503020204020204" pitchFamily="34" charset="-122"/>
              </a:rPr>
              <a:t>向量数据库管理引擎</a:t>
            </a:r>
            <a:endParaRPr lang="en-US" altLang="zh-CN" sz="1400" b="1" dirty="0">
              <a:solidFill>
                <a:srgbClr val="1F487C"/>
              </a:solidFill>
              <a:latin typeface="微软雅黑" panose="020B0503020204020204" pitchFamily="34" charset="-122"/>
            </a:endParaRP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F16C3BB-A227-0AD0-E621-5593E5CEFF52}"/>
              </a:ext>
            </a:extLst>
          </p:cNvPr>
          <p:cNvSpPr txBox="1"/>
          <p:nvPr/>
        </p:nvSpPr>
        <p:spPr>
          <a:xfrm>
            <a:off x="567450" y="1005822"/>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向量数据的检索</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FBF27D5A-E3C4-A043-9A53-EE373B058E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961" y="1701468"/>
            <a:ext cx="8564078" cy="4817294"/>
          </a:xfrm>
          <a:prstGeom prst="rect">
            <a:avLst/>
          </a:prstGeom>
        </p:spPr>
      </p:pic>
    </p:spTree>
    <p:extLst>
      <p:ext uri="{BB962C8B-B14F-4D97-AF65-F5344CB8AC3E}">
        <p14:creationId xmlns:p14="http://schemas.microsoft.com/office/powerpoint/2010/main" val="471353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37552" y="147600"/>
            <a:ext cx="3031884" cy="860400"/>
          </a:xfrm>
        </p:spPr>
        <p:txBody>
          <a:bodyPr>
            <a:normAutofit/>
          </a:bodyPr>
          <a:lstStyle/>
          <a:p>
            <a:r>
              <a:rPr lang="zh-CN" altLang="en-US" b="1" dirty="0">
                <a:solidFill>
                  <a:srgbClr val="1F487C"/>
                </a:solidFill>
                <a:latin typeface="微软雅黑" panose="020B0503020204020204" pitchFamily="34" charset="-122"/>
              </a:rPr>
              <a:t>向量数据库管理引擎</a:t>
            </a:r>
            <a:endParaRPr lang="zh-CN" altLang="en-US" b="1" dirty="0">
              <a:solidFill>
                <a:srgbClr val="1F487C"/>
              </a:solidFill>
            </a:endParaRP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F16C3BB-A227-0AD0-E621-5593E5CEFF52}"/>
              </a:ext>
            </a:extLst>
          </p:cNvPr>
          <p:cNvSpPr txBox="1"/>
          <p:nvPr/>
        </p:nvSpPr>
        <p:spPr>
          <a:xfrm>
            <a:off x="567450" y="1005822"/>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快速构建基于向量匹配的问答系统（问答知识库</a:t>
            </a:r>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向量匹配）</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7E3FF2BE-D57A-B0E9-6520-6A1453AC5BA1}"/>
              </a:ext>
            </a:extLst>
          </p:cNvPr>
          <p:cNvPicPr>
            <a:picLocks noChangeAspect="1"/>
          </p:cNvPicPr>
          <p:nvPr/>
        </p:nvPicPr>
        <p:blipFill>
          <a:blip r:embed="rId3"/>
          <a:stretch>
            <a:fillRect/>
          </a:stretch>
        </p:blipFill>
        <p:spPr>
          <a:xfrm>
            <a:off x="1095375" y="1766001"/>
            <a:ext cx="10001250" cy="4772025"/>
          </a:xfrm>
          <a:prstGeom prst="rect">
            <a:avLst/>
          </a:prstGeom>
        </p:spPr>
      </p:pic>
    </p:spTree>
    <p:extLst>
      <p:ext uri="{BB962C8B-B14F-4D97-AF65-F5344CB8AC3E}">
        <p14:creationId xmlns:p14="http://schemas.microsoft.com/office/powerpoint/2010/main" val="222311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37552" y="147600"/>
            <a:ext cx="3031884" cy="860400"/>
          </a:xfrm>
        </p:spPr>
        <p:txBody>
          <a:bodyPr>
            <a:normAutofit/>
          </a:bodyPr>
          <a:lstStyle/>
          <a:p>
            <a:r>
              <a:rPr lang="zh-CN" altLang="en-US" b="1" dirty="0">
                <a:solidFill>
                  <a:srgbClr val="1F487C"/>
                </a:solidFill>
                <a:latin typeface="微软雅黑" panose="020B0503020204020204" pitchFamily="34" charset="-122"/>
              </a:rPr>
              <a:t>指标分析引擎</a:t>
            </a:r>
            <a:endParaRPr lang="zh-CN" altLang="en-US" b="1" dirty="0">
              <a:solidFill>
                <a:srgbClr val="1F487C"/>
              </a:solidFill>
            </a:endParaRP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EB9BD4D-58D3-499E-AD1F-8798FCE9A875}"/>
              </a:ext>
            </a:extLst>
          </p:cNvPr>
          <p:cNvSpPr txBox="1"/>
          <p:nvPr/>
        </p:nvSpPr>
        <p:spPr>
          <a:xfrm>
            <a:off x="612336" y="4758160"/>
            <a:ext cx="10967325" cy="1952240"/>
          </a:xfrm>
          <a:prstGeom prst="rect">
            <a:avLst/>
          </a:prstGeom>
          <a:noFill/>
        </p:spPr>
        <p:txBody>
          <a:bodyPr wrap="square" rtlCol="0" anchor="t">
            <a:noAutofit/>
          </a:body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通过指标的抽象和结构化，能够提供更高效、可复用的</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SQL</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查询逻辑，便于理解、管理和精准查询。</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50000"/>
              </a:lnSpc>
            </a:pP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支持各种粒度的定制化调整开发，完全自主可控。</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algn="just">
              <a:lnSpc>
                <a:spcPct val="150000"/>
              </a:lnSpc>
            </a:pP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A0B348D8-EB58-ADE3-D6EA-4A30D02A9CDF}"/>
              </a:ext>
            </a:extLst>
          </p:cNvPr>
          <p:cNvPicPr>
            <a:picLocks noChangeAspect="1"/>
          </p:cNvPicPr>
          <p:nvPr/>
        </p:nvPicPr>
        <p:blipFill>
          <a:blip r:embed="rId3"/>
          <a:stretch>
            <a:fillRect/>
          </a:stretch>
        </p:blipFill>
        <p:spPr>
          <a:xfrm>
            <a:off x="731043" y="1944332"/>
            <a:ext cx="10729913" cy="2032501"/>
          </a:xfrm>
          <a:prstGeom prst="rect">
            <a:avLst/>
          </a:prstGeom>
        </p:spPr>
      </p:pic>
    </p:spTree>
    <p:extLst>
      <p:ext uri="{BB962C8B-B14F-4D97-AF65-F5344CB8AC3E}">
        <p14:creationId xmlns:p14="http://schemas.microsoft.com/office/powerpoint/2010/main" val="2706336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637552" y="147600"/>
            <a:ext cx="3031884" cy="860400"/>
          </a:xfrm>
        </p:spPr>
        <p:txBody>
          <a:bodyPr>
            <a:normAutofit/>
          </a:bodyPr>
          <a:lstStyle/>
          <a:p>
            <a:r>
              <a:rPr lang="en-US" altLang="zh-CN" b="1" kern="100" dirty="0" err="1">
                <a:solidFill>
                  <a:srgbClr val="1F487C"/>
                </a:solidFill>
                <a:latin typeface="等线" panose="02010600030101010101" pitchFamily="2" charset="-122"/>
                <a:ea typeface="等线" panose="02010600030101010101" pitchFamily="2" charset="-122"/>
                <a:cs typeface="Times New Roman" panose="02020603050405020304" pitchFamily="18" charset="0"/>
              </a:rPr>
              <a:t>GraphRAG</a:t>
            </a:r>
            <a:r>
              <a:rPr lang="zh-CN" altLang="en-US" b="1" kern="100" dirty="0">
                <a:solidFill>
                  <a:srgbClr val="1F487C"/>
                </a:solidFill>
                <a:latin typeface="微软雅黑" panose="020B0503020204020204" pitchFamily="34" charset="-122"/>
                <a:cs typeface="Times New Roman" panose="02020603050405020304" pitchFamily="18" charset="0"/>
              </a:rPr>
              <a:t>引擎</a:t>
            </a:r>
            <a:endParaRPr lang="zh-CN" altLang="en-US" b="1" dirty="0">
              <a:solidFill>
                <a:srgbClr val="1F487C"/>
              </a:solidFill>
              <a:latin typeface="微软雅黑" panose="020B0503020204020204" pitchFamily="34" charset="-122"/>
            </a:endParaRPr>
          </a:p>
        </p:txBody>
      </p:sp>
      <p:sp>
        <p:nvSpPr>
          <p:cNvPr id="4" name="文本框 3"/>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DBECB64-06E9-9C94-A5B3-C1DC42BACA3A}"/>
              </a:ext>
            </a:extLst>
          </p:cNvPr>
          <p:cNvPicPr>
            <a:picLocks noChangeAspect="1"/>
          </p:cNvPicPr>
          <p:nvPr/>
        </p:nvPicPr>
        <p:blipFill>
          <a:blip r:embed="rId3"/>
          <a:stretch>
            <a:fillRect/>
          </a:stretch>
        </p:blipFill>
        <p:spPr>
          <a:xfrm>
            <a:off x="633084" y="1478941"/>
            <a:ext cx="4281815" cy="4603990"/>
          </a:xfrm>
          <a:prstGeom prst="rect">
            <a:avLst/>
          </a:prstGeom>
        </p:spPr>
      </p:pic>
      <p:sp>
        <p:nvSpPr>
          <p:cNvPr id="9" name="文本框 8">
            <a:extLst>
              <a:ext uri="{FF2B5EF4-FFF2-40B4-BE49-F238E27FC236}">
                <a16:creationId xmlns:a16="http://schemas.microsoft.com/office/drawing/2014/main" id="{F152720B-B3E8-C961-2F5A-8B7DD5C5DF29}"/>
              </a:ext>
            </a:extLst>
          </p:cNvPr>
          <p:cNvSpPr txBox="1"/>
          <p:nvPr/>
        </p:nvSpPr>
        <p:spPr>
          <a:xfrm>
            <a:off x="6096000" y="1626756"/>
            <a:ext cx="5219700" cy="4308359"/>
          </a:xfrm>
          <a:prstGeom prst="rect">
            <a:avLst/>
          </a:prstGeom>
          <a:noFill/>
        </p:spPr>
        <p:txBody>
          <a:bodyPr wrap="square">
            <a:spAutoFit/>
          </a:bodyPr>
          <a:lstStyle/>
          <a:p>
            <a:pPr>
              <a:lnSpc>
                <a:spcPct val="20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结合外部知识检索、知识图谱技术和</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AI</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生成模型，提供更准确、上下文相关的回答，增强生成内容的可靠性和丰富性。</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200000"/>
              </a:lnSpc>
            </a:pP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20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知识图谱构建、存储和知识检索检索，算法逻辑和底层数据存储全自主可控，支持细粒度定制化优化调整开发。</a:t>
            </a:r>
          </a:p>
        </p:txBody>
      </p:sp>
    </p:spTree>
    <p:extLst>
      <p:ext uri="{BB962C8B-B14F-4D97-AF65-F5344CB8AC3E}">
        <p14:creationId xmlns:p14="http://schemas.microsoft.com/office/powerpoint/2010/main" val="3393895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F3CA3-178F-A48C-E6DF-18C4D93104A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904B3D1-3BB1-07E4-4DAF-B31B584B6A23}"/>
              </a:ext>
            </a:extLst>
          </p:cNvPr>
          <p:cNvSpPr>
            <a:spLocks noGrp="1"/>
          </p:cNvSpPr>
          <p:nvPr>
            <p:ph type="title"/>
          </p:nvPr>
        </p:nvSpPr>
        <p:spPr>
          <a:xfrm>
            <a:off x="1637552" y="147600"/>
            <a:ext cx="3031884" cy="860400"/>
          </a:xfrm>
        </p:spPr>
        <p:txBody>
          <a:bodyPr>
            <a:normAutofit/>
          </a:bodyPr>
          <a:lstStyle/>
          <a:p>
            <a:r>
              <a:rPr lang="zh-CN" altLang="en-US" b="1" dirty="0">
                <a:solidFill>
                  <a:srgbClr val="1F487C"/>
                </a:solidFill>
              </a:rPr>
              <a:t>应用案例</a:t>
            </a:r>
          </a:p>
        </p:txBody>
      </p:sp>
      <p:sp>
        <p:nvSpPr>
          <p:cNvPr id="4" name="文本框 3">
            <a:extLst>
              <a:ext uri="{FF2B5EF4-FFF2-40B4-BE49-F238E27FC236}">
                <a16:creationId xmlns:a16="http://schemas.microsoft.com/office/drawing/2014/main" id="{DA68DD5B-E7D6-51AF-47A3-6B4F72227C01}"/>
              </a:ext>
            </a:extLst>
          </p:cNvPr>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584B2297-E145-BAC2-C639-31EEA0A71C08}"/>
              </a:ext>
            </a:extLst>
          </p:cNvPr>
          <p:cNvSpPr txBox="1"/>
          <p:nvPr/>
        </p:nvSpPr>
        <p:spPr>
          <a:xfrm>
            <a:off x="547713" y="913546"/>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中经网</a:t>
            </a:r>
            <a:r>
              <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AI</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海关问数系统（结构化数据）</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descr="Picture 2">
            <a:extLst>
              <a:ext uri="{FF2B5EF4-FFF2-40B4-BE49-F238E27FC236}">
                <a16:creationId xmlns:a16="http://schemas.microsoft.com/office/drawing/2014/main" id="{B4F95BA4-C4F2-F36D-9D17-9BF1D7AC49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701" y="1283863"/>
            <a:ext cx="9164940" cy="515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10" name="图片 9">
            <a:extLst>
              <a:ext uri="{FF2B5EF4-FFF2-40B4-BE49-F238E27FC236}">
                <a16:creationId xmlns:a16="http://schemas.microsoft.com/office/drawing/2014/main" id="{9DAC8624-19C6-85EB-BB42-41D513653E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209" y="1773946"/>
            <a:ext cx="6446521" cy="4033638"/>
          </a:xfrm>
          <a:prstGeom prst="rect">
            <a:avLst/>
          </a:prstGeom>
        </p:spPr>
      </p:pic>
      <p:sp>
        <p:nvSpPr>
          <p:cNvPr id="14" name="文本框 13">
            <a:extLst>
              <a:ext uri="{FF2B5EF4-FFF2-40B4-BE49-F238E27FC236}">
                <a16:creationId xmlns:a16="http://schemas.microsoft.com/office/drawing/2014/main" id="{23C11840-6A83-9A9E-77DC-4604B64AF013}"/>
              </a:ext>
            </a:extLst>
          </p:cNvPr>
          <p:cNvSpPr txBox="1"/>
          <p:nvPr/>
        </p:nvSpPr>
        <p:spPr>
          <a:xfrm>
            <a:off x="9261922" y="2276716"/>
            <a:ext cx="2128599" cy="1900200"/>
          </a:xfrm>
          <a:prstGeom prst="rect">
            <a:avLst/>
          </a:prstGeom>
          <a:noFill/>
        </p:spPr>
        <p:txBody>
          <a:bodyPr wrap="square" rtlCol="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中经数据联合翰云时代的数据智能技术，创新实现了自然语言交互下的数据高效查询和可视化展示。</a:t>
            </a:r>
            <a:endParaRPr lang="zh-CN" altLang="en-US" sz="1600" dirty="0">
              <a:solidFill>
                <a:schemeClr val="bg1"/>
              </a:solidFill>
            </a:endParaRPr>
          </a:p>
        </p:txBody>
      </p:sp>
      <p:sp>
        <p:nvSpPr>
          <p:cNvPr id="15" name="矩形 14">
            <a:extLst>
              <a:ext uri="{FF2B5EF4-FFF2-40B4-BE49-F238E27FC236}">
                <a16:creationId xmlns:a16="http://schemas.microsoft.com/office/drawing/2014/main" id="{766B02B9-0DFB-5027-A557-C1509FB17162}"/>
              </a:ext>
            </a:extLst>
          </p:cNvPr>
          <p:cNvSpPr/>
          <p:nvPr/>
        </p:nvSpPr>
        <p:spPr>
          <a:xfrm>
            <a:off x="7588375" y="1983615"/>
            <a:ext cx="1277509" cy="3614299"/>
          </a:xfrm>
          <a:prstGeom prst="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中经数据联合翰云时代的数据智能技术，创新实现了自然语言交互下的数据高效查询和可视化展示。</a:t>
            </a:r>
            <a:endParaRPr lang="zh-CN" altLang="en-US" sz="1600" dirty="0">
              <a:solidFill>
                <a:schemeClr val="bg1"/>
              </a:solidFill>
            </a:endParaRPr>
          </a:p>
        </p:txBody>
      </p:sp>
      <p:pic>
        <p:nvPicPr>
          <p:cNvPr id="17" name="图片 16">
            <a:extLst>
              <a:ext uri="{FF2B5EF4-FFF2-40B4-BE49-F238E27FC236}">
                <a16:creationId xmlns:a16="http://schemas.microsoft.com/office/drawing/2014/main" id="{77A139E5-CD0C-27E4-1058-E4A6A029ED62}"/>
              </a:ext>
            </a:extLst>
          </p:cNvPr>
          <p:cNvPicPr>
            <a:picLocks noChangeAspect="1"/>
          </p:cNvPicPr>
          <p:nvPr/>
        </p:nvPicPr>
        <p:blipFill>
          <a:blip r:embed="rId5"/>
          <a:stretch>
            <a:fillRect/>
          </a:stretch>
        </p:blipFill>
        <p:spPr>
          <a:xfrm>
            <a:off x="9261921" y="742950"/>
            <a:ext cx="2592621" cy="5574135"/>
          </a:xfrm>
          <a:prstGeom prst="rect">
            <a:avLst/>
          </a:prstGeom>
        </p:spPr>
      </p:pic>
      <p:sp>
        <p:nvSpPr>
          <p:cNvPr id="18" name="箭头: 右 17">
            <a:extLst>
              <a:ext uri="{FF2B5EF4-FFF2-40B4-BE49-F238E27FC236}">
                <a16:creationId xmlns:a16="http://schemas.microsoft.com/office/drawing/2014/main" id="{0BCA1DC5-D524-E74C-B6DE-6DCA4B9A2B94}"/>
              </a:ext>
            </a:extLst>
          </p:cNvPr>
          <p:cNvSpPr/>
          <p:nvPr/>
        </p:nvSpPr>
        <p:spPr>
          <a:xfrm>
            <a:off x="8961120" y="3691890"/>
            <a:ext cx="300800" cy="205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左 18">
            <a:extLst>
              <a:ext uri="{FF2B5EF4-FFF2-40B4-BE49-F238E27FC236}">
                <a16:creationId xmlns:a16="http://schemas.microsoft.com/office/drawing/2014/main" id="{D94C44A4-45C6-CF93-EE3D-DF81DC853BA8}"/>
              </a:ext>
            </a:extLst>
          </p:cNvPr>
          <p:cNvSpPr/>
          <p:nvPr/>
        </p:nvSpPr>
        <p:spPr>
          <a:xfrm>
            <a:off x="7147810" y="3691890"/>
            <a:ext cx="281690" cy="2057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030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F980-BED1-33B4-4011-39F5FC1B516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9FE0847-1E8F-6946-DA6B-63F11CB2864D}"/>
              </a:ext>
            </a:extLst>
          </p:cNvPr>
          <p:cNvSpPr>
            <a:spLocks noGrp="1"/>
          </p:cNvSpPr>
          <p:nvPr>
            <p:ph type="title"/>
          </p:nvPr>
        </p:nvSpPr>
        <p:spPr>
          <a:xfrm>
            <a:off x="1637552" y="147600"/>
            <a:ext cx="3031884" cy="860400"/>
          </a:xfrm>
        </p:spPr>
        <p:txBody>
          <a:bodyPr>
            <a:normAutofit/>
          </a:bodyPr>
          <a:lstStyle/>
          <a:p>
            <a:r>
              <a:rPr lang="zh-CN" altLang="en-US" b="1" dirty="0">
                <a:solidFill>
                  <a:srgbClr val="1F487C"/>
                </a:solidFill>
              </a:rPr>
              <a:t>应用案例</a:t>
            </a:r>
          </a:p>
        </p:txBody>
      </p:sp>
      <p:sp>
        <p:nvSpPr>
          <p:cNvPr id="4" name="文本框 3">
            <a:extLst>
              <a:ext uri="{FF2B5EF4-FFF2-40B4-BE49-F238E27FC236}">
                <a16:creationId xmlns:a16="http://schemas.microsoft.com/office/drawing/2014/main" id="{C3102973-EEA5-E58F-43CF-C2F8BF71B129}"/>
              </a:ext>
            </a:extLst>
          </p:cNvPr>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10DEA04-9B68-D700-FD5C-A9013714E4F8}"/>
              </a:ext>
            </a:extLst>
          </p:cNvPr>
          <p:cNvSpPr txBox="1"/>
          <p:nvPr/>
        </p:nvSpPr>
        <p:spPr>
          <a:xfrm>
            <a:off x="567450" y="1005822"/>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知心管家</a:t>
            </a:r>
            <a:r>
              <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app</a:t>
            </a:r>
            <a:r>
              <a:rPr lang="zh-CN" altLang="en-US"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rPr>
              <a:t>（非结构化数据）</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圆角 5">
            <a:extLst>
              <a:ext uri="{FF2B5EF4-FFF2-40B4-BE49-F238E27FC236}">
                <a16:creationId xmlns:a16="http://schemas.microsoft.com/office/drawing/2014/main" id="{C4059C6E-4306-4AC1-1A75-0F12BDA47E64}"/>
              </a:ext>
            </a:extLst>
          </p:cNvPr>
          <p:cNvSpPr/>
          <p:nvPr/>
        </p:nvSpPr>
        <p:spPr>
          <a:xfrm>
            <a:off x="417914" y="2264153"/>
            <a:ext cx="2439586" cy="4325495"/>
          </a:xfrm>
          <a:prstGeom prst="roundRect">
            <a:avLst/>
          </a:prstGeom>
          <a:blipFill>
            <a:blip r:embed="rId3"/>
            <a:stretch>
              <a:fillRect/>
            </a:stretch>
          </a:bli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C9651BC3-E0E0-E58D-2B7F-293C683EFF42}"/>
              </a:ext>
            </a:extLst>
          </p:cNvPr>
          <p:cNvSpPr/>
          <p:nvPr/>
        </p:nvSpPr>
        <p:spPr>
          <a:xfrm>
            <a:off x="3283034" y="2264152"/>
            <a:ext cx="2439586" cy="4325495"/>
          </a:xfrm>
          <a:prstGeom prst="roundRect">
            <a:avLst/>
          </a:prstGeom>
          <a:blipFill>
            <a:blip r:embed="rId4"/>
            <a:stretch>
              <a:fillRect/>
            </a:stretch>
          </a:bli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17F31A6A-BA42-D673-BD70-09E116293B47}"/>
              </a:ext>
            </a:extLst>
          </p:cNvPr>
          <p:cNvSpPr/>
          <p:nvPr/>
        </p:nvSpPr>
        <p:spPr>
          <a:xfrm>
            <a:off x="6148154" y="2264152"/>
            <a:ext cx="2439586" cy="4325495"/>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615A4CC-4960-963F-1BF0-1BFF37511755}"/>
              </a:ext>
            </a:extLst>
          </p:cNvPr>
          <p:cNvSpPr/>
          <p:nvPr/>
        </p:nvSpPr>
        <p:spPr>
          <a:xfrm>
            <a:off x="9013274" y="2264152"/>
            <a:ext cx="2439586" cy="4325495"/>
          </a:xfrm>
          <a:prstGeom prst="roundRect">
            <a:avLst/>
          </a:prstGeom>
          <a:blipFill>
            <a:blip r:embed="rId6"/>
            <a:stretch>
              <a:fillRect/>
            </a:stretch>
          </a:bli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8D7F843-7743-4580-F994-AB0153D45053}"/>
              </a:ext>
            </a:extLst>
          </p:cNvPr>
          <p:cNvSpPr/>
          <p:nvPr/>
        </p:nvSpPr>
        <p:spPr>
          <a:xfrm>
            <a:off x="740297" y="1645920"/>
            <a:ext cx="1794510" cy="400110"/>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Microsoft YaHei Light" panose="020B0502040204020203" pitchFamily="34" charset="-122"/>
                <a:ea typeface="Microsoft YaHei Light" panose="020B0502040204020203" pitchFamily="34" charset="-122"/>
              </a:rPr>
              <a:t>医疗关键领域融合</a:t>
            </a:r>
          </a:p>
        </p:txBody>
      </p:sp>
      <p:sp>
        <p:nvSpPr>
          <p:cNvPr id="17" name="矩形: 圆角 16">
            <a:extLst>
              <a:ext uri="{FF2B5EF4-FFF2-40B4-BE49-F238E27FC236}">
                <a16:creationId xmlns:a16="http://schemas.microsoft.com/office/drawing/2014/main" id="{513380D1-DE9E-99C8-81E8-64BECD0D1064}"/>
              </a:ext>
            </a:extLst>
          </p:cNvPr>
          <p:cNvSpPr/>
          <p:nvPr/>
        </p:nvSpPr>
        <p:spPr>
          <a:xfrm>
            <a:off x="3605572" y="1640732"/>
            <a:ext cx="1794510" cy="400110"/>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Microsoft YaHei Light" panose="020B0502040204020203" pitchFamily="34" charset="-122"/>
                <a:ea typeface="Microsoft YaHei Light" panose="020B0502040204020203" pitchFamily="34" charset="-122"/>
              </a:rPr>
              <a:t>医疗提问引导</a:t>
            </a:r>
          </a:p>
        </p:txBody>
      </p:sp>
      <p:sp>
        <p:nvSpPr>
          <p:cNvPr id="18" name="矩形: 圆角 17">
            <a:extLst>
              <a:ext uri="{FF2B5EF4-FFF2-40B4-BE49-F238E27FC236}">
                <a16:creationId xmlns:a16="http://schemas.microsoft.com/office/drawing/2014/main" id="{B5F13DB6-42F6-BD9B-3C80-5F04967C1684}"/>
              </a:ext>
            </a:extLst>
          </p:cNvPr>
          <p:cNvSpPr/>
          <p:nvPr/>
        </p:nvSpPr>
        <p:spPr>
          <a:xfrm>
            <a:off x="6470692" y="1634987"/>
            <a:ext cx="1794510" cy="400110"/>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Microsoft YaHei Light" panose="020B0502040204020203" pitchFamily="34" charset="-122"/>
                <a:ea typeface="Microsoft YaHei Light" panose="020B0502040204020203" pitchFamily="34" charset="-122"/>
              </a:rPr>
              <a:t>症状追问补充</a:t>
            </a:r>
          </a:p>
        </p:txBody>
      </p:sp>
      <p:sp>
        <p:nvSpPr>
          <p:cNvPr id="19" name="矩形: 圆角 18">
            <a:extLst>
              <a:ext uri="{FF2B5EF4-FFF2-40B4-BE49-F238E27FC236}">
                <a16:creationId xmlns:a16="http://schemas.microsoft.com/office/drawing/2014/main" id="{BBF31CE9-296F-EAFF-0FEE-D2578CA30863}"/>
              </a:ext>
            </a:extLst>
          </p:cNvPr>
          <p:cNvSpPr/>
          <p:nvPr/>
        </p:nvSpPr>
        <p:spPr>
          <a:xfrm>
            <a:off x="9335812" y="1628805"/>
            <a:ext cx="1794510" cy="400110"/>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Microsoft YaHei Light" panose="020B0502040204020203" pitchFamily="34" charset="-122"/>
                <a:ea typeface="Microsoft YaHei Light" panose="020B0502040204020203" pitchFamily="34" charset="-122"/>
              </a:rPr>
              <a:t>专家经验知识总结</a:t>
            </a:r>
          </a:p>
        </p:txBody>
      </p:sp>
    </p:spTree>
    <p:extLst>
      <p:ext uri="{BB962C8B-B14F-4D97-AF65-F5344CB8AC3E}">
        <p14:creationId xmlns:p14="http://schemas.microsoft.com/office/powerpoint/2010/main" val="173197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CDB96-636C-C792-F3B7-23B5103F2D7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79E119A-CDA8-BE2A-196A-4B007E31CC73}"/>
              </a:ext>
            </a:extLst>
          </p:cNvPr>
          <p:cNvSpPr>
            <a:spLocks noGrp="1"/>
          </p:cNvSpPr>
          <p:nvPr>
            <p:ph type="title"/>
          </p:nvPr>
        </p:nvSpPr>
        <p:spPr>
          <a:xfrm>
            <a:off x="1637552" y="147600"/>
            <a:ext cx="3031884" cy="860400"/>
          </a:xfrm>
        </p:spPr>
        <p:txBody>
          <a:bodyPr>
            <a:normAutofit/>
          </a:bodyPr>
          <a:lstStyle/>
          <a:p>
            <a:r>
              <a:rPr lang="zh-CN" altLang="en-US" b="1" dirty="0">
                <a:solidFill>
                  <a:srgbClr val="1F487C"/>
                </a:solidFill>
              </a:rPr>
              <a:t>应用案例</a:t>
            </a:r>
          </a:p>
        </p:txBody>
      </p:sp>
      <p:sp>
        <p:nvSpPr>
          <p:cNvPr id="4" name="文本框 3">
            <a:extLst>
              <a:ext uri="{FF2B5EF4-FFF2-40B4-BE49-F238E27FC236}">
                <a16:creationId xmlns:a16="http://schemas.microsoft.com/office/drawing/2014/main" id="{28110190-232C-87C6-5306-04EBC80DBA44}"/>
              </a:ext>
            </a:extLst>
          </p:cNvPr>
          <p:cNvSpPr txBox="1"/>
          <p:nvPr/>
        </p:nvSpPr>
        <p:spPr>
          <a:xfrm>
            <a:off x="-60108" y="268351"/>
            <a:ext cx="1386386" cy="369332"/>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技术应用</a:t>
            </a: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47A5358-58B3-05A2-9C30-5ACE5AE4C8FD}"/>
              </a:ext>
            </a:extLst>
          </p:cNvPr>
          <p:cNvSpPr txBox="1"/>
          <p:nvPr/>
        </p:nvSpPr>
        <p:spPr>
          <a:xfrm>
            <a:off x="492500" y="1043391"/>
            <a:ext cx="11206999" cy="400110"/>
          </a:xfrm>
          <a:prstGeom prst="rect">
            <a:avLst/>
          </a:prstGeom>
          <a:noFill/>
        </p:spPr>
        <p:txBody>
          <a:bodyPr wrap="square">
            <a:spAutoFit/>
          </a:bodyPr>
          <a:lstStyle/>
          <a:p>
            <a:pPr lvl="0" algn="just"/>
            <a:r>
              <a:rPr lang="en-US" altLang="zh-CN"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b="1" kern="100" dirty="0">
                <a:solidFill>
                  <a:srgbClr val="1F487C"/>
                </a:solidFill>
                <a:latin typeface="微软雅黑" panose="020B0503020204020204" pitchFamily="34" charset="-122"/>
                <a:ea typeface="微软雅黑" panose="020B0503020204020204" pitchFamily="34" charset="-122"/>
                <a:cs typeface="Times New Roman" panose="02020603050405020304" pitchFamily="18" charset="0"/>
              </a:rPr>
              <a:t>、智能检索解决方案</a:t>
            </a:r>
            <a:endParaRPr lang="en-US" altLang="zh-CN" sz="2000" b="1" kern="100" dirty="0">
              <a:solidFill>
                <a:srgbClr val="1F487C"/>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FA1C4ABD-341D-DD7F-12BF-00B2B4981A53}"/>
              </a:ext>
            </a:extLst>
          </p:cNvPr>
          <p:cNvPicPr>
            <a:picLocks noChangeAspect="1"/>
          </p:cNvPicPr>
          <p:nvPr/>
        </p:nvPicPr>
        <p:blipFill>
          <a:blip r:embed="rId3"/>
          <a:stretch>
            <a:fillRect/>
          </a:stretch>
        </p:blipFill>
        <p:spPr>
          <a:xfrm>
            <a:off x="1326278" y="1563458"/>
            <a:ext cx="9731641" cy="4799241"/>
          </a:xfrm>
          <a:prstGeom prst="rect">
            <a:avLst/>
          </a:prstGeom>
        </p:spPr>
      </p:pic>
    </p:spTree>
    <p:extLst>
      <p:ext uri="{BB962C8B-B14F-4D97-AF65-F5344CB8AC3E}">
        <p14:creationId xmlns:p14="http://schemas.microsoft.com/office/powerpoint/2010/main" val="2078612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48054" y="2415846"/>
            <a:ext cx="4895892" cy="1015663"/>
          </a:xfrm>
          <a:prstGeom prst="rect">
            <a:avLst/>
          </a:prstGeom>
          <a:noFill/>
        </p:spPr>
        <p:txBody>
          <a:bodyPr wrap="none" rtlCol="0">
            <a:spAutoFit/>
          </a:bodyPr>
          <a:lstStyle/>
          <a:p>
            <a:r>
              <a:rPr lang="zh-CN" altLang="en-US" sz="6000" dirty="0">
                <a:solidFill>
                  <a:schemeClr val="bg1"/>
                </a:solidFill>
                <a:latin typeface="微软雅黑" panose="020B0503020204020204" pitchFamily="34" charset="-122"/>
                <a:ea typeface="微软雅黑" panose="020B0503020204020204" pitchFamily="34" charset="-122"/>
              </a:rPr>
              <a:t>感谢观看！</a:t>
            </a:r>
            <a:r>
              <a:rPr lang="en-US" altLang="zh-CN" sz="2000" dirty="0">
                <a:solidFill>
                  <a:schemeClr val="bg1"/>
                </a:solidFill>
                <a:latin typeface="微软雅黑" panose="020B0503020204020204" pitchFamily="34" charset="-122"/>
                <a:ea typeface="微软雅黑" panose="020B0503020204020204" pitchFamily="34" charset="-122"/>
              </a:rPr>
              <a:t>Thanks</a:t>
            </a:r>
            <a:endParaRPr lang="zh-CN" altLang="en-US" sz="2000"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2374" y="5128569"/>
            <a:ext cx="5251348" cy="170438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RiN2EzOTIwNTFkMWRjYjlhM2M2MjEwMTAzOTAyMTA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350_5*l_h_i*1_1_1"/>
  <p:tag name="KSO_WM_TEMPLATE_CATEGORY" val="diagram"/>
  <p:tag name="KSO_WM_TEMPLATE_INDEX" val="35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350_5*l_h_i*1_1_2"/>
  <p:tag name="KSO_WM_TEMPLATE_CATEGORY" val="diagram"/>
  <p:tag name="KSO_WM_TEMPLATE_INDEX" val="35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350_5*l_h_i*1_1_3"/>
  <p:tag name="KSO_WM_TEMPLATE_CATEGORY" val="diagram"/>
  <p:tag name="KSO_WM_TEMPLATE_INDEX" val="35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350_5*l_h_i*1_1_4"/>
  <p:tag name="KSO_WM_TEMPLATE_CATEGORY" val="diagram"/>
  <p:tag name="KSO_WM_TEMPLATE_INDEX" val="35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350_5*l_h_i*1_3_1"/>
  <p:tag name="KSO_WM_TEMPLATE_CATEGORY" val="diagram"/>
  <p:tag name="KSO_WM_TEMPLATE_INDEX" val="35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350_5*l_h_i*1_3_2"/>
  <p:tag name="KSO_WM_TEMPLATE_CATEGORY" val="diagram"/>
  <p:tag name="KSO_WM_TEMPLATE_INDEX" val="35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350_5*l_h_i*1_3_3"/>
  <p:tag name="KSO_WM_TEMPLATE_CATEGORY" val="diagram"/>
  <p:tag name="KSO_WM_TEMPLATE_INDEX" val="35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350_5*l_h_i*1_3_4"/>
  <p:tag name="KSO_WM_TEMPLATE_CATEGORY" val="diagram"/>
  <p:tag name="KSO_WM_TEMPLATE_INDEX" val="35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350_5*l_h_i*1_5_1"/>
  <p:tag name="KSO_WM_TEMPLATE_CATEGORY" val="diagram"/>
  <p:tag name="KSO_WM_TEMPLATE_INDEX" val="350"/>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350_5*l_h_i*1_5_2"/>
  <p:tag name="KSO_WM_TEMPLATE_CATEGORY" val="diagram"/>
  <p:tag name="KSO_WM_TEMPLATE_INDEX" val="350"/>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350_5*l_h_i*1_5_3"/>
  <p:tag name="KSO_WM_TEMPLATE_CATEGORY" val="diagram"/>
  <p:tag name="KSO_WM_TEMPLATE_INDEX" val="350"/>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4"/>
  <p:tag name="KSO_WM_UNIT_ID" val="diagram350_5*l_h_i*1_5_4"/>
  <p:tag name="KSO_WM_TEMPLATE_CATEGORY" val="diagram"/>
  <p:tag name="KSO_WM_TEMPLATE_INDEX" val="350"/>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350_5*l_h_i*1_2_1"/>
  <p:tag name="KSO_WM_TEMPLATE_CATEGORY" val="diagram"/>
  <p:tag name="KSO_WM_TEMPLATE_INDEX" val="35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350_5*l_h_i*1_2_2"/>
  <p:tag name="KSO_WM_TEMPLATE_CATEGORY" val="diagram"/>
  <p:tag name="KSO_WM_TEMPLATE_INDEX" val="35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350_5*l_h_i*1_2_3"/>
  <p:tag name="KSO_WM_TEMPLATE_CATEGORY" val="diagram"/>
  <p:tag name="KSO_WM_TEMPLATE_INDEX" val="35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350_5*l_h_i*1_2_4"/>
  <p:tag name="KSO_WM_TEMPLATE_CATEGORY" val="diagram"/>
  <p:tag name="KSO_WM_TEMPLATE_INDEX" val="35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350_5*l_h_i*1_4_1"/>
  <p:tag name="KSO_WM_TEMPLATE_CATEGORY" val="diagram"/>
  <p:tag name="KSO_WM_TEMPLATE_INDEX" val="350"/>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350_5*l_h_i*1_4_2"/>
  <p:tag name="KSO_WM_TEMPLATE_CATEGORY" val="diagram"/>
  <p:tag name="KSO_WM_TEMPLATE_INDEX" val="350"/>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350_5*l_h_i*1_4_3"/>
  <p:tag name="KSO_WM_TEMPLATE_CATEGORY" val="diagram"/>
  <p:tag name="KSO_WM_TEMPLATE_INDEX" val="350"/>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diagram350_5*l_h_i*1_4_4"/>
  <p:tag name="KSO_WM_TEMPLATE_CATEGORY" val="diagram"/>
  <p:tag name="KSO_WM_TEMPLATE_INDEX" val="350"/>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350_5*l_h_i*1_1_1"/>
  <p:tag name="KSO_WM_TEMPLATE_CATEGORY" val="diagram"/>
  <p:tag name="KSO_WM_TEMPLATE_INDEX" val="350"/>
  <p:tag name="KSO_WM_UNIT_LAYERLEVEL" val="1_1_1"/>
  <p:tag name="KSO_WM_TAG_VERSION" val="1.0"/>
  <p:tag name="KSO_WM_BEAUTIFY_FLAG" val="#wm#"/>
  <p:tag name="KSO_WM_UNIT_TEXT_FILL_FORE_SCHEMECOLOR_INDEX" val="14"/>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350_5*l_h_i*1_2_1"/>
  <p:tag name="KSO_WM_TEMPLATE_CATEGORY" val="diagram"/>
  <p:tag name="KSO_WM_TEMPLATE_INDEX" val="350"/>
  <p:tag name="KSO_WM_UNIT_LAYERLEVEL" val="1_1_1"/>
  <p:tag name="KSO_WM_TAG_VERSION" val="1.0"/>
  <p:tag name="KSO_WM_BEAUTIFY_FLAG" val="#wm#"/>
  <p:tag name="KSO_WM_UNIT_TEXT_FILL_FORE_SCHEMECOLOR_INDEX" val="14"/>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350_5*l_h_i*1_3_1"/>
  <p:tag name="KSO_WM_TEMPLATE_CATEGORY" val="diagram"/>
  <p:tag name="KSO_WM_TEMPLATE_INDEX" val="350"/>
  <p:tag name="KSO_WM_UNIT_LAYERLEVEL" val="1_1_1"/>
  <p:tag name="KSO_WM_TAG_VERSION" val="1.0"/>
  <p:tag name="KSO_WM_BEAUTIFY_FLAG" val="#wm#"/>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350_5*l_h_i*1_4_1"/>
  <p:tag name="KSO_WM_TEMPLATE_CATEGORY" val="diagram"/>
  <p:tag name="KSO_WM_TEMPLATE_INDEX" val="350"/>
  <p:tag name="KSO_WM_UNIT_LAYERLEVEL" val="1_1_1"/>
  <p:tag name="KSO_WM_TAG_VERSION" val="1.0"/>
  <p:tag name="KSO_WM_BEAUTIFY_FLAG" val="#wm#"/>
  <p:tag name="KSO_WM_UNIT_TEXT_FILL_FORE_SCHEMECOLOR_INDEX" val="14"/>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350_5*l_h_i*1_5_1"/>
  <p:tag name="KSO_WM_TEMPLATE_CATEGORY" val="diagram"/>
  <p:tag name="KSO_WM_TEMPLATE_INDEX" val="350"/>
  <p:tag name="KSO_WM_UNIT_LAYERLEVEL" val="1_1_1"/>
  <p:tag name="KSO_WM_TAG_VERSION" val="1.0"/>
  <p:tag name="KSO_WM_BEAUTIFY_FLAG" val="#wm#"/>
  <p:tag name="KSO_WM_UNIT_TEXT_FILL_FORE_SCHEMECOLOR_INDEX" val="14"/>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350_5*l_h_f*1_4_1"/>
  <p:tag name="KSO_WM_TEMPLATE_CATEGORY" val="diagram"/>
  <p:tag name="KSO_WM_TEMPLATE_INDEX" val="350"/>
  <p:tag name="KSO_WM_UNIT_LAYERLEVEL" val="1_1_1"/>
  <p:tag name="KSO_WM_TAG_VERSION" val="1.0"/>
  <p:tag name="KSO_WM_BEAUTIFY_FLAG" val="#wm#"/>
  <p:tag name="KSO_WM_UNIT_PRESET_TEXT" val="单击此处添加文本"/>
  <p:tag name="KSO_WM_UNIT_TEXT_FILL_FORE_SCHEMECOLOR_INDEX" val="14"/>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350_5*l_h_f*1_2_1"/>
  <p:tag name="KSO_WM_TEMPLATE_CATEGORY" val="diagram"/>
  <p:tag name="KSO_WM_TEMPLATE_INDEX" val="350"/>
  <p:tag name="KSO_WM_UNIT_LAYERLEVEL" val="1_1_1"/>
  <p:tag name="KSO_WM_TAG_VERSION" val="1.0"/>
  <p:tag name="KSO_WM_BEAUTIFY_FLAG" val="#wm#"/>
  <p:tag name="KSO_WM_UNIT_PRESET_TEXT" val="单击此处添加文本"/>
  <p:tag name="KSO_WM_UNIT_TEXT_FILL_FORE_SCHEMECOLOR_INDEX" val="14"/>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350_5*l_h_f*1_3_1"/>
  <p:tag name="KSO_WM_TEMPLATE_CATEGORY" val="diagram"/>
  <p:tag name="KSO_WM_TEMPLATE_INDEX" val="350"/>
  <p:tag name="KSO_WM_UNIT_LAYERLEVEL" val="1_1_1"/>
  <p:tag name="KSO_WM_TAG_VERSION" val="1.0"/>
  <p:tag name="KSO_WM_BEAUTIFY_FLAG" val="#wm#"/>
  <p:tag name="KSO_WM_UNIT_PRESET_TEXT" val="单击此处添加文本"/>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350_5*l_h_f*1_1_1"/>
  <p:tag name="KSO_WM_TEMPLATE_CATEGORY" val="diagram"/>
  <p:tag name="KSO_WM_TEMPLATE_INDEX" val="350"/>
  <p:tag name="KSO_WM_UNIT_LAYERLEVEL" val="1_1_1"/>
  <p:tag name="KSO_WM_TAG_VERSION" val="1.0"/>
  <p:tag name="KSO_WM_BEAUTIFY_FLAG" val="#wm#"/>
  <p:tag name="KSO_WM_UNIT_PRESET_TEXT" val="单击此处添加文本"/>
  <p:tag name="KSO_WM_UNIT_TEXT_FILL_FORE_SCHEMECOLOR_INDEX" val="14"/>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350_5*l_h_f*1_5_1"/>
  <p:tag name="KSO_WM_TEMPLATE_CATEGORY" val="diagram"/>
  <p:tag name="KSO_WM_TEMPLATE_INDEX" val="350"/>
  <p:tag name="KSO_WM_UNIT_LAYERLEVEL" val="1_1_1"/>
  <p:tag name="KSO_WM_TAG_VERSION" val="1.0"/>
  <p:tag name="KSO_WM_BEAUTIFY_FLAG" val="#wm#"/>
  <p:tag name="KSO_WM_UNIT_PRESET_TEXT" val="单击此处添加文本"/>
  <p:tag name="KSO_WM_UNIT_TEXT_FILL_FORE_SCHEMECOLOR_INDEX" val="14"/>
  <p:tag name="KSO_WM_UNIT_TEXT_FILL_TYPE" val="1"/>
</p:tagLst>
</file>

<file path=ppt/theme/theme1.xml><?xml version="1.0" encoding="utf-8"?>
<a:theme xmlns:a="http://schemas.openxmlformats.org/drawingml/2006/main" name="销售技能培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1305</Words>
  <Application>Microsoft Office PowerPoint</Application>
  <PresentationFormat>宽屏</PresentationFormat>
  <Paragraphs>175</Paragraphs>
  <Slides>19</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Helvetica Neue</vt:lpstr>
      <vt:lpstr>Microsoft YaHei Light</vt:lpstr>
      <vt:lpstr>等线</vt:lpstr>
      <vt:lpstr>等线 Light</vt:lpstr>
      <vt:lpstr>宋体</vt:lpstr>
      <vt:lpstr>微软雅黑</vt:lpstr>
      <vt:lpstr>微软雅黑</vt:lpstr>
      <vt:lpstr>幼圆</vt:lpstr>
      <vt:lpstr>造字工房悦黑体验版常规体</vt:lpstr>
      <vt:lpstr>Arial</vt:lpstr>
      <vt:lpstr>Arial Rounded MT Bold</vt:lpstr>
      <vt:lpstr>Calibri</vt:lpstr>
      <vt:lpstr>Wingdings</vt:lpstr>
      <vt:lpstr>销售技能培训​​</vt:lpstr>
      <vt:lpstr>翰云智能数仓</vt:lpstr>
      <vt:lpstr>PowerPoint 演示文稿</vt:lpstr>
      <vt:lpstr>PowerPoint 演示文稿</vt:lpstr>
      <vt:lpstr>PowerPoint 演示文稿</vt:lpstr>
      <vt:lpstr>产品演进</vt:lpstr>
      <vt:lpstr>PowerPoint 演示文稿</vt:lpstr>
      <vt:lpstr>产品定位</vt:lpstr>
      <vt:lpstr>技术优势</vt:lpstr>
      <vt:lpstr>技术优势</vt:lpstr>
      <vt:lpstr>PowerPoint 演示文稿</vt:lpstr>
      <vt:lpstr>向量数据库管理引擎</vt:lpstr>
      <vt:lpstr>向量数据库管理引擎</vt:lpstr>
      <vt:lpstr>向量数据库管理引擎</vt:lpstr>
      <vt:lpstr>指标分析引擎</vt:lpstr>
      <vt:lpstr>GraphRAG引擎</vt:lpstr>
      <vt:lpstr>应用案例</vt:lpstr>
      <vt:lpstr>应用案例</vt:lpstr>
      <vt:lpstr>应用案例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dc:creator>
  <cp:lastModifiedBy>俊峰 何</cp:lastModifiedBy>
  <cp:revision>25</cp:revision>
  <dcterms:created xsi:type="dcterms:W3CDTF">2023-02-06T01:14:00Z</dcterms:created>
  <dcterms:modified xsi:type="dcterms:W3CDTF">2025-06-30T12:22:53Z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A9E9706995404F3895B86A72AC0FD684_12</vt:lpwstr>
  </property>
  <property fmtid="{D5CDD505-2E9C-101B-9397-08002B2CF9AE}" pid="3" name="KSOProductBuildVer">
    <vt:lpwstr>2052-12.1.0.15404</vt:lpwstr>
  </property>
</Properties>
</file>